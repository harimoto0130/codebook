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49"/>
  </p:handoutMasterIdLst>
  <p:sldIdLst>
    <p:sldId id="583" r:id="rId4"/>
    <p:sldId id="584" r:id="rId6"/>
    <p:sldId id="586" r:id="rId7"/>
    <p:sldId id="587" r:id="rId8"/>
    <p:sldId id="309" r:id="rId9"/>
    <p:sldId id="1201" r:id="rId10"/>
    <p:sldId id="901" r:id="rId11"/>
    <p:sldId id="902" r:id="rId12"/>
    <p:sldId id="1048" r:id="rId13"/>
    <p:sldId id="1047" r:id="rId14"/>
    <p:sldId id="1202" r:id="rId15"/>
    <p:sldId id="1049" r:id="rId16"/>
    <p:sldId id="1203" r:id="rId17"/>
    <p:sldId id="1050" r:id="rId18"/>
    <p:sldId id="1055" r:id="rId19"/>
    <p:sldId id="1052" r:id="rId20"/>
    <p:sldId id="1053" r:id="rId21"/>
    <p:sldId id="1054" r:id="rId22"/>
    <p:sldId id="1204" r:id="rId23"/>
    <p:sldId id="1056" r:id="rId24"/>
    <p:sldId id="1057" r:id="rId25"/>
    <p:sldId id="1058" r:id="rId26"/>
    <p:sldId id="1059" r:id="rId27"/>
    <p:sldId id="1060" r:id="rId28"/>
    <p:sldId id="1061" r:id="rId29"/>
    <p:sldId id="1062" r:id="rId30"/>
    <p:sldId id="1063" r:id="rId31"/>
    <p:sldId id="1064" r:id="rId32"/>
    <p:sldId id="1065" r:id="rId33"/>
    <p:sldId id="1128" r:id="rId34"/>
    <p:sldId id="1205" r:id="rId35"/>
    <p:sldId id="1129" r:id="rId36"/>
    <p:sldId id="1130" r:id="rId37"/>
    <p:sldId id="1190" r:id="rId38"/>
    <p:sldId id="1191" r:id="rId39"/>
    <p:sldId id="1192" r:id="rId40"/>
    <p:sldId id="1193" r:id="rId41"/>
    <p:sldId id="1194" r:id="rId42"/>
    <p:sldId id="1195" r:id="rId43"/>
    <p:sldId id="1196" r:id="rId44"/>
    <p:sldId id="1197" r:id="rId45"/>
    <p:sldId id="1198" r:id="rId46"/>
    <p:sldId id="889" r:id="rId47"/>
    <p:sldId id="617" r:id="rId48"/>
  </p:sldIdLst>
  <p:sldSz cx="12190095" cy="6859270"/>
  <p:notesSz cx="6858000" cy="9144000"/>
  <p:custDataLst>
    <p:tags r:id="rId54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16" userDrawn="1">
          <p15:clr>
            <a:srgbClr val="A4A3A4"/>
          </p15:clr>
        </p15:guide>
        <p15:guide id="3" pos="71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薛蒙蒙" initials="xmm" lastIdx="10" clrIdx="0"/>
  <p:cmAuthor id="2" name="LD" initials="L" lastIdx="2" clrIdx="1"/>
  <p:cmAuthor id="3" name="Lv0593" initials="L" lastIdx="15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A2"/>
    <a:srgbClr val="595959"/>
    <a:srgbClr val="FAFAFA"/>
    <a:srgbClr val="FF0000"/>
    <a:srgbClr val="11D023"/>
    <a:srgbClr val="F2F2F2"/>
    <a:srgbClr val="1369B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2" autoAdjust="0"/>
    <p:restoredTop sz="94660" autoAdjust="0"/>
  </p:normalViewPr>
  <p:slideViewPr>
    <p:cSldViewPr showGuides="1">
      <p:cViewPr varScale="1">
        <p:scale>
          <a:sx n="87" d="100"/>
          <a:sy n="87" d="100"/>
        </p:scale>
        <p:origin x="768" y="82"/>
      </p:cViewPr>
      <p:guideLst>
        <p:guide pos="616"/>
        <p:guide pos="71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3057"/>
        <p:guide pos="2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4" Type="http://schemas.openxmlformats.org/officeDocument/2006/relationships/tags" Target="tags/tag234.xml"/><Relationship Id="rId53" Type="http://schemas.openxmlformats.org/officeDocument/2006/relationships/commentAuthors" Target="commentAuthors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9" Type="http://schemas.openxmlformats.org/officeDocument/2006/relationships/handoutMaster" Target="handoutMasters/handoutMaster1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-3131" y="2202951"/>
            <a:ext cx="12193544" cy="2327529"/>
            <a:chOff x="169683" y="177982"/>
            <a:chExt cx="3937015" cy="751234"/>
          </a:xfrm>
        </p:grpSpPr>
        <p:sp>
          <p:nvSpPr>
            <p:cNvPr id="44" name="等腰三角形 43"/>
            <p:cNvSpPr/>
            <p:nvPr/>
          </p:nvSpPr>
          <p:spPr>
            <a:xfrm>
              <a:off x="1587695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169683" y="57270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48467" y="177982"/>
              <a:ext cx="1418233" cy="751234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10631710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8903743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9767727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7175776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039760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9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image" Target="../media/image2.png"/><Relationship Id="rId1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3" Type="http://schemas.openxmlformats.org/officeDocument/2006/relationships/notesSlide" Target="../notesSlides/notesSlide7.xml"/><Relationship Id="rId22" Type="http://schemas.openxmlformats.org/officeDocument/2006/relationships/slideLayout" Target="../slideLayouts/slideLayout10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image" Target="../media/image2.png"/><Relationship Id="rId1" Type="http://schemas.openxmlformats.org/officeDocument/2006/relationships/tags" Target="../tags/tag4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5" Type="http://schemas.openxmlformats.org/officeDocument/2006/relationships/notesSlide" Target="../notesSlides/notesSlide12.xml"/><Relationship Id="rId24" Type="http://schemas.openxmlformats.org/officeDocument/2006/relationships/slideLayout" Target="../slideLayouts/slideLayout10.xml"/><Relationship Id="rId23" Type="http://schemas.openxmlformats.org/officeDocument/2006/relationships/tags" Target="../tags/tag75.xml"/><Relationship Id="rId22" Type="http://schemas.openxmlformats.org/officeDocument/2006/relationships/tags" Target="../tags/tag74.xml"/><Relationship Id="rId21" Type="http://schemas.openxmlformats.org/officeDocument/2006/relationships/tags" Target="../tags/tag73.xml"/><Relationship Id="rId20" Type="http://schemas.openxmlformats.org/officeDocument/2006/relationships/tags" Target="../tags/tag72.xml"/><Relationship Id="rId2" Type="http://schemas.openxmlformats.org/officeDocument/2006/relationships/tags" Target="../tags/tag54.xml"/><Relationship Id="rId19" Type="http://schemas.openxmlformats.org/officeDocument/2006/relationships/tags" Target="../tags/tag71.xml"/><Relationship Id="rId18" Type="http://schemas.openxmlformats.org/officeDocument/2006/relationships/tags" Target="../tags/tag70.xml"/><Relationship Id="rId17" Type="http://schemas.openxmlformats.org/officeDocument/2006/relationships/tags" Target="../tags/tag69.xml"/><Relationship Id="rId16" Type="http://schemas.openxmlformats.org/officeDocument/2006/relationships/tags" Target="../tags/tag68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tags" Target="../tags/tag5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image" Target="../media/image2.png"/><Relationship Id="rId1" Type="http://schemas.openxmlformats.org/officeDocument/2006/relationships/tags" Target="../tags/tag7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8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94.xml"/><Relationship Id="rId6" Type="http://schemas.openxmlformats.org/officeDocument/2006/relationships/image" Target="../media/image4.png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image" Target="../media/image3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image" Target="../media/image2.png"/><Relationship Id="rId1" Type="http://schemas.openxmlformats.org/officeDocument/2006/relationships/tags" Target="../tags/tag10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6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0" Type="http://schemas.openxmlformats.org/officeDocument/2006/relationships/notesSlide" Target="../notesSlides/notesSlide21.xml"/><Relationship Id="rId1" Type="http://schemas.openxmlformats.org/officeDocument/2006/relationships/tags" Target="../tags/tag107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0" Type="http://schemas.openxmlformats.org/officeDocument/2006/relationships/notesSlide" Target="../notesSlides/notesSlide23.xml"/><Relationship Id="rId1" Type="http://schemas.openxmlformats.org/officeDocument/2006/relationships/tags" Target="../tags/tag118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6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0" Type="http://schemas.openxmlformats.org/officeDocument/2006/relationships/notesSlide" Target="../notesSlides/notesSlide27.xml"/><Relationship Id="rId1" Type="http://schemas.openxmlformats.org/officeDocument/2006/relationships/tags" Target="../tags/tag141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5" Type="http://schemas.openxmlformats.org/officeDocument/2006/relationships/notesSlide" Target="../notesSlides/notesSlide28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161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tags" Target="../tags/tag149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6" Type="http://schemas.openxmlformats.org/officeDocument/2006/relationships/notesSlide" Target="../notesSlides/notesSlide29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175.xml"/><Relationship Id="rId13" Type="http://schemas.openxmlformats.org/officeDocument/2006/relationships/tags" Target="../tags/tag174.xml"/><Relationship Id="rId12" Type="http://schemas.openxmlformats.org/officeDocument/2006/relationships/tags" Target="../tags/tag173.xml"/><Relationship Id="rId11" Type="http://schemas.openxmlformats.org/officeDocument/2006/relationships/tags" Target="../tags/tag172.xml"/><Relationship Id="rId10" Type="http://schemas.openxmlformats.org/officeDocument/2006/relationships/tags" Target="../tags/tag171.xml"/><Relationship Id="rId1" Type="http://schemas.openxmlformats.org/officeDocument/2006/relationships/tags" Target="../tags/tag16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1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image" Target="../media/image2.png"/><Relationship Id="rId1" Type="http://schemas.openxmlformats.org/officeDocument/2006/relationships/tags" Target="../tags/tag176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5.png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5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6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hyperlink" Target="http://stu.ityxb.com/ebookview/d50e518af6ce75e592b6ef77791ba3a9" TargetMode="External"/><Relationship Id="rId8" Type="http://schemas.openxmlformats.org/officeDocument/2006/relationships/hyperlink" Target="http://stu.ityxb.com/ebookview/7e052d934d353d66fab7d78c04d502dc" TargetMode="External"/><Relationship Id="rId7" Type="http://schemas.openxmlformats.org/officeDocument/2006/relationships/hyperlink" Target="http://stu.ityxb.com/ebookview/f6cc74a01020ce52a836f04a650461a2" TargetMode="External"/><Relationship Id="rId6" Type="http://schemas.openxmlformats.org/officeDocument/2006/relationships/tags" Target="../tags/tag202.xml"/><Relationship Id="rId5" Type="http://schemas.openxmlformats.org/officeDocument/2006/relationships/image" Target="../media/image7.png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6" Type="http://schemas.openxmlformats.org/officeDocument/2006/relationships/notesSlide" Target="../notesSlides/notesSlide37.xml"/><Relationship Id="rId15" Type="http://schemas.openxmlformats.org/officeDocument/2006/relationships/slideLayout" Target="../slideLayouts/slideLayout10.xml"/><Relationship Id="rId14" Type="http://schemas.openxmlformats.org/officeDocument/2006/relationships/image" Target="../media/image9.svg"/><Relationship Id="rId13" Type="http://schemas.openxmlformats.org/officeDocument/2006/relationships/image" Target="../media/image8.jpeg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tags" Target="../tags/tag198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212.xml"/><Relationship Id="rId8" Type="http://schemas.openxmlformats.org/officeDocument/2006/relationships/tags" Target="../tags/tag211.xml"/><Relationship Id="rId7" Type="http://schemas.openxmlformats.org/officeDocument/2006/relationships/hyperlink" Target="http://stu.ityxb.com/ebookview/3853c43ab30a2fb3f8a8c0d7e5948da0" TargetMode="External"/><Relationship Id="rId6" Type="http://schemas.openxmlformats.org/officeDocument/2006/relationships/tags" Target="../tags/tag210.xml"/><Relationship Id="rId5" Type="http://schemas.openxmlformats.org/officeDocument/2006/relationships/image" Target="../media/image7.png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4" Type="http://schemas.openxmlformats.org/officeDocument/2006/relationships/notesSlide" Target="../notesSlides/notesSlide38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9.svg"/><Relationship Id="rId11" Type="http://schemas.openxmlformats.org/officeDocument/2006/relationships/image" Target="../media/image8.jpeg"/><Relationship Id="rId10" Type="http://schemas.openxmlformats.org/officeDocument/2006/relationships/tags" Target="../tags/tag213.xml"/><Relationship Id="rId1" Type="http://schemas.openxmlformats.org/officeDocument/2006/relationships/tags" Target="../tags/tag206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hyperlink" Target="https://stu.ityxb.com/ebookview/e61468e029fdd29f98f5783675cb4a04" TargetMode="External"/><Relationship Id="rId6" Type="http://schemas.openxmlformats.org/officeDocument/2006/relationships/tags" Target="../tags/tag218.xml"/><Relationship Id="rId5" Type="http://schemas.openxmlformats.org/officeDocument/2006/relationships/image" Target="../media/image7.png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4" Type="http://schemas.openxmlformats.org/officeDocument/2006/relationships/notesSlide" Target="../notesSlides/notesSlide39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9.svg"/><Relationship Id="rId11" Type="http://schemas.openxmlformats.org/officeDocument/2006/relationships/image" Target="../media/image8.jpeg"/><Relationship Id="rId10" Type="http://schemas.openxmlformats.org/officeDocument/2006/relationships/tags" Target="../tags/tag221.xml"/><Relationship Id="rId1" Type="http://schemas.openxmlformats.org/officeDocument/2006/relationships/tags" Target="../tags/tag214.xml"/></Relationships>
</file>

<file path=ppt/slides/_rels/slide4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0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5.png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tags" Target="../tags/tag222.xml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1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0.png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" Type="http://schemas.openxmlformats.org/officeDocument/2006/relationships/tags" Target="../tags/tag226.xml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2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" Type="http://schemas.openxmlformats.org/officeDocument/2006/relationships/tags" Target="../tags/tag23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291080" y="2677795"/>
            <a:ext cx="7847330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第4章 Spring Boot整合Thymeleaf</a:t>
            </a:r>
            <a:endParaRPr sz="3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3968750" y="3935095"/>
            <a:ext cx="630301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Boot企业级开发教程（第2版）》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559206" y="1704244"/>
            <a:ext cx="856869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en-US" sz="17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Spring Boot</a:t>
              </a: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支持的</a:t>
              </a:r>
              <a:r>
                <a:rPr lang="zh-CN" altLang="en-US" sz="17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模板引擎</a:t>
              </a: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，能够说出Spring Boot支持的模板引擎</a:t>
              </a:r>
              <a:endParaRPr lang="zh-CN" altLang="en-US" sz="17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7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557948" y="2677699"/>
            <a:ext cx="8561070" cy="689610"/>
            <a:chOff x="978872" y="2570437"/>
            <a:chExt cx="5437064" cy="517208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en-US" sz="17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Thymeleaf</a:t>
              </a: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简介，能够说出Thymeleaf是什么和Thymeleaf的</a:t>
              </a:r>
              <a:r>
                <a:rPr lang="zh-CN" altLang="en-US" sz="17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特点</a:t>
              </a:r>
              <a:endParaRPr lang="zh-CN" altLang="en-US" sz="17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7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57948" y="3652424"/>
            <a:ext cx="8561070" cy="685800"/>
            <a:chOff x="978872" y="2570437"/>
            <a:chExt cx="5437064" cy="514351"/>
          </a:xfrm>
        </p:grpSpPr>
        <p:sp>
          <p:nvSpPr>
            <p:cNvPr id="10" name="Pentagon 5"/>
            <p:cNvSpPr/>
            <p:nvPr/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17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Thymeleaf</a:t>
              </a: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常用</a:t>
              </a:r>
              <a:r>
                <a:rPr lang="zh-CN" altLang="en-US" sz="17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属性</a:t>
              </a: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，能够在模板文件中正确使用Thymeleaf常用属性</a:t>
              </a:r>
              <a:endParaRPr lang="zh-CN" altLang="en-US" sz="17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7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568108" y="4655724"/>
            <a:ext cx="8561070" cy="685800"/>
            <a:chOff x="978872" y="2570437"/>
            <a:chExt cx="5437064" cy="514351"/>
          </a:xfrm>
        </p:grpSpPr>
        <p:sp>
          <p:nvSpPr>
            <p:cNvPr id="3" name="Pentagon 5"/>
            <p:cNvSpPr/>
            <p:nvPr>
              <p:custDataLst>
                <p:tags r:id="rId1"/>
              </p:custDataLst>
            </p:nvPr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17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Thymeleaf标准表达式</a:t>
              </a: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，能够在模板文件中正确使用Thymeleaf标准表达式</a:t>
              </a:r>
              <a:endParaRPr lang="zh-CN" altLang="en-US" sz="17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4" name="MH_Others_1"/>
            <p:cNvSpPr/>
            <p:nvPr>
              <p:custDataLst>
                <p:tags r:id="rId2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7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578268" y="5659659"/>
            <a:ext cx="8561070" cy="685800"/>
            <a:chOff x="978872" y="2570437"/>
            <a:chExt cx="5437064" cy="514351"/>
          </a:xfrm>
        </p:grpSpPr>
        <p:sp>
          <p:nvSpPr>
            <p:cNvPr id="6" name="Pentagon 5"/>
            <p:cNvSpPr/>
            <p:nvPr>
              <p:custDataLst>
                <p:tags r:id="rId3"/>
              </p:custDataLst>
            </p:nvPr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17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图书管理案例</a:t>
              </a: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的实现，能够使用</a:t>
              </a:r>
              <a:r>
                <a:rPr lang="zh-CN" altLang="en-US" sz="17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Spring Boot整合Thymeleaf</a:t>
              </a: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完成图书管理案例</a:t>
              </a:r>
              <a:endParaRPr lang="zh-CN" altLang="en-US" sz="17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7" name="MH_Others_1"/>
            <p:cNvSpPr/>
            <p:nvPr>
              <p:custDataLst>
                <p:tags r:id="rId4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7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126490" y="2394585"/>
            <a:ext cx="10152380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开发Web应用时，为了让项目代码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耦合性更低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可维护性更高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，通常会采用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MVC设计模式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来实现对应的模型、视图和控制器，让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业务逻辑、数据、界面显示分离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的Web应用的视图是由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元素组成的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静态界面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，而如今的Web应用更倾向于在界面中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动态显示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对应的数据。Spring Boot框架提供了一些常用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视图技术的整合支持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推荐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整合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模板引擎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实现Web应用界面的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动态化展示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。下面将对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Boot支持的模板引擎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进行介绍，并对其中常用的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Thymeleaf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模板引擎进行整合。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031240" y="2238375"/>
            <a:ext cx="10233660" cy="320611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2"/>
            </p:custDataLst>
          </p:nvPr>
        </p:nvSpPr>
        <p:spPr>
          <a:xfrm>
            <a:off x="998855" y="217868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3"/>
            </p:custDataLst>
          </p:nvPr>
        </p:nvSpPr>
        <p:spPr>
          <a:xfrm rot="10800000">
            <a:off x="10920095" y="494601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999206" y="2227475"/>
            <a:ext cx="1192190" cy="612775"/>
            <a:chOff x="2215144" y="982844"/>
            <a:chExt cx="1244730" cy="842780"/>
          </a:xfrm>
        </p:grpSpPr>
        <p:sp>
          <p:nvSpPr>
            <p:cNvPr id="106" name="平行四边形 105"/>
            <p:cNvSpPr/>
            <p:nvPr>
              <p:custDataLst>
                <p:tags r:id="rId1"/>
              </p:custDataLst>
            </p:nvPr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7" name="文本框 9"/>
            <p:cNvSpPr txBox="1"/>
            <p:nvPr>
              <p:custDataLst>
                <p:tags r:id="rId2"/>
              </p:custDataLst>
            </p:nvPr>
          </p:nvSpPr>
          <p:spPr>
            <a:xfrm>
              <a:off x="2393075" y="1005670"/>
              <a:ext cx="1066799" cy="802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2999206" y="3353054"/>
            <a:ext cx="1192190" cy="612775"/>
            <a:chOff x="2215144" y="2026500"/>
            <a:chExt cx="1244730" cy="850129"/>
          </a:xfrm>
        </p:grpSpPr>
        <p:sp>
          <p:nvSpPr>
            <p:cNvPr id="109" name="平行四边形 108"/>
            <p:cNvSpPr/>
            <p:nvPr>
              <p:custDataLst>
                <p:tags r:id="rId3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0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4.</a:t>
              </a:r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904758" y="2218596"/>
            <a:ext cx="5496560" cy="612775"/>
            <a:chOff x="4315150" y="953426"/>
            <a:chExt cx="4122956" cy="539804"/>
          </a:xfrm>
        </p:grpSpPr>
        <p:sp>
          <p:nvSpPr>
            <p:cNvPr id="112" name="矩形 111"/>
            <p:cNvSpPr/>
            <p:nvPr>
              <p:custDataLst>
                <p:tags r:id="rId5"/>
              </p:custDataLst>
            </p:nvPr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注册Java Web三大组件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3" name="平行四边形 112"/>
            <p:cNvSpPr/>
            <p:nvPr>
              <p:custDataLst>
                <p:tags r:id="rId6"/>
              </p:custDataLst>
            </p:nvPr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3904758" y="3336228"/>
            <a:ext cx="5496560" cy="612775"/>
            <a:chOff x="4315150" y="1647579"/>
            <a:chExt cx="4122956" cy="539804"/>
          </a:xfrm>
        </p:grpSpPr>
        <p:sp>
          <p:nvSpPr>
            <p:cNvPr id="115" name="矩形 114"/>
            <p:cNvSpPr/>
            <p:nvPr>
              <p:custDataLst>
                <p:tags r:id="rId7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Spring Boot管理Spring MVC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6" name="平行四边形 115"/>
            <p:cNvSpPr/>
            <p:nvPr>
              <p:custDataLst>
                <p:tags r:id="rId8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2982696" y="4484624"/>
            <a:ext cx="1192190" cy="612775"/>
            <a:chOff x="2215144" y="2026500"/>
            <a:chExt cx="1244730" cy="850129"/>
          </a:xfrm>
        </p:grpSpPr>
        <p:sp>
          <p:nvSpPr>
            <p:cNvPr id="118" name="平行四边形 117"/>
            <p:cNvSpPr/>
            <p:nvPr>
              <p:custDataLst>
                <p:tags r:id="rId9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9" name="文本框 10"/>
            <p:cNvSpPr txBox="1"/>
            <p:nvPr>
              <p:custDataLst>
                <p:tags r:id="rId10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4.</a:t>
              </a:r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888248" y="4467798"/>
            <a:ext cx="5496560" cy="612775"/>
            <a:chOff x="4315150" y="1647579"/>
            <a:chExt cx="4122956" cy="539804"/>
          </a:xfrm>
        </p:grpSpPr>
        <p:sp>
          <p:nvSpPr>
            <p:cNvPr id="121" name="矩形 120"/>
            <p:cNvSpPr/>
            <p:nvPr>
              <p:custDataLst>
                <p:tags r:id="rId11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文件上传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2" name="平行四边形 121"/>
            <p:cNvSpPr/>
            <p:nvPr>
              <p:custDataLst>
                <p:tags r:id="rId12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740" y="3014345"/>
            <a:ext cx="6267450" cy="66040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3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Boot支持的模板引擎</a:t>
            </a:r>
            <a:endParaRPr sz="37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205990" y="2997835"/>
            <a:ext cx="1398905" cy="66040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4.1</a:t>
            </a:r>
            <a:endParaRPr lang="en-US" sz="3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Boot支持的模板引擎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Spring Boot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支持的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模板引擎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，能够说出Spring Boot支持的模板引擎</a:t>
            </a:r>
            <a:endParaRPr lang="zh-CN" altLang="en-US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Boot支持的模板引擎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Freeform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87434" y="1881917"/>
            <a:ext cx="1384300" cy="1221316"/>
          </a:xfrm>
          <a:custGeom>
            <a:avLst/>
            <a:gdLst>
              <a:gd name="T0" fmla="*/ 2684 w 2684"/>
              <a:gd name="T1" fmla="*/ 2365 h 2365"/>
              <a:gd name="T2" fmla="*/ 1342 w 2684"/>
              <a:gd name="T3" fmla="*/ 0 h 2365"/>
              <a:gd name="T4" fmla="*/ 0 w 2684"/>
              <a:gd name="T5" fmla="*/ 2365 h 2365"/>
              <a:gd name="T6" fmla="*/ 2684 w 2684"/>
              <a:gd name="T7" fmla="*/ 2365 h 2365"/>
              <a:gd name="T8" fmla="*/ 0 60000 65536"/>
              <a:gd name="T9" fmla="*/ 0 60000 65536"/>
              <a:gd name="T10" fmla="*/ 0 60000 65536"/>
              <a:gd name="T11" fmla="*/ 0 60000 65536"/>
              <a:gd name="T12" fmla="*/ 0 w 2684"/>
              <a:gd name="T13" fmla="*/ 0 h 2365"/>
              <a:gd name="T14" fmla="*/ 2684 w 2684"/>
              <a:gd name="T15" fmla="*/ 2365 h 23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84" h="2365">
                <a:moveTo>
                  <a:pt x="2684" y="2365"/>
                </a:moveTo>
                <a:lnTo>
                  <a:pt x="1342" y="0"/>
                </a:lnTo>
                <a:lnTo>
                  <a:pt x="0" y="2365"/>
                </a:lnTo>
                <a:lnTo>
                  <a:pt x="2684" y="236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Freeform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15833" y="3103232"/>
            <a:ext cx="1371600" cy="1320800"/>
          </a:xfrm>
          <a:custGeom>
            <a:avLst/>
            <a:gdLst>
              <a:gd name="T0" fmla="*/ 2664 w 2664"/>
              <a:gd name="T1" fmla="*/ 0 h 2553"/>
              <a:gd name="T2" fmla="*/ 0 w 2664"/>
              <a:gd name="T3" fmla="*/ 546 h 2553"/>
              <a:gd name="T4" fmla="*/ 1835 w 2664"/>
              <a:gd name="T5" fmla="*/ 2553 h 2553"/>
              <a:gd name="T6" fmla="*/ 2664 w 2664"/>
              <a:gd name="T7" fmla="*/ 0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2664" y="0"/>
                </a:moveTo>
                <a:lnTo>
                  <a:pt x="0" y="546"/>
                </a:lnTo>
                <a:lnTo>
                  <a:pt x="1835" y="2553"/>
                </a:lnTo>
                <a:lnTo>
                  <a:pt x="2664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Freeform 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703234" y="4424033"/>
            <a:ext cx="1274233" cy="1392767"/>
          </a:xfrm>
          <a:custGeom>
            <a:avLst/>
            <a:gdLst>
              <a:gd name="T0" fmla="*/ 305 w 2476"/>
              <a:gd name="T1" fmla="*/ 0 h 2702"/>
              <a:gd name="T2" fmla="*/ 0 w 2476"/>
              <a:gd name="T3" fmla="*/ 2702 h 2702"/>
              <a:gd name="T4" fmla="*/ 2476 w 2476"/>
              <a:gd name="T5" fmla="*/ 1578 h 2702"/>
              <a:gd name="T6" fmla="*/ 305 w 2476"/>
              <a:gd name="T7" fmla="*/ 0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305" y="0"/>
                </a:moveTo>
                <a:lnTo>
                  <a:pt x="0" y="2702"/>
                </a:lnTo>
                <a:lnTo>
                  <a:pt x="2476" y="1578"/>
                </a:lnTo>
                <a:lnTo>
                  <a:pt x="305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Freeform 1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977467" y="4424033"/>
            <a:ext cx="1278467" cy="1392767"/>
          </a:xfrm>
          <a:custGeom>
            <a:avLst/>
            <a:gdLst>
              <a:gd name="T0" fmla="*/ 0 w 2476"/>
              <a:gd name="T1" fmla="*/ 1578 h 2702"/>
              <a:gd name="T2" fmla="*/ 2476 w 2476"/>
              <a:gd name="T3" fmla="*/ 2702 h 2702"/>
              <a:gd name="T4" fmla="*/ 2172 w 2476"/>
              <a:gd name="T5" fmla="*/ 0 h 2702"/>
              <a:gd name="T6" fmla="*/ 0 w 2476"/>
              <a:gd name="T7" fmla="*/ 1578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0" y="1578"/>
                </a:moveTo>
                <a:lnTo>
                  <a:pt x="2476" y="2702"/>
                </a:lnTo>
                <a:lnTo>
                  <a:pt x="2172" y="0"/>
                </a:lnTo>
                <a:lnTo>
                  <a:pt x="0" y="1578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Freeform 1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671733" y="3103232"/>
            <a:ext cx="1371600" cy="1320800"/>
          </a:xfrm>
          <a:custGeom>
            <a:avLst/>
            <a:gdLst>
              <a:gd name="T0" fmla="*/ 830 w 2664"/>
              <a:gd name="T1" fmla="*/ 2553 h 2553"/>
              <a:gd name="T2" fmla="*/ 2664 w 2664"/>
              <a:gd name="T3" fmla="*/ 546 h 2553"/>
              <a:gd name="T4" fmla="*/ 0 w 2664"/>
              <a:gd name="T5" fmla="*/ 0 h 2553"/>
              <a:gd name="T6" fmla="*/ 830 w 2664"/>
              <a:gd name="T7" fmla="*/ 2553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830" y="2553"/>
                </a:moveTo>
                <a:lnTo>
                  <a:pt x="2664" y="546"/>
                </a:lnTo>
                <a:lnTo>
                  <a:pt x="0" y="0"/>
                </a:lnTo>
                <a:lnTo>
                  <a:pt x="830" y="255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7" name="矩形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615947" y="2440717"/>
            <a:ext cx="723899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矩形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817783" y="3311225"/>
            <a:ext cx="87630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矩形 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462183" y="4867929"/>
            <a:ext cx="71120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0" name="矩形 10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861984" y="4891816"/>
            <a:ext cx="657952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1" name="矩形 1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464051" y="3365699"/>
            <a:ext cx="622564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05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TextBox 1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350000" y="1359535"/>
            <a:ext cx="4703445" cy="1246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just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FreeMarker是一个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基于模板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生成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输出文本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的模板引擎，输出文本可以是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HTML页面、电子邮件、配置文件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等。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3" name="TextBox 13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113395" y="2810510"/>
            <a:ext cx="3110230" cy="1661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just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Groo</a:t>
            </a:r>
            <a:r>
              <a:rPr 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y是一种基于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JVM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的敏捷开发语言，它结合了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Python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Ruby和Smalltalk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的许多强大特性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4" name="TextBox 1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497445" y="5026025"/>
            <a:ext cx="3760470" cy="1661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just">
              <a:lnSpc>
                <a:spcPct val="150000"/>
              </a:lnSpc>
            </a:pP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Thymeleaf是采用Java</a:t>
            </a:r>
            <a:r>
              <a:rPr 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语言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编写的模板引擎，可用于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Web与非Web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环境中的应用开发</a:t>
            </a:r>
            <a:r>
              <a:rPr 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。是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Boot官方推荐</a:t>
            </a:r>
            <a:r>
              <a:rPr 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使用的模板引擎。</a:t>
            </a:r>
            <a:endParaRPr 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5" name="TextBox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937260" y="5340985"/>
            <a:ext cx="3458210" cy="1246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just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Mustache是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轻逻辑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的模板引擎，它是一个JavaScript模板，用于对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JavaScript分离展示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6" name="TextBox 1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979170" y="2508250"/>
            <a:ext cx="3416300" cy="1661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just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Velocity是一个基于Java的模板引擎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特定的语法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获取在Java对象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的数据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填充到模板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中，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just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从而实现界面和</a:t>
            </a:r>
            <a:r>
              <a:rPr 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ava代码的分离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1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291580" y="981710"/>
            <a:ext cx="2161540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FreeMarker</a:t>
            </a:r>
            <a:endParaRPr lang="zh-CN" altLang="en-US" sz="2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8" name="TextBox 1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8113397" y="2495707"/>
            <a:ext cx="1682749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r>
              <a:rPr lang="zh-CN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Groo</a:t>
            </a:r>
            <a:r>
              <a:rPr lang="en-US" altLang="zh-CN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</a:t>
            </a:r>
            <a:r>
              <a:rPr lang="zh-CN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y</a:t>
            </a:r>
            <a:endParaRPr lang="zh-CN" altLang="en-US" sz="2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TextBox 19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497233" y="4714532"/>
            <a:ext cx="2880000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r>
              <a:rPr lang="zh-CN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</a:t>
            </a:r>
            <a:endParaRPr lang="zh-CN" altLang="en-US" sz="2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0" name="TextBox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663613" y="4967017"/>
            <a:ext cx="1604136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r"/>
            <a:r>
              <a:rPr lang="zh-CN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Mustache</a:t>
            </a:r>
            <a:endParaRPr lang="zh-CN" altLang="en-US" sz="2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1" name="TextBox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78878" y="2019195"/>
            <a:ext cx="1441451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r"/>
            <a:r>
              <a:rPr lang="zh-CN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Velocity</a:t>
            </a:r>
            <a:endParaRPr lang="zh-CN" altLang="en-US" sz="2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2" name="TextBox 22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184140" y="3435350"/>
            <a:ext cx="1637665" cy="1353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Boot整合支持的</a:t>
            </a: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常用模板引擎</a:t>
            </a:r>
            <a:endParaRPr lang="zh-CN" altLang="en-US" sz="2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Boot支持的模板引擎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51230" y="1739900"/>
            <a:ext cx="10337800" cy="3830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 Boot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不太支持JSP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模板，并且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没有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提供对应的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整合配置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，这是因为使用嵌入式Servlet容器的Spring Boot应用程序对JSP模板有一些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限制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 Boot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使用嵌入式Servlet容器以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JAR包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方式进行项目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打包部署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，这种JAR包方式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不支持JSP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如果使用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Undertow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嵌入式容器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部署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 Boot项目，也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不支持JSP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 Boot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提供了一个处理请求路径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“/error”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统一错误处理器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，用于返回具体的异常信息。使用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JSP模板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无法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对默认的错误处理器进行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覆盖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，只能根据Spring Boot要求在指定位置定制错误页面。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sz="18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740" y="3014345"/>
            <a:ext cx="6267450" cy="66040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3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Thymeleaf基础入门</a:t>
            </a:r>
            <a:endParaRPr sz="37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205990" y="2997835"/>
            <a:ext cx="1398905" cy="66040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4.2</a:t>
            </a:r>
            <a:endParaRPr lang="en-US" sz="3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Thymeleaf基础入门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"/>
            </p:custDataLst>
          </p:nvPr>
        </p:nvSpPr>
        <p:spPr>
          <a:xfrm>
            <a:off x="951230" y="2529205"/>
            <a:ext cx="1033780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Thymeleaf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是Spring Boot官方推荐使用的模板引擎，它创建的模板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可维护性非常高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，Thymeleaf使开发人员能够在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保持设计原型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不变的情况下，将程序的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数据和逻辑注入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到模板文件中，以提高设计团队和开发团队的工作协调性，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减少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了因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理解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实现偏差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产生的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问题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，也使得维护工作更加高效和准确。下面对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Thymeleaf简介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、T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hymeleaf常用属性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标准表达式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等基础入门知识进行讲解。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Thymeleaf简介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Thymeleaf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简介，能够说出Thymeleaf是什么和Thymeleaf的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特点</a:t>
            </a:r>
            <a:endParaRPr lang="zh-CN" altLang="en-US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Thymeleaf简介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"/>
            </p:custDataLst>
          </p:nvPr>
        </p:nvSpPr>
        <p:spPr>
          <a:xfrm>
            <a:off x="951230" y="1309370"/>
            <a:ext cx="1033780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Thymeleaf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以不影响模板作为设计原型的方式，将其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逻辑数据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注入到模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板文件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中，从而在开发团队中实现更强大的协作，支持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HTML、XML、TEXT、JAVASCRIPT、CSS、RAW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六种模板。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Shape 2012"/>
          <p:cNvSpPr/>
          <p:nvPr>
            <p:custDataLst>
              <p:tags r:id="rId2"/>
            </p:custDataLst>
          </p:nvPr>
        </p:nvSpPr>
        <p:spPr>
          <a:xfrm>
            <a:off x="6942455" y="2625725"/>
            <a:ext cx="3825875" cy="1686560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Shape 2013"/>
          <p:cNvSpPr/>
          <p:nvPr>
            <p:custDataLst>
              <p:tags r:id="rId3"/>
            </p:custDataLst>
          </p:nvPr>
        </p:nvSpPr>
        <p:spPr>
          <a:xfrm>
            <a:off x="6942455" y="4556760"/>
            <a:ext cx="3825875" cy="1684655"/>
          </a:xfrm>
          <a:prstGeom prst="roundRect">
            <a:avLst>
              <a:gd name="adj" fmla="val 6925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Shape 2014"/>
          <p:cNvSpPr/>
          <p:nvPr>
            <p:custDataLst>
              <p:tags r:id="rId4"/>
            </p:custDataLst>
          </p:nvPr>
        </p:nvSpPr>
        <p:spPr>
          <a:xfrm>
            <a:off x="1369695" y="4555490"/>
            <a:ext cx="3773170" cy="1686560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Shape 2015"/>
          <p:cNvSpPr/>
          <p:nvPr>
            <p:custDataLst>
              <p:tags r:id="rId5"/>
            </p:custDataLst>
          </p:nvPr>
        </p:nvSpPr>
        <p:spPr>
          <a:xfrm>
            <a:off x="1346835" y="2625725"/>
            <a:ext cx="3796030" cy="1686560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Shape 2016"/>
          <p:cNvSpPr/>
          <p:nvPr>
            <p:custDataLst>
              <p:tags r:id="rId6"/>
            </p:custDataLst>
          </p:nvPr>
        </p:nvSpPr>
        <p:spPr>
          <a:xfrm>
            <a:off x="5010785" y="3373120"/>
            <a:ext cx="2149475" cy="21494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Shape 2021"/>
          <p:cNvSpPr/>
          <p:nvPr>
            <p:custDataLst>
              <p:tags r:id="rId7"/>
            </p:custDataLst>
          </p:nvPr>
        </p:nvSpPr>
        <p:spPr>
          <a:xfrm>
            <a:off x="1928495" y="3132455"/>
            <a:ext cx="3100070" cy="8947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algn="just">
              <a:lnSpc>
                <a:spcPct val="150000"/>
              </a:lnSpc>
            </a:pP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Thymeleaf可以查看页面的静态效果和动态页面效果。</a:t>
            </a:r>
            <a:endParaRPr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Shape 2022"/>
          <p:cNvSpPr/>
          <p:nvPr>
            <p:custDataLst>
              <p:tags r:id="rId8"/>
            </p:custDataLst>
          </p:nvPr>
        </p:nvSpPr>
        <p:spPr>
          <a:xfrm>
            <a:off x="1817060" y="2701919"/>
            <a:ext cx="1869332" cy="4016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（1）动静结合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Shape 2023"/>
          <p:cNvSpPr/>
          <p:nvPr>
            <p:custDataLst>
              <p:tags r:id="rId9"/>
            </p:custDataLst>
          </p:nvPr>
        </p:nvSpPr>
        <p:spPr>
          <a:xfrm>
            <a:off x="1914525" y="4973955"/>
            <a:ext cx="3084830" cy="124968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algn="just">
              <a:lnSpc>
                <a:spcPct val="150000"/>
              </a:lnSpc>
            </a:pP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 提供了Spring标准方言，以及与 SpringMVC 完美集成的可选模块</a:t>
            </a:r>
            <a:r>
              <a:rPr 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Shape 2024"/>
          <p:cNvSpPr/>
          <p:nvPr>
            <p:custDataLst>
              <p:tags r:id="rId10"/>
            </p:custDataLst>
          </p:nvPr>
        </p:nvSpPr>
        <p:spPr>
          <a:xfrm>
            <a:off x="1802577" y="4616607"/>
            <a:ext cx="1869332" cy="4016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（2）开箱即用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Shape 2025"/>
          <p:cNvSpPr/>
          <p:nvPr>
            <p:custDataLst>
              <p:tags r:id="rId11"/>
            </p:custDataLst>
          </p:nvPr>
        </p:nvSpPr>
        <p:spPr>
          <a:xfrm>
            <a:off x="6942455" y="3071495"/>
            <a:ext cx="3396615" cy="8947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r">
              <a:lnSpc>
                <a:spcPct val="120000"/>
              </a:lnSpc>
              <a:spcBef>
                <a:spcPts val="4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Boot为Thymeleaf 整合提供了自动配置支持，并且还为Thymeleaf 设置了视图解析器。</a:t>
            </a:r>
            <a:endParaRPr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Shape 2026"/>
          <p:cNvSpPr/>
          <p:nvPr>
            <p:custDataLst>
              <p:tags r:id="rId12"/>
            </p:custDataLst>
          </p:nvPr>
        </p:nvSpPr>
        <p:spPr>
          <a:xfrm>
            <a:off x="7060565" y="2741930"/>
            <a:ext cx="3264535" cy="40132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r"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（4）与Spring Boot完美整合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Shape 2027"/>
          <p:cNvSpPr/>
          <p:nvPr>
            <p:custDataLst>
              <p:tags r:id="rId13"/>
            </p:custDataLst>
          </p:nvPr>
        </p:nvSpPr>
        <p:spPr>
          <a:xfrm>
            <a:off x="7051040" y="4979670"/>
            <a:ext cx="3086100" cy="7588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r">
              <a:lnSpc>
                <a:spcPct val="120000"/>
              </a:lnSpc>
              <a:spcBef>
                <a:spcPts val="4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indent="0" algn="just" fontAlgn="auto" latinLnBrk="1">
              <a:lnSpc>
                <a:spcPct val="150000"/>
              </a:lnSpc>
            </a:pP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提供了Thymeleaf标准和Spring标准方言，可以直接套用模板实现JSTL、OGNL表达式。</a:t>
            </a:r>
            <a:endParaRPr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Shape 2028"/>
          <p:cNvSpPr/>
          <p:nvPr>
            <p:custDataLst>
              <p:tags r:id="rId14"/>
            </p:custDataLst>
          </p:nvPr>
        </p:nvSpPr>
        <p:spPr>
          <a:xfrm>
            <a:off x="7106888" y="4616137"/>
            <a:ext cx="1869332" cy="4016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r"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（3）多方言支持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5" name="Group 2031"/>
          <p:cNvGrpSpPr/>
          <p:nvPr/>
        </p:nvGrpSpPr>
        <p:grpSpPr>
          <a:xfrm>
            <a:off x="892042" y="2991561"/>
            <a:ext cx="955485" cy="955485"/>
            <a:chOff x="0" y="0"/>
            <a:chExt cx="1910968" cy="1910968"/>
          </a:xfrm>
        </p:grpSpPr>
        <p:sp>
          <p:nvSpPr>
            <p:cNvPr id="16" name="Shape 2029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10969" cy="1910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33867" tIns="33867" rIns="33867" bIns="33867" numCol="1" anchor="ctr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Shape 2030"/>
            <p:cNvSpPr/>
            <p:nvPr>
              <p:custDataLst>
                <p:tags r:id="rId16"/>
              </p:custDataLst>
            </p:nvPr>
          </p:nvSpPr>
          <p:spPr>
            <a:xfrm>
              <a:off x="553362" y="560070"/>
              <a:ext cx="804244" cy="706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71" y="8035"/>
                  </a:moveTo>
                  <a:lnTo>
                    <a:pt x="11327" y="9235"/>
                  </a:lnTo>
                  <a:lnTo>
                    <a:pt x="14583" y="4904"/>
                  </a:lnTo>
                  <a:lnTo>
                    <a:pt x="15088" y="4330"/>
                  </a:lnTo>
                  <a:lnTo>
                    <a:pt x="17289" y="6157"/>
                  </a:lnTo>
                  <a:lnTo>
                    <a:pt x="17289" y="3078"/>
                  </a:lnTo>
                  <a:lnTo>
                    <a:pt x="17289" y="0"/>
                  </a:lnTo>
                  <a:lnTo>
                    <a:pt x="14583" y="626"/>
                  </a:lnTo>
                  <a:lnTo>
                    <a:pt x="11878" y="1200"/>
                  </a:lnTo>
                  <a:lnTo>
                    <a:pt x="14033" y="3704"/>
                  </a:lnTo>
                  <a:lnTo>
                    <a:pt x="10777" y="7409"/>
                  </a:lnTo>
                  <a:lnTo>
                    <a:pt x="7567" y="6157"/>
                  </a:lnTo>
                  <a:lnTo>
                    <a:pt x="5411" y="10487"/>
                  </a:lnTo>
                  <a:lnTo>
                    <a:pt x="2155" y="9235"/>
                  </a:lnTo>
                  <a:lnTo>
                    <a:pt x="550" y="14817"/>
                  </a:lnTo>
                  <a:lnTo>
                    <a:pt x="0" y="16017"/>
                  </a:lnTo>
                  <a:lnTo>
                    <a:pt x="1055" y="16643"/>
                  </a:lnTo>
                  <a:lnTo>
                    <a:pt x="2706" y="11113"/>
                  </a:lnTo>
                  <a:lnTo>
                    <a:pt x="5916" y="12313"/>
                  </a:lnTo>
                  <a:lnTo>
                    <a:pt x="8071" y="8035"/>
                  </a:lnTo>
                  <a:lnTo>
                    <a:pt x="8071" y="8035"/>
                  </a:lnTo>
                  <a:close/>
                  <a:moveTo>
                    <a:pt x="6466" y="21600"/>
                  </a:moveTo>
                  <a:lnTo>
                    <a:pt x="6466" y="16643"/>
                  </a:lnTo>
                  <a:lnTo>
                    <a:pt x="3761" y="16643"/>
                  </a:lnTo>
                  <a:lnTo>
                    <a:pt x="3761" y="21600"/>
                  </a:lnTo>
                  <a:lnTo>
                    <a:pt x="6466" y="21600"/>
                  </a:lnTo>
                  <a:lnTo>
                    <a:pt x="6466" y="21600"/>
                  </a:lnTo>
                  <a:close/>
                  <a:moveTo>
                    <a:pt x="10227" y="21600"/>
                  </a:moveTo>
                  <a:lnTo>
                    <a:pt x="7567" y="21600"/>
                  </a:lnTo>
                  <a:lnTo>
                    <a:pt x="7567" y="14817"/>
                  </a:lnTo>
                  <a:lnTo>
                    <a:pt x="10227" y="14817"/>
                  </a:lnTo>
                  <a:lnTo>
                    <a:pt x="10227" y="21600"/>
                  </a:lnTo>
                  <a:lnTo>
                    <a:pt x="10227" y="21600"/>
                  </a:lnTo>
                  <a:close/>
                  <a:moveTo>
                    <a:pt x="14033" y="21600"/>
                  </a:moveTo>
                  <a:lnTo>
                    <a:pt x="11327" y="21600"/>
                  </a:lnTo>
                  <a:lnTo>
                    <a:pt x="11327" y="12313"/>
                  </a:lnTo>
                  <a:lnTo>
                    <a:pt x="14033" y="12313"/>
                  </a:lnTo>
                  <a:lnTo>
                    <a:pt x="14033" y="21600"/>
                  </a:lnTo>
                  <a:lnTo>
                    <a:pt x="14033" y="21600"/>
                  </a:lnTo>
                  <a:close/>
                  <a:moveTo>
                    <a:pt x="17794" y="21600"/>
                  </a:moveTo>
                  <a:lnTo>
                    <a:pt x="15088" y="21600"/>
                  </a:lnTo>
                  <a:lnTo>
                    <a:pt x="15088" y="9861"/>
                  </a:lnTo>
                  <a:lnTo>
                    <a:pt x="17794" y="9861"/>
                  </a:lnTo>
                  <a:lnTo>
                    <a:pt x="17794" y="21600"/>
                  </a:lnTo>
                  <a:lnTo>
                    <a:pt x="17794" y="21600"/>
                  </a:lnTo>
                  <a:close/>
                  <a:moveTo>
                    <a:pt x="18894" y="6783"/>
                  </a:moveTo>
                  <a:lnTo>
                    <a:pt x="18894" y="21600"/>
                  </a:lnTo>
                  <a:lnTo>
                    <a:pt x="21600" y="21600"/>
                  </a:lnTo>
                  <a:lnTo>
                    <a:pt x="21600" y="6783"/>
                  </a:lnTo>
                  <a:lnTo>
                    <a:pt x="18894" y="6783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Group 2034"/>
          <p:cNvGrpSpPr/>
          <p:nvPr/>
        </p:nvGrpSpPr>
        <p:grpSpPr>
          <a:xfrm>
            <a:off x="894709" y="4923812"/>
            <a:ext cx="950151" cy="950151"/>
            <a:chOff x="0" y="0"/>
            <a:chExt cx="1900299" cy="1900299"/>
          </a:xfrm>
        </p:grpSpPr>
        <p:sp>
          <p:nvSpPr>
            <p:cNvPr id="19" name="Shape 2032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0300" cy="19003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33867" tIns="33867" rIns="33867" bIns="33867" numCol="1" anchor="ctr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Shape 2033"/>
            <p:cNvSpPr/>
            <p:nvPr>
              <p:custDataLst>
                <p:tags r:id="rId18"/>
              </p:custDataLst>
            </p:nvPr>
          </p:nvSpPr>
          <p:spPr>
            <a:xfrm rot="10800000" flipH="1">
              <a:off x="548028" y="596692"/>
              <a:ext cx="804244" cy="706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71" y="8035"/>
                  </a:moveTo>
                  <a:lnTo>
                    <a:pt x="11327" y="9235"/>
                  </a:lnTo>
                  <a:lnTo>
                    <a:pt x="14583" y="4904"/>
                  </a:lnTo>
                  <a:lnTo>
                    <a:pt x="15088" y="4330"/>
                  </a:lnTo>
                  <a:lnTo>
                    <a:pt x="17289" y="6157"/>
                  </a:lnTo>
                  <a:lnTo>
                    <a:pt x="17289" y="3078"/>
                  </a:lnTo>
                  <a:lnTo>
                    <a:pt x="17289" y="0"/>
                  </a:lnTo>
                  <a:lnTo>
                    <a:pt x="14583" y="626"/>
                  </a:lnTo>
                  <a:lnTo>
                    <a:pt x="11878" y="1200"/>
                  </a:lnTo>
                  <a:lnTo>
                    <a:pt x="14033" y="3704"/>
                  </a:lnTo>
                  <a:lnTo>
                    <a:pt x="10777" y="7409"/>
                  </a:lnTo>
                  <a:lnTo>
                    <a:pt x="7567" y="6157"/>
                  </a:lnTo>
                  <a:lnTo>
                    <a:pt x="5411" y="10487"/>
                  </a:lnTo>
                  <a:lnTo>
                    <a:pt x="2155" y="9235"/>
                  </a:lnTo>
                  <a:lnTo>
                    <a:pt x="550" y="14817"/>
                  </a:lnTo>
                  <a:lnTo>
                    <a:pt x="0" y="16017"/>
                  </a:lnTo>
                  <a:lnTo>
                    <a:pt x="1055" y="16643"/>
                  </a:lnTo>
                  <a:lnTo>
                    <a:pt x="2706" y="11113"/>
                  </a:lnTo>
                  <a:lnTo>
                    <a:pt x="5916" y="12313"/>
                  </a:lnTo>
                  <a:lnTo>
                    <a:pt x="8071" y="8035"/>
                  </a:lnTo>
                  <a:lnTo>
                    <a:pt x="8071" y="8035"/>
                  </a:lnTo>
                  <a:close/>
                  <a:moveTo>
                    <a:pt x="6466" y="21600"/>
                  </a:moveTo>
                  <a:lnTo>
                    <a:pt x="6466" y="16643"/>
                  </a:lnTo>
                  <a:lnTo>
                    <a:pt x="3761" y="16643"/>
                  </a:lnTo>
                  <a:lnTo>
                    <a:pt x="3761" y="21600"/>
                  </a:lnTo>
                  <a:lnTo>
                    <a:pt x="6466" y="21600"/>
                  </a:lnTo>
                  <a:lnTo>
                    <a:pt x="6466" y="21600"/>
                  </a:lnTo>
                  <a:close/>
                  <a:moveTo>
                    <a:pt x="10227" y="21600"/>
                  </a:moveTo>
                  <a:lnTo>
                    <a:pt x="7567" y="21600"/>
                  </a:lnTo>
                  <a:lnTo>
                    <a:pt x="7567" y="14817"/>
                  </a:lnTo>
                  <a:lnTo>
                    <a:pt x="10227" y="14817"/>
                  </a:lnTo>
                  <a:lnTo>
                    <a:pt x="10227" y="21600"/>
                  </a:lnTo>
                  <a:lnTo>
                    <a:pt x="10227" y="21600"/>
                  </a:lnTo>
                  <a:close/>
                  <a:moveTo>
                    <a:pt x="14033" y="21600"/>
                  </a:moveTo>
                  <a:lnTo>
                    <a:pt x="11327" y="21600"/>
                  </a:lnTo>
                  <a:lnTo>
                    <a:pt x="11327" y="12313"/>
                  </a:lnTo>
                  <a:lnTo>
                    <a:pt x="14033" y="12313"/>
                  </a:lnTo>
                  <a:lnTo>
                    <a:pt x="14033" y="21600"/>
                  </a:lnTo>
                  <a:lnTo>
                    <a:pt x="14033" y="21600"/>
                  </a:lnTo>
                  <a:close/>
                  <a:moveTo>
                    <a:pt x="17794" y="21600"/>
                  </a:moveTo>
                  <a:lnTo>
                    <a:pt x="15088" y="21600"/>
                  </a:lnTo>
                  <a:lnTo>
                    <a:pt x="15088" y="9861"/>
                  </a:lnTo>
                  <a:lnTo>
                    <a:pt x="17794" y="9861"/>
                  </a:lnTo>
                  <a:lnTo>
                    <a:pt x="17794" y="21600"/>
                  </a:lnTo>
                  <a:lnTo>
                    <a:pt x="17794" y="21600"/>
                  </a:lnTo>
                  <a:close/>
                  <a:moveTo>
                    <a:pt x="18894" y="6783"/>
                  </a:moveTo>
                  <a:lnTo>
                    <a:pt x="18894" y="21600"/>
                  </a:lnTo>
                  <a:lnTo>
                    <a:pt x="21600" y="21600"/>
                  </a:lnTo>
                  <a:lnTo>
                    <a:pt x="21600" y="6783"/>
                  </a:lnTo>
                  <a:lnTo>
                    <a:pt x="18894" y="6783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1" name="Shape 2035"/>
          <p:cNvSpPr/>
          <p:nvPr>
            <p:custDataLst>
              <p:tags r:id="rId19"/>
            </p:custDataLst>
          </p:nvPr>
        </p:nvSpPr>
        <p:spPr>
          <a:xfrm>
            <a:off x="10280451" y="4923810"/>
            <a:ext cx="950152" cy="950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2" name="Group 2040"/>
          <p:cNvGrpSpPr/>
          <p:nvPr/>
        </p:nvGrpSpPr>
        <p:grpSpPr>
          <a:xfrm>
            <a:off x="10275144" y="2991561"/>
            <a:ext cx="955485" cy="955485"/>
            <a:chOff x="0" y="0"/>
            <a:chExt cx="1910968" cy="1910968"/>
          </a:xfrm>
        </p:grpSpPr>
        <p:sp>
          <p:nvSpPr>
            <p:cNvPr id="24" name="Shape 2038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910969" cy="1910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33867" tIns="33867" rIns="33867" bIns="33867" numCol="1" anchor="ctr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5" name="Shape 2039"/>
            <p:cNvSpPr/>
            <p:nvPr>
              <p:custDataLst>
                <p:tags r:id="rId21"/>
              </p:custDataLst>
            </p:nvPr>
          </p:nvSpPr>
          <p:spPr>
            <a:xfrm>
              <a:off x="657404" y="557107"/>
              <a:ext cx="596161" cy="749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15" h="21072" extrusionOk="0">
                  <a:moveTo>
                    <a:pt x="17468" y="6506"/>
                  </a:moveTo>
                  <a:cubicBezTo>
                    <a:pt x="16410" y="7763"/>
                    <a:pt x="15333" y="6878"/>
                    <a:pt x="13824" y="5996"/>
                  </a:cubicBezTo>
                  <a:cubicBezTo>
                    <a:pt x="12317" y="5116"/>
                    <a:pt x="10950" y="4575"/>
                    <a:pt x="12006" y="3318"/>
                  </a:cubicBezTo>
                  <a:cubicBezTo>
                    <a:pt x="13062" y="2059"/>
                    <a:pt x="15140" y="1754"/>
                    <a:pt x="16648" y="2634"/>
                  </a:cubicBezTo>
                  <a:cubicBezTo>
                    <a:pt x="18155" y="3515"/>
                    <a:pt x="18522" y="5248"/>
                    <a:pt x="17468" y="6506"/>
                  </a:cubicBezTo>
                  <a:close/>
                  <a:moveTo>
                    <a:pt x="20868" y="4865"/>
                  </a:moveTo>
                  <a:cubicBezTo>
                    <a:pt x="20191" y="1663"/>
                    <a:pt x="16530" y="-474"/>
                    <a:pt x="12691" y="90"/>
                  </a:cubicBezTo>
                  <a:cubicBezTo>
                    <a:pt x="8853" y="655"/>
                    <a:pt x="5613" y="3118"/>
                    <a:pt x="6290" y="6320"/>
                  </a:cubicBezTo>
                  <a:cubicBezTo>
                    <a:pt x="6436" y="7009"/>
                    <a:pt x="6840" y="8088"/>
                    <a:pt x="7318" y="8862"/>
                  </a:cubicBezTo>
                  <a:lnTo>
                    <a:pt x="346" y="17166"/>
                  </a:lnTo>
                  <a:cubicBezTo>
                    <a:pt x="90" y="17473"/>
                    <a:pt x="-56" y="18024"/>
                    <a:pt x="20" y="18392"/>
                  </a:cubicBezTo>
                  <a:lnTo>
                    <a:pt x="470" y="20511"/>
                  </a:lnTo>
                  <a:cubicBezTo>
                    <a:pt x="547" y="20879"/>
                    <a:pt x="971" y="21126"/>
                    <a:pt x="1412" y="21061"/>
                  </a:cubicBezTo>
                  <a:lnTo>
                    <a:pt x="3454" y="20761"/>
                  </a:lnTo>
                  <a:cubicBezTo>
                    <a:pt x="3895" y="20696"/>
                    <a:pt x="4457" y="20387"/>
                    <a:pt x="4700" y="20072"/>
                  </a:cubicBezTo>
                  <a:lnTo>
                    <a:pt x="7456" y="16513"/>
                  </a:lnTo>
                  <a:lnTo>
                    <a:pt x="7480" y="16490"/>
                  </a:lnTo>
                  <a:lnTo>
                    <a:pt x="9346" y="16216"/>
                  </a:lnTo>
                  <a:lnTo>
                    <a:pt x="12566" y="12046"/>
                  </a:lnTo>
                  <a:cubicBezTo>
                    <a:pt x="13623" y="12195"/>
                    <a:pt x="15142" y="12146"/>
                    <a:pt x="16039" y="12013"/>
                  </a:cubicBezTo>
                  <a:cubicBezTo>
                    <a:pt x="19878" y="11449"/>
                    <a:pt x="21544" y="8068"/>
                    <a:pt x="20868" y="486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6" name="Text Placeholder 5"/>
          <p:cNvSpPr txBox="1"/>
          <p:nvPr>
            <p:custDataLst>
              <p:tags r:id="rId22"/>
            </p:custDataLst>
          </p:nvPr>
        </p:nvSpPr>
        <p:spPr>
          <a:xfrm>
            <a:off x="5374270" y="4079160"/>
            <a:ext cx="1535488" cy="63371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Thymeleaf模板引擎特点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Shape 2036"/>
          <p:cNvSpPr/>
          <p:nvPr>
            <p:custDataLst>
              <p:tags r:id="rId23"/>
            </p:custDataLst>
          </p:nvPr>
        </p:nvSpPr>
        <p:spPr>
          <a:xfrm>
            <a:off x="10410956" y="5184417"/>
            <a:ext cx="402123" cy="4289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53" h="21260" extrusionOk="0">
                <a:moveTo>
                  <a:pt x="11752" y="11733"/>
                </a:moveTo>
                <a:lnTo>
                  <a:pt x="9401" y="11733"/>
                </a:lnTo>
                <a:lnTo>
                  <a:pt x="9401" y="5975"/>
                </a:lnTo>
                <a:lnTo>
                  <a:pt x="11752" y="5975"/>
                </a:lnTo>
                <a:cubicBezTo>
                  <a:pt x="11752" y="5975"/>
                  <a:pt x="11752" y="11733"/>
                  <a:pt x="11752" y="11733"/>
                </a:cubicBezTo>
                <a:close/>
                <a:moveTo>
                  <a:pt x="11752" y="15276"/>
                </a:moveTo>
                <a:lnTo>
                  <a:pt x="9401" y="15276"/>
                </a:lnTo>
                <a:lnTo>
                  <a:pt x="9401" y="12951"/>
                </a:lnTo>
                <a:lnTo>
                  <a:pt x="11752" y="12951"/>
                </a:lnTo>
                <a:cubicBezTo>
                  <a:pt x="11752" y="12951"/>
                  <a:pt x="11752" y="15276"/>
                  <a:pt x="11752" y="15276"/>
                </a:cubicBezTo>
                <a:close/>
                <a:moveTo>
                  <a:pt x="20789" y="13227"/>
                </a:moveTo>
                <a:lnTo>
                  <a:pt x="18761" y="11523"/>
                </a:lnTo>
                <a:cubicBezTo>
                  <a:pt x="18172" y="11029"/>
                  <a:pt x="18172" y="10223"/>
                  <a:pt x="18761" y="9729"/>
                </a:cubicBezTo>
                <a:lnTo>
                  <a:pt x="20789" y="8025"/>
                </a:lnTo>
                <a:cubicBezTo>
                  <a:pt x="21376" y="7532"/>
                  <a:pt x="21220" y="7072"/>
                  <a:pt x="20441" y="7001"/>
                </a:cubicBezTo>
                <a:lnTo>
                  <a:pt x="17751" y="6761"/>
                </a:lnTo>
                <a:cubicBezTo>
                  <a:pt x="16971" y="6692"/>
                  <a:pt x="16552" y="6061"/>
                  <a:pt x="16819" y="5360"/>
                </a:cubicBezTo>
                <a:lnTo>
                  <a:pt x="18247" y="1615"/>
                </a:lnTo>
                <a:cubicBezTo>
                  <a:pt x="18515" y="912"/>
                  <a:pt x="18188" y="656"/>
                  <a:pt x="17520" y="1047"/>
                </a:cubicBezTo>
                <a:lnTo>
                  <a:pt x="14346" y="2896"/>
                </a:lnTo>
                <a:cubicBezTo>
                  <a:pt x="13678" y="3285"/>
                  <a:pt x="12815" y="3072"/>
                  <a:pt x="12430" y="2423"/>
                </a:cubicBezTo>
                <a:lnTo>
                  <a:pt x="11279" y="489"/>
                </a:lnTo>
                <a:cubicBezTo>
                  <a:pt x="10893" y="-160"/>
                  <a:pt x="10255" y="-164"/>
                  <a:pt x="9860" y="481"/>
                </a:cubicBezTo>
                <a:lnTo>
                  <a:pt x="8793" y="2232"/>
                </a:lnTo>
                <a:cubicBezTo>
                  <a:pt x="8398" y="2877"/>
                  <a:pt x="7493" y="3153"/>
                  <a:pt x="6781" y="2844"/>
                </a:cubicBezTo>
                <a:lnTo>
                  <a:pt x="4900" y="2031"/>
                </a:lnTo>
                <a:cubicBezTo>
                  <a:pt x="4188" y="1723"/>
                  <a:pt x="3639" y="2080"/>
                  <a:pt x="3682" y="2825"/>
                </a:cubicBezTo>
                <a:lnTo>
                  <a:pt x="3784" y="4615"/>
                </a:lnTo>
                <a:cubicBezTo>
                  <a:pt x="3826" y="5360"/>
                  <a:pt x="3242" y="6128"/>
                  <a:pt x="2486" y="6320"/>
                </a:cubicBezTo>
                <a:lnTo>
                  <a:pt x="670" y="6780"/>
                </a:lnTo>
                <a:cubicBezTo>
                  <a:pt x="-85" y="6972"/>
                  <a:pt x="-224" y="7532"/>
                  <a:pt x="365" y="8025"/>
                </a:cubicBezTo>
                <a:lnTo>
                  <a:pt x="2394" y="9729"/>
                </a:lnTo>
                <a:cubicBezTo>
                  <a:pt x="2981" y="10223"/>
                  <a:pt x="2981" y="11029"/>
                  <a:pt x="2394" y="11523"/>
                </a:cubicBezTo>
                <a:lnTo>
                  <a:pt x="365" y="13225"/>
                </a:lnTo>
                <a:cubicBezTo>
                  <a:pt x="-224" y="13720"/>
                  <a:pt x="-68" y="14196"/>
                  <a:pt x="709" y="14285"/>
                </a:cubicBezTo>
                <a:lnTo>
                  <a:pt x="3171" y="14567"/>
                </a:lnTo>
                <a:cubicBezTo>
                  <a:pt x="3948" y="14656"/>
                  <a:pt x="4381" y="15309"/>
                  <a:pt x="4133" y="16017"/>
                </a:cubicBezTo>
                <a:lnTo>
                  <a:pt x="2869" y="19625"/>
                </a:lnTo>
                <a:cubicBezTo>
                  <a:pt x="2622" y="20333"/>
                  <a:pt x="2976" y="20609"/>
                  <a:pt x="3655" y="20240"/>
                </a:cubicBezTo>
                <a:lnTo>
                  <a:pt x="6549" y="18661"/>
                </a:lnTo>
                <a:cubicBezTo>
                  <a:pt x="7229" y="18291"/>
                  <a:pt x="8143" y="18495"/>
                  <a:pt x="8581" y="19113"/>
                </a:cubicBezTo>
                <a:lnTo>
                  <a:pt x="9782" y="20816"/>
                </a:lnTo>
                <a:cubicBezTo>
                  <a:pt x="10219" y="21436"/>
                  <a:pt x="10875" y="21403"/>
                  <a:pt x="11240" y="20741"/>
                </a:cubicBezTo>
                <a:lnTo>
                  <a:pt x="12297" y="18823"/>
                </a:lnTo>
                <a:cubicBezTo>
                  <a:pt x="12660" y="18160"/>
                  <a:pt x="13532" y="17891"/>
                  <a:pt x="14234" y="18221"/>
                </a:cubicBezTo>
                <a:lnTo>
                  <a:pt x="16272" y="19181"/>
                </a:lnTo>
                <a:cubicBezTo>
                  <a:pt x="16974" y="19511"/>
                  <a:pt x="17514" y="19172"/>
                  <a:pt x="17472" y="18427"/>
                </a:cubicBezTo>
                <a:lnTo>
                  <a:pt x="17370" y="16637"/>
                </a:lnTo>
                <a:cubicBezTo>
                  <a:pt x="17327" y="15891"/>
                  <a:pt x="17912" y="15124"/>
                  <a:pt x="18668" y="14932"/>
                </a:cubicBezTo>
                <a:lnTo>
                  <a:pt x="20482" y="14472"/>
                </a:lnTo>
                <a:cubicBezTo>
                  <a:pt x="21239" y="14280"/>
                  <a:pt x="21376" y="13720"/>
                  <a:pt x="20789" y="13227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Thymeleaf常用属性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Thymeleaf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常用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属性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，能够在模板文件中正确使用Thymeleaf常用属性</a:t>
            </a:r>
            <a:endParaRPr lang="zh-CN" altLang="en-US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Thymeleaf常用属性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951230" y="1381125"/>
            <a:ext cx="1033780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Thymeleaf的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HTML模板文件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中使用的HTML元素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语法几乎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标准的HTML语法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，Thymeleaf 在标准HTML标签中增加一些格式为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“th：xxx”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的属性以实现“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模板+数据”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的展示。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8" name="组合 8"/>
          <p:cNvGrpSpPr/>
          <p:nvPr/>
        </p:nvGrpSpPr>
        <p:grpSpPr bwMode="auto">
          <a:xfrm>
            <a:off x="951230" y="2555240"/>
            <a:ext cx="10337800" cy="3896360"/>
            <a:chOff x="802453" y="-622007"/>
            <a:chExt cx="9629347" cy="10353966"/>
          </a:xfrm>
        </p:grpSpPr>
        <p:sp>
          <p:nvSpPr>
            <p:cNvPr id="29" name="矩形 28"/>
            <p:cNvSpPr/>
            <p:nvPr>
              <p:custDataLst>
                <p:tags r:id="rId2"/>
              </p:custDataLst>
            </p:nvPr>
          </p:nvSpPr>
          <p:spPr>
            <a:xfrm>
              <a:off x="802453" y="-622007"/>
              <a:ext cx="9629347" cy="103539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3"/>
              </p:custDataLst>
            </p:nvPr>
          </p:nvSpPr>
          <p:spPr>
            <a:xfrm>
              <a:off x="1501587" y="-551136"/>
              <a:ext cx="8051861" cy="1015991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&lt;!DOCTYPE html&gt;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&lt;html lang="en" xmlns:th="http://www.thymeleaf.org"&gt;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&lt;head&gt;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&lt;meta charset="UTF-8"&gt;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&lt;title&gt;Title&lt;/title&gt;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&lt;/head&gt;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&lt;body&gt;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&lt;h1</a:t>
              </a:r>
              <a:r>
                <a:rPr lang="en-US" altLang="zh-CN" sz="16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th:text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="Hello Thymeleaf"&gt;Thymeleaf静态页面&lt;/h1&gt;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&lt;/body&gt;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&lt;/html&gt;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39" name="矩形 38"/>
          <p:cNvSpPr/>
          <p:nvPr>
            <p:custDataLst>
              <p:tags r:id="rId4"/>
            </p:custDataLst>
          </p:nvPr>
        </p:nvSpPr>
        <p:spPr>
          <a:xfrm>
            <a:off x="3496945" y="3075305"/>
            <a:ext cx="3609975" cy="327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40" name="矩形 39"/>
          <p:cNvSpPr/>
          <p:nvPr>
            <p:custDataLst>
              <p:tags r:id="rId5"/>
            </p:custDataLst>
          </p:nvPr>
        </p:nvSpPr>
        <p:spPr>
          <a:xfrm>
            <a:off x="7463155" y="2925445"/>
            <a:ext cx="3573145" cy="67564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 defTabSz="1218565" latinLnBrk="1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名称空间：可避免编辑器出现HTML验证错误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线箭头连接符 5"/>
          <p:cNvCxnSpPr>
            <a:stCxn id="39" idx="3"/>
            <a:endCxn id="40" idx="1"/>
          </p:cNvCxnSpPr>
          <p:nvPr>
            <p:custDataLst>
              <p:tags r:id="rId6"/>
            </p:custDataLst>
          </p:nvPr>
        </p:nvCxnSpPr>
        <p:spPr>
          <a:xfrm>
            <a:off x="7106603" y="3239135"/>
            <a:ext cx="356235" cy="241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>
            <p:custDataLst>
              <p:tags r:id="rId7"/>
            </p:custDataLst>
          </p:nvPr>
        </p:nvSpPr>
        <p:spPr>
          <a:xfrm>
            <a:off x="2475865" y="5211445"/>
            <a:ext cx="2616835" cy="327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43" name="矩形 42"/>
          <p:cNvSpPr/>
          <p:nvPr>
            <p:custDataLst>
              <p:tags r:id="rId8"/>
            </p:custDataLst>
          </p:nvPr>
        </p:nvSpPr>
        <p:spPr>
          <a:xfrm>
            <a:off x="5375275" y="5705475"/>
            <a:ext cx="3573145" cy="51752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 defTabSz="1218565" latinLnBrk="1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对&lt;h1&gt;标签中的文本进行替换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线箭头连接符 5"/>
          <p:cNvCxnSpPr>
            <a:stCxn id="42" idx="3"/>
            <a:endCxn id="43" idx="1"/>
          </p:cNvCxnSpPr>
          <p:nvPr>
            <p:custDataLst>
              <p:tags r:id="rId9"/>
            </p:custDataLst>
          </p:nvPr>
        </p:nvCxnSpPr>
        <p:spPr>
          <a:xfrm>
            <a:off x="5092383" y="5375275"/>
            <a:ext cx="282575" cy="5892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Thymeleaf常用属性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982980" y="1670050"/>
            <a:ext cx="3635375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直接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使用浏览器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打开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模板文件。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91175" y="1197610"/>
            <a:ext cx="5272405" cy="145161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950595" y="4437380"/>
            <a:ext cx="370522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启动Web项目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后，以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Web应用中的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资源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的方式打开文件。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91175" y="4077970"/>
            <a:ext cx="5292000" cy="16543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直接箭头连接符 4"/>
          <p:cNvCxnSpPr>
            <a:stCxn id="27" idx="3"/>
            <a:endCxn id="2" idx="1"/>
          </p:cNvCxnSpPr>
          <p:nvPr/>
        </p:nvCxnSpPr>
        <p:spPr>
          <a:xfrm>
            <a:off x="4618355" y="1923415"/>
            <a:ext cx="97282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>
            <p:custDataLst>
              <p:tags r:id="rId7"/>
            </p:custDataLst>
          </p:nvPr>
        </p:nvCxnSpPr>
        <p:spPr>
          <a:xfrm>
            <a:off x="4655185" y="5013960"/>
            <a:ext cx="97282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Thymeleaf常用属性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13765" y="2277110"/>
          <a:ext cx="10372725" cy="3675380"/>
        </p:xfrm>
        <a:graphic>
          <a:graphicData uri="http://schemas.openxmlformats.org/drawingml/2006/table">
            <a:tbl>
              <a:tblPr/>
              <a:tblGrid>
                <a:gridCol w="3425190"/>
                <a:gridCol w="6947535"/>
              </a:tblGrid>
              <a:tr h="205105">
                <a:tc>
                  <a:txBody>
                    <a:bodyPr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属性</a:t>
                      </a:r>
                      <a:endParaRPr lang="zh-CN" sz="1800" b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作用</a:t>
                      </a:r>
                      <a:endParaRPr lang="zh-CN" sz="1800" b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th:each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用于遍历，可以遍历集合、数组等对象。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th:if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根据条件判断是否需要展示此标签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th:unless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和 th:if 判断相反，满足条件时不显示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th:switch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与Java的switch语句类似，通常与th:case配合使用，根据不同的条件展示不同的内容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th:case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条件判断，进行选择性匹配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th:object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用于绑定数据对象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960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th:with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定义局部变量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655185" y="1626870"/>
            <a:ext cx="274320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Thymeleaf常用的th属性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Thymeleaf常用属性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56945" y="2349500"/>
          <a:ext cx="10346690" cy="3263900"/>
        </p:xfrm>
        <a:graphic>
          <a:graphicData uri="http://schemas.openxmlformats.org/drawingml/2006/table">
            <a:tbl>
              <a:tblPr/>
              <a:tblGrid>
                <a:gridCol w="4072890"/>
                <a:gridCol w="6273800"/>
              </a:tblGrid>
              <a:tr h="212400">
                <a:tc>
                  <a:txBody>
                    <a:bodyPr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属性</a:t>
                      </a:r>
                      <a:endParaRPr lang="zh-CN" sz="1800" b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作用</a:t>
                      </a:r>
                      <a:endParaRPr lang="zh-CN" sz="1800" b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>
                      <a:solidFill>
                        <a:schemeClr val="bg1"/>
                      </a:solidFill>
                      <a:prstDash val="soli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124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th:action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表单提交地址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>
                      <a:solidFill>
                        <a:schemeClr val="bg1"/>
                      </a:solidFill>
                      <a:prstDash val="soli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124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th:attr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动态拼接属性值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>
                      <a:solidFill>
                        <a:schemeClr val="bg1"/>
                      </a:solidFill>
                      <a:prstDash val="soli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124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th:onclick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绑定鼠标单击事件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>
                      <a:solidFill>
                        <a:schemeClr val="bg1"/>
                      </a:solidFill>
                      <a:prstDash val="soli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124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th:value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替换value属性的值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>
                      <a:solidFill>
                        <a:schemeClr val="bg1"/>
                      </a:solidFill>
                      <a:prstDash val="soli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124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th:href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用于设定链接地址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>
                      <a:solidFill>
                        <a:schemeClr val="bg1"/>
                      </a:solidFill>
                      <a:prstDash val="soli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124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th:src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用于替换src属性的值 ，设定链接地址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>
                      <a:solidFill>
                        <a:schemeClr val="bg1"/>
                      </a:solidFill>
                      <a:prstDash val="soli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124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th:text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文本替换，转义特殊字符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>
                      <a:solidFill>
                        <a:schemeClr val="bg1"/>
                      </a:solidFill>
                      <a:prstDash val="soli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439285" y="1629410"/>
            <a:ext cx="274320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Thymeleaf常用的th属性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Thymeleaf常用属性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16305" y="1964690"/>
          <a:ext cx="10416540" cy="3291840"/>
        </p:xfrm>
        <a:graphic>
          <a:graphicData uri="http://schemas.openxmlformats.org/drawingml/2006/table">
            <a:tbl>
              <a:tblPr/>
              <a:tblGrid>
                <a:gridCol w="3376295"/>
                <a:gridCol w="7040245"/>
              </a:tblGrid>
              <a:tr h="2124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属性</a:t>
                      </a:r>
                      <a:endParaRPr lang="zh-CN" sz="1800" b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作用</a:t>
                      </a:r>
                      <a:endParaRPr lang="zh-CN" sz="1800" b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>
                      <a:solidFill>
                        <a:schemeClr val="bg1"/>
                      </a:solidFill>
                      <a:prstDash val="soli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1148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th:utext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文本替换，不转义特殊字符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>
                      <a:solidFill>
                        <a:schemeClr val="bg1"/>
                      </a:solidFill>
                      <a:prstDash val="soli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124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th:fragment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声明片段，类似 JSP 的 tag，用来定义一段被引用或包含的模板片段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>
                      <a:solidFill>
                        <a:schemeClr val="bg1"/>
                      </a:solidFill>
                      <a:prstDash val="soli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124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th:insert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用于指定在模板中插入其他模板片段，类似JSP中的include标签，可以通过th:fragment属性定义要被替换进来的片段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>
                      <a:solidFill>
                        <a:schemeClr val="bg1"/>
                      </a:solidFill>
                      <a:prstDash val="soli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124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th:replace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用于将指定位置的内容替换为指定的模板片段，可以通过th:fragment属性定义要被替换进来的片段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>
                      <a:solidFill>
                        <a:schemeClr val="bg1"/>
                      </a:solidFill>
                      <a:prstDash val="soli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124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th:block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>
                      <a:solidFill>
                        <a:schemeClr val="bg1"/>
                      </a:solidFill>
                      <a:prstDash val="solid"/>
                    </a:lnL>
                    <a:lnR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创建区域块，如果内容为空则不创建</a:t>
                      </a:r>
                      <a:endParaRPr lang="zh-CN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>
                      <a:solidFill>
                        <a:schemeClr val="bg1"/>
                      </a:solidFill>
                      <a:prstDash val="solid"/>
                    </a:lnR>
                    <a:lnT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869815" y="1270635"/>
            <a:ext cx="274320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Thymeleaf常用的th属性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Thymeleaf标准表达式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449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Thymeleaf标准表达式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，能够在模板文件中正确使用Thymeleaf标准表达式</a:t>
            </a:r>
            <a:endParaRPr lang="zh-CN" altLang="en-US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Thymeleaf标准表达式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"/>
            </p:custDataLst>
          </p:nvPr>
        </p:nvSpPr>
        <p:spPr>
          <a:xfrm>
            <a:off x="951230" y="2529205"/>
            <a:ext cx="10337800" cy="2168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动态页面与静态页面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的主要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区别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是动态页面中可以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动态显示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，Thymeleaf标准方言中提供了一些可以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动态获取数据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标准表达式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，这些标准表达式与JSP的EL功能非常相似，可以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 Context中的请求参数、请求属性、会话属性、应用属性等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根据语法规则，Thymeleaf标准表达式主要分为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变量表达式、选择表达式、消息表达式、链接表达式、分段表达式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，下面分别对这几种表达式进行讲解。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Thymeleaf标准表达式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1.变量表达式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951230" y="1955165"/>
            <a:ext cx="1033780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Thymeleaf中使用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${}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包裹内容的表达式被称为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变量表达式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，使用变量表达式可以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访问容器上下文中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</a:t>
            </a: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sz="18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28" name="组合 8"/>
          <p:cNvGrpSpPr/>
          <p:nvPr/>
        </p:nvGrpSpPr>
        <p:grpSpPr bwMode="auto">
          <a:xfrm>
            <a:off x="951230" y="3129280"/>
            <a:ext cx="10337800" cy="683895"/>
            <a:chOff x="802453" y="-622007"/>
            <a:chExt cx="9629347" cy="10230785"/>
          </a:xfrm>
        </p:grpSpPr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802453" y="-622007"/>
              <a:ext cx="9629347" cy="83784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5"/>
              </p:custDataLst>
            </p:nvPr>
          </p:nvSpPr>
          <p:spPr>
            <a:xfrm>
              <a:off x="1501587" y="-551136"/>
              <a:ext cx="8051861" cy="1015991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&lt;p th:text="${title}"&gt;这是标题&lt;/p&gt;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963930" y="4293870"/>
            <a:ext cx="1033780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变量表达式中除了可以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直接访问变量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，还可以访问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变量的属性和方法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18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5" name="组合 8"/>
          <p:cNvGrpSpPr/>
          <p:nvPr/>
        </p:nvGrpSpPr>
        <p:grpSpPr bwMode="auto">
          <a:xfrm>
            <a:off x="951230" y="5085715"/>
            <a:ext cx="10337800" cy="922020"/>
            <a:chOff x="803045" y="-622007"/>
            <a:chExt cx="9629347" cy="13793036"/>
          </a:xfrm>
        </p:grpSpPr>
        <p:sp>
          <p:nvSpPr>
            <p:cNvPr id="6" name="矩形 5"/>
            <p:cNvSpPr/>
            <p:nvPr>
              <p:custDataLst>
                <p:tags r:id="rId7"/>
              </p:custDataLst>
            </p:nvPr>
          </p:nvSpPr>
          <p:spPr>
            <a:xfrm>
              <a:off x="803045" y="-622007"/>
              <a:ext cx="9629347" cy="137930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8"/>
              </p:custDataLst>
            </p:nvPr>
          </p:nvSpPr>
          <p:spPr>
            <a:xfrm>
              <a:off x="1501587" y="-551136"/>
              <a:ext cx="8051861" cy="1015991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&lt;p th:text="${user.name}"&gt;这是标题&lt;/p&gt;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&lt;p th:text="${user.info()}"&gt;这是标题&lt;/p&gt;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Thymeleaf标准表达式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1.变量表达式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951230" y="1955165"/>
            <a:ext cx="1033780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Thymeleaf为变量所在域提供了一些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内置对象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#ctx：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上下文对象</a:t>
            </a: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sz="18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#vars：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上下文变量</a:t>
            </a: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sz="18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#locale：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上下文语言环境</a:t>
            </a: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sz="18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#request：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HttpServletRequest对象</a:t>
            </a: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，仅在Web应用中可用。</a:t>
            </a:r>
            <a:endParaRPr lang="zh-CN" sz="18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#response：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HttpServletResponse对象，</a:t>
            </a: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仅在Web应用中可用。</a:t>
            </a:r>
            <a:endParaRPr lang="zh-CN" sz="18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#session：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HttpSession对象，</a:t>
            </a: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仅在Web应用中可用。</a:t>
            </a:r>
            <a:endParaRPr lang="zh-CN" sz="18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#servletContext：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ServletContext对象，</a:t>
            </a: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仅在Web应用中可用。</a:t>
            </a:r>
            <a:endParaRPr lang="zh-CN" sz="18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Thymeleaf标准表达式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1.变量表达式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951230" y="1955165"/>
            <a:ext cx="1033780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内置对象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都以符号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#开头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，通过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变量表达式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这些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内置对象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，例如，通过变量表达式访问HttpSession中的name属性。</a:t>
            </a:r>
            <a:endParaRPr lang="zh-CN" sz="18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28" name="组合 8"/>
          <p:cNvGrpSpPr/>
          <p:nvPr/>
        </p:nvGrpSpPr>
        <p:grpSpPr bwMode="auto">
          <a:xfrm>
            <a:off x="963930" y="3129280"/>
            <a:ext cx="10325100" cy="683895"/>
            <a:chOff x="814283" y="-622007"/>
            <a:chExt cx="9617518" cy="10230785"/>
          </a:xfrm>
        </p:grpSpPr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814283" y="-622007"/>
              <a:ext cx="9617518" cy="83784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5"/>
              </p:custDataLst>
            </p:nvPr>
          </p:nvSpPr>
          <p:spPr>
            <a:xfrm>
              <a:off x="1501587" y="-551136"/>
              <a:ext cx="8051861" cy="1015991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&lt;p th:text="${#session.getAttribute('name')}"&gt;&lt;/p&gt;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963930" y="4293870"/>
            <a:ext cx="1033780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在变量表达式中也使用内置对象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直接访问内置对象的属性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18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5" name="组合 8"/>
          <p:cNvGrpSpPr/>
          <p:nvPr/>
        </p:nvGrpSpPr>
        <p:grpSpPr bwMode="auto">
          <a:xfrm>
            <a:off x="951230" y="5085715"/>
            <a:ext cx="10337800" cy="683895"/>
            <a:chOff x="803045" y="-622007"/>
            <a:chExt cx="9629347" cy="10230785"/>
          </a:xfrm>
        </p:grpSpPr>
        <p:sp>
          <p:nvSpPr>
            <p:cNvPr id="6" name="矩形 5"/>
            <p:cNvSpPr/>
            <p:nvPr>
              <p:custDataLst>
                <p:tags r:id="rId7"/>
              </p:custDataLst>
            </p:nvPr>
          </p:nvSpPr>
          <p:spPr>
            <a:xfrm>
              <a:off x="803045" y="-622007"/>
              <a:ext cx="9629347" cy="88533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8"/>
              </p:custDataLst>
            </p:nvPr>
          </p:nvSpPr>
          <p:spPr>
            <a:xfrm>
              <a:off x="1501587" y="-551136"/>
              <a:ext cx="8051861" cy="1015991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&lt;p th:text="${session.name}"&gt;&lt;/p&gt;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Thymeleaf标准表达式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1.变量表达式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951230" y="1883410"/>
            <a:ext cx="10337800" cy="50774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为了便于开发，Thymeleaf中还提供了一些</a:t>
            </a: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内置的工具对象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，这些工具对象就像是Java内置对象一样，可以</a:t>
            </a: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直接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访问对应</a:t>
            </a: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Java内置对象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来进行各种操作。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#strings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：字符串工具对象，常用方法有equals()、length()、substring()、replace()等。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#numbers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：数字工具对象，常用的方法有formatDecimal()等。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#bools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：布尔工具对象，常用的方法有isTrue()和isFalse ()等。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#arrays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：数组工具对象，常用的方法有toArray()、isEmpty()、contains()等。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#lists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：List集合工具对象，常用的方法有toList()、size()、isEmpty()等。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#sets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：Set集合工具对象，常用的方法有toSet()、size()、isEmpty()、contains()等。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#maps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：Map 集合工具对象，常用的方法有size()、isEmpty()、containsKey()、 containsValue()等。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#dates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：日期工具对象，常用的方法有format()、year()、month()、hour()等。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sz="18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Thymeleaf标准表达式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1.变量表达式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951230" y="1955165"/>
            <a:ext cx="1033780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变量表达式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使用工具对象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，例如，在变量表达式中，使用#strings调用length()方法。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8" name="组合 8"/>
          <p:cNvGrpSpPr/>
          <p:nvPr/>
        </p:nvGrpSpPr>
        <p:grpSpPr bwMode="auto">
          <a:xfrm>
            <a:off x="950595" y="3129280"/>
            <a:ext cx="10338435" cy="683895"/>
            <a:chOff x="801862" y="-622007"/>
            <a:chExt cx="9629939" cy="10230785"/>
          </a:xfrm>
        </p:grpSpPr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801862" y="-622007"/>
              <a:ext cx="9629939" cy="83784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5"/>
              </p:custDataLst>
            </p:nvPr>
          </p:nvSpPr>
          <p:spPr>
            <a:xfrm>
              <a:off x="1501587" y="-551136"/>
              <a:ext cx="8051861" cy="1015991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&lt;h1 th:text="${#strings.length('thymeleaf')}"&gt;&lt;/h1&gt;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Thymeleaf标准表达式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2.选择表达式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951230" y="1955165"/>
            <a:ext cx="1033780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Thymeleaf中使用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*{}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包裹内容的表达式被称为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选择表达式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，选择表达式与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变量表达式功能基本一致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，只是选择表达式计算的是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绑定的对象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，而不是整个环境变量映射。标签中通过“th:object”属性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绑定对象后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，可以在该标签的后代标签中使用选择表达式（*{...}）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对象中的属性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，其中，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“*”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即代表绑定的对象。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8" name="组合 8"/>
          <p:cNvGrpSpPr/>
          <p:nvPr/>
        </p:nvGrpSpPr>
        <p:grpSpPr bwMode="auto">
          <a:xfrm>
            <a:off x="953770" y="4133850"/>
            <a:ext cx="10334625" cy="1331595"/>
            <a:chOff x="804819" y="-622007"/>
            <a:chExt cx="9626390" cy="19920108"/>
          </a:xfrm>
        </p:grpSpPr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804819" y="-622007"/>
              <a:ext cx="9626390" cy="199201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5"/>
              </p:custDataLst>
            </p:nvPr>
          </p:nvSpPr>
          <p:spPr>
            <a:xfrm>
              <a:off x="1501587" y="-555512"/>
              <a:ext cx="8051861" cy="19597130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&lt;div th:object="${user}" 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 &lt;p th:text="*{username}"&gt;name&lt;/p&gt;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&lt;/div&gt;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39" name="矩形 38"/>
          <p:cNvSpPr/>
          <p:nvPr>
            <p:custDataLst>
              <p:tags r:id="rId6"/>
            </p:custDataLst>
          </p:nvPr>
        </p:nvSpPr>
        <p:spPr>
          <a:xfrm>
            <a:off x="3425190" y="4582160"/>
            <a:ext cx="1423670" cy="327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40" name="矩形 39"/>
          <p:cNvSpPr/>
          <p:nvPr>
            <p:custDataLst>
              <p:tags r:id="rId7"/>
            </p:custDataLst>
          </p:nvPr>
        </p:nvSpPr>
        <p:spPr>
          <a:xfrm>
            <a:off x="3070860" y="5734050"/>
            <a:ext cx="2185670" cy="67564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 defTabSz="1218565" latinLnBrk="1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访问user对象中的username属性。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/>
          <p:cNvCxnSpPr>
            <a:stCxn id="39" idx="2"/>
            <a:endCxn id="40" idx="0"/>
          </p:cNvCxnSpPr>
          <p:nvPr/>
        </p:nvCxnSpPr>
        <p:spPr>
          <a:xfrm>
            <a:off x="4137025" y="4909820"/>
            <a:ext cx="26670" cy="82423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Thymeleaf标准表达式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3.消息表达式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951230" y="1955165"/>
            <a:ext cx="1033780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Thymeleaf中使用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#{}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包裹内容的表达式被称为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消息表达式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，消息表达式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可以显示静态文本的内容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，通常与th:text属性一起使用。消息表达式显示的内容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通常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读取配置文件中信息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，在#{}中指定配置文件中的Key，则会在页面中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配置文件中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Key对应的Value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8" name="组合 8"/>
          <p:cNvGrpSpPr/>
          <p:nvPr/>
        </p:nvGrpSpPr>
        <p:grpSpPr bwMode="auto">
          <a:xfrm>
            <a:off x="951230" y="4133850"/>
            <a:ext cx="10337800" cy="786130"/>
            <a:chOff x="802453" y="-622007"/>
            <a:chExt cx="9629347" cy="19663625"/>
          </a:xfrm>
        </p:grpSpPr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802453" y="-622007"/>
              <a:ext cx="9629347" cy="196636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5"/>
              </p:custDataLst>
            </p:nvPr>
          </p:nvSpPr>
          <p:spPr>
            <a:xfrm>
              <a:off x="1501587" y="-555512"/>
              <a:ext cx="8051861" cy="19597130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	&lt;p th:text="#{location}"&gt;&lt;/p&gt;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39" name="矩形 38"/>
          <p:cNvSpPr/>
          <p:nvPr>
            <p:custDataLst>
              <p:tags r:id="rId6"/>
            </p:custDataLst>
          </p:nvPr>
        </p:nvSpPr>
        <p:spPr>
          <a:xfrm>
            <a:off x="4079240" y="4293870"/>
            <a:ext cx="1308735" cy="327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40" name="矩形 39"/>
          <p:cNvSpPr/>
          <p:nvPr>
            <p:custDataLst>
              <p:tags r:id="rId7"/>
            </p:custDataLst>
          </p:nvPr>
        </p:nvSpPr>
        <p:spPr>
          <a:xfrm>
            <a:off x="6455410" y="4149725"/>
            <a:ext cx="2936875" cy="67564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 defTabSz="1218565" latinLnBrk="1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读取项目Properties配置文件中location属性的值。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/>
          <p:cNvCxnSpPr>
            <a:endCxn id="40" idx="1"/>
          </p:cNvCxnSpPr>
          <p:nvPr/>
        </p:nvCxnSpPr>
        <p:spPr>
          <a:xfrm>
            <a:off x="5447030" y="4438015"/>
            <a:ext cx="1008380" cy="4953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1078230" y="5095875"/>
            <a:ext cx="1033780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读取指定配置文件的内容时，需要先在项目的全局配置文件中通过spring.messages.basename属性进行文件的指定。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Thymeleaf标准表达式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4.链接表达式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951230" y="1955165"/>
            <a:ext cx="1033780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Thymeleaf中使用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@{}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包裹内容的表达式被称为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链接表达式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，表达式中包裹的内容只能写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绝对</a:t>
            </a:r>
            <a:r>
              <a:rPr lang="en-US" alt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相对URL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地址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，如果绝对/相对URL地址中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包含动态参数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，就需要结合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变量表达式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拼接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8" name="组合 8"/>
          <p:cNvGrpSpPr/>
          <p:nvPr/>
        </p:nvGrpSpPr>
        <p:grpSpPr bwMode="auto">
          <a:xfrm>
            <a:off x="951230" y="5497195"/>
            <a:ext cx="10306050" cy="929640"/>
            <a:chOff x="802453" y="-622007"/>
            <a:chExt cx="9599773" cy="23253269"/>
          </a:xfrm>
        </p:grpSpPr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802453" y="-622007"/>
              <a:ext cx="9599773" cy="196636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5"/>
              </p:custDataLst>
            </p:nvPr>
          </p:nvSpPr>
          <p:spPr>
            <a:xfrm>
              <a:off x="1501587" y="3034132"/>
              <a:ext cx="8051861" cy="19597130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&lt;link rel="stylesheet" th:href="@{/css/bootstrap.css}"&gt;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cxnSp>
        <p:nvCxnSpPr>
          <p:cNvPr id="9" name="直接连接符 43"/>
          <p:cNvCxnSpPr/>
          <p:nvPr>
            <p:custDataLst>
              <p:tags r:id="rId6"/>
            </p:custDataLst>
          </p:nvPr>
        </p:nvCxnSpPr>
        <p:spPr>
          <a:xfrm flipH="1">
            <a:off x="3546282" y="5162104"/>
            <a:ext cx="1483995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直接连接符 44"/>
          <p:cNvCxnSpPr/>
          <p:nvPr>
            <p:custDataLst>
              <p:tags r:id="rId7"/>
            </p:custDataLst>
          </p:nvPr>
        </p:nvCxnSpPr>
        <p:spPr>
          <a:xfrm>
            <a:off x="3546161" y="3263364"/>
            <a:ext cx="0" cy="188722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文本框 9"/>
          <p:cNvSpPr txBox="1"/>
          <p:nvPr>
            <p:custDataLst>
              <p:tags r:id="rId8"/>
            </p:custDataLst>
          </p:nvPr>
        </p:nvSpPr>
        <p:spPr>
          <a:xfrm>
            <a:off x="5304790" y="3079750"/>
            <a:ext cx="3596640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以http协议开头的绝对地址。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9"/>
          <p:cNvSpPr txBox="1"/>
          <p:nvPr>
            <p:custDataLst>
              <p:tags r:id="rId9"/>
            </p:custDataLst>
          </p:nvPr>
        </p:nvSpPr>
        <p:spPr>
          <a:xfrm>
            <a:off x="5304155" y="3535045"/>
            <a:ext cx="5979160" cy="1176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以/开头的相对地址，Thymeleaf会将开头的斜杠(/)解析为当前工程的上下文路径ContextPath，而浏览器会自动为其添加“http://主机名:端口号”。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9"/>
          <p:cNvSpPr txBox="1"/>
          <p:nvPr>
            <p:custDataLst>
              <p:tags r:id="rId10"/>
            </p:custDataLst>
          </p:nvPr>
        </p:nvSpPr>
        <p:spPr>
          <a:xfrm>
            <a:off x="5304155" y="4939665"/>
            <a:ext cx="2531110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不以/开头的相对地址。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9"/>
          <p:cNvSpPr txBox="1"/>
          <p:nvPr>
            <p:custDataLst>
              <p:tags r:id="rId11"/>
            </p:custDataLst>
          </p:nvPr>
        </p:nvSpPr>
        <p:spPr>
          <a:xfrm>
            <a:off x="1103630" y="3877945"/>
            <a:ext cx="2356485" cy="6400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链接表达式中的URL地址的写法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43"/>
          <p:cNvCxnSpPr/>
          <p:nvPr>
            <p:custDataLst>
              <p:tags r:id="rId12"/>
            </p:custDataLst>
          </p:nvPr>
        </p:nvCxnSpPr>
        <p:spPr>
          <a:xfrm flipH="1">
            <a:off x="3546282" y="3276789"/>
            <a:ext cx="1483995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43"/>
          <p:cNvCxnSpPr/>
          <p:nvPr>
            <p:custDataLst>
              <p:tags r:id="rId13"/>
            </p:custDataLst>
          </p:nvPr>
        </p:nvCxnSpPr>
        <p:spPr>
          <a:xfrm flipH="1">
            <a:off x="3574857" y="4222304"/>
            <a:ext cx="1483995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Thymeleaf标准表达式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5.分段表达式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951230" y="1955165"/>
            <a:ext cx="1033780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Thymeleaf中使用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~{}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包裹内容的表达式被称为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分段表达式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，分段表达式用于在模板页面中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引用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其他的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模板片段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，该表达式支持以下两种语法结构。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　~{templatename::fragmentname}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　~{templatename::#id}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8" name="组合 8"/>
          <p:cNvGrpSpPr/>
          <p:nvPr/>
        </p:nvGrpSpPr>
        <p:grpSpPr bwMode="auto">
          <a:xfrm>
            <a:off x="967740" y="4779645"/>
            <a:ext cx="10321290" cy="624840"/>
            <a:chOff x="817832" y="-622007"/>
            <a:chExt cx="9613969" cy="15629247"/>
          </a:xfrm>
        </p:grpSpPr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817832" y="-622007"/>
              <a:ext cx="9613969" cy="134849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5"/>
              </p:custDataLst>
            </p:nvPr>
          </p:nvSpPr>
          <p:spPr>
            <a:xfrm>
              <a:off x="1501587" y="-558473"/>
              <a:ext cx="8051861" cy="15565713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&lt;div th:insert="~{thymeleafDemo::title}"&gt;&lt;/div&gt;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39" name="矩形 38"/>
          <p:cNvSpPr/>
          <p:nvPr>
            <p:custDataLst>
              <p:tags r:id="rId6"/>
            </p:custDataLst>
          </p:nvPr>
        </p:nvSpPr>
        <p:spPr>
          <a:xfrm>
            <a:off x="1754505" y="2925445"/>
            <a:ext cx="1584325" cy="327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40" name="矩形 39"/>
          <p:cNvSpPr/>
          <p:nvPr>
            <p:custDataLst>
              <p:tags r:id="rId7"/>
            </p:custDataLst>
          </p:nvPr>
        </p:nvSpPr>
        <p:spPr>
          <a:xfrm>
            <a:off x="1221105" y="3860165"/>
            <a:ext cx="963930" cy="40767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 defTabSz="1218565" latinLnBrk="1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模版名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/>
          <p:cNvCxnSpPr>
            <a:stCxn id="39" idx="1"/>
            <a:endCxn id="40" idx="0"/>
          </p:cNvCxnSpPr>
          <p:nvPr/>
        </p:nvCxnSpPr>
        <p:spPr>
          <a:xfrm flipH="1">
            <a:off x="1703070" y="3089275"/>
            <a:ext cx="51435" cy="77089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3465830" y="2925445"/>
            <a:ext cx="1584325" cy="327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>
            <p:custDataLst>
              <p:tags r:id="rId9"/>
            </p:custDataLst>
          </p:nvPr>
        </p:nvSpPr>
        <p:spPr>
          <a:xfrm>
            <a:off x="3431540" y="3357245"/>
            <a:ext cx="373380" cy="327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5879465" y="2845435"/>
            <a:ext cx="4975225" cy="40767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 defTabSz="1218565" latinLnBrk="1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片段名，Thymeleaf 通过 th:fragment 声明定义片段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9" name="直接箭头连接符 8"/>
          <p:cNvCxnSpPr>
            <a:stCxn id="6" idx="3"/>
            <a:endCxn id="8" idx="1"/>
          </p:cNvCxnSpPr>
          <p:nvPr>
            <p:custDataLst>
              <p:tags r:id="rId11"/>
            </p:custDataLst>
          </p:nvPr>
        </p:nvCxnSpPr>
        <p:spPr>
          <a:xfrm flipV="1">
            <a:off x="5050155" y="3049270"/>
            <a:ext cx="829310" cy="4000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12"/>
            </p:custDataLst>
          </p:nvPr>
        </p:nvSpPr>
        <p:spPr>
          <a:xfrm>
            <a:off x="4655185" y="3357880"/>
            <a:ext cx="1238250" cy="40767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 defTabSz="1218565" latinLnBrk="1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 选择器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箭头连接符 12"/>
          <p:cNvCxnSpPr>
            <a:endCxn id="12" idx="1"/>
          </p:cNvCxnSpPr>
          <p:nvPr>
            <p:custDataLst>
              <p:tags r:id="rId13"/>
            </p:custDataLst>
          </p:nvPr>
        </p:nvCxnSpPr>
        <p:spPr>
          <a:xfrm flipV="1">
            <a:off x="3825875" y="3561715"/>
            <a:ext cx="829310" cy="4000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967740" y="5344160"/>
            <a:ext cx="1033780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上述代码中，使用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th:insert</a:t>
            </a:r>
            <a:r>
              <a:rPr 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属性将title片段模板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插入</a:t>
            </a:r>
            <a:r>
              <a:rPr 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到该&lt;div&gt;标签中。thymeleafDemo为模板名称，Thymeleaf会自动查找“/resources/templates/”目录下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thymeleafDemo模板</a:t>
            </a:r>
            <a:r>
              <a:rPr 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中声明的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名称为title</a:t>
            </a:r>
            <a:r>
              <a:rPr 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的片段。</a:t>
            </a:r>
            <a:endParaRPr 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740" y="3014345"/>
            <a:ext cx="626745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案例：图书管理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4.3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案例：图书管理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449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图书管理案例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的实现，能够使用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Spring Boot整合Thymeleaf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完成图书管理案例</a:t>
            </a:r>
            <a:endParaRPr lang="zh-CN" altLang="en-US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案例：图书管理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"/>
            </p:custDataLst>
          </p:nvPr>
        </p:nvSpPr>
        <p:spPr>
          <a:xfrm>
            <a:off x="951230" y="1452880"/>
            <a:ext cx="1033780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加深</a:t>
            </a: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大家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对Thymeleaf相关知识的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理解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，下面通过一个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图书管理案例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演示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Boot整合Thymeleaf的应用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8" name="图片 4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36457" y="2782570"/>
            <a:ext cx="8510400" cy="369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案例：图书管理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1.任务需求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951230" y="1883410"/>
            <a:ext cx="1033780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（1）项目使用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Boot整合Thymeleaf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，项目展示的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效果全部通过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Thymeleaf的模板文件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查询所有图书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。访问http://localhost:8080/book/list时，查询所有图书，并展示在页面中。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选择性显示按钮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。当Session中存在用户角色为“ADMIN”时，显示“新增”按钮，否则不显示该按钮。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（4）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按条件查询图书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单击“查询”按钮时，根据搜索框中的查询条件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查询对应的图书信息。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（5）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借阅</a:t>
            </a:r>
            <a:r>
              <a:rPr lang="zh-CN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图书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。当图书状态为可借阅时，对应的“借阅”按钮为可用状态，并且单击“借阅”按钮时，将当前申请借阅图书的编号异步发送到后台。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案例：图书管理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2.任务实现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951230" y="1955165"/>
            <a:ext cx="1033780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Boot整合Thymeleaf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SpringBoot为Thymeleaf 提供了一系列默认配置，Spring Boot项目中只要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引入Thymeleaf 的启动器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，项目启动时就会自动进行对应配置，因此Spring Boot整合Thymeleaf只需在创建的Spring Boot项目中添加Thymeleaf 启动器即可。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案例：图书管理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2.任务实现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951230" y="1811655"/>
            <a:ext cx="4613910" cy="2584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 Boot项目的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方式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，在Spring Boot项目中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添加Thymeleaf 启动器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有2种方法。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①使用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Initializr方式构建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 Boot项目时，在Spring Boot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场景依赖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选择界面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添加Thymeleaf依赖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943917" y="1772603"/>
            <a:ext cx="5273040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案例：图书管理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2.任务实现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951230" y="1811655"/>
            <a:ext cx="1034542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②使用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Maven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方式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构建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 Boot项目后，在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pom</a:t>
            </a:r>
            <a:r>
              <a:rPr lang="en-US"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.xml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文件中引入Thymeleaf 启动器。同时项目需要使用Spring MVC。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8"/>
          <p:cNvGrpSpPr/>
          <p:nvPr/>
        </p:nvGrpSpPr>
        <p:grpSpPr bwMode="auto">
          <a:xfrm>
            <a:off x="950595" y="2836545"/>
            <a:ext cx="10364470" cy="3823970"/>
            <a:chOff x="801862" y="1269583"/>
            <a:chExt cx="9654190" cy="10161601"/>
          </a:xfrm>
        </p:grpSpPr>
        <p:sp>
          <p:nvSpPr>
            <p:cNvPr id="4" name="矩形 3"/>
            <p:cNvSpPr/>
            <p:nvPr>
              <p:custDataLst>
                <p:tags r:id="rId4"/>
              </p:custDataLst>
            </p:nvPr>
          </p:nvSpPr>
          <p:spPr>
            <a:xfrm>
              <a:off x="801862" y="1269583"/>
              <a:ext cx="9654190" cy="101329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1501587" y="1355641"/>
              <a:ext cx="8051861" cy="10075543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&lt;dependencies&gt;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&lt;dependency&gt;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       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&lt;groupId&gt;org.springframework.boot&lt;/groupId&gt;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       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&lt;artifactId&gt;spring-boot-starter-thymeleaf&lt;/artifactId&gt;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&lt;/dependency&gt;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&lt;dependency&gt;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       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&lt;groupId&gt;org.springframework.boot&lt;/groupId&gt;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       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&lt;artifactId&gt;spring-boot-starter-web&lt;/artifactId&gt;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&lt;/dependency&gt;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&lt;/dependencies&gt;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案例：图书管理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2.任务实现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951230" y="1811655"/>
            <a:ext cx="1034542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创建实体类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图书管理页面中包含2个实体对象，分别为用户实体和图书实体，并且当前还没有学习Spring Boot和持久层技术的整合，在此，选择通过一个类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封装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一些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图书数据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页面展示的图书信息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都从这个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类中获取数据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。需要创建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用户类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图书类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数据类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，具体如文件4-1~文件4-3所示。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766643"/>
            <a:ext cx="2232248" cy="2232248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388978" y="387551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478588" y="4118241"/>
                <a:ext cx="4022725" cy="1198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文件4-1</a:t>
                </a:r>
                <a:r>
                  <a:rPr 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 </a:t>
                </a:r>
                <a:r>
                  <a:rPr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  <a:hlinkClick r:id="rId7"/>
                  </a:rPr>
                  <a:t>User.java</a:t>
                </a:r>
                <a:endParaRPr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文件4-2</a:t>
                </a:r>
                <a:r>
                  <a:rPr 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 </a:t>
                </a:r>
                <a:r>
                  <a:rPr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  <a:hlinkClick r:id="rId8"/>
                  </a:rPr>
                  <a:t>Book .java</a:t>
                </a:r>
                <a:endParaRPr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文件4-3</a:t>
                </a:r>
                <a:r>
                  <a:rPr 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 </a:t>
                </a:r>
                <a:r>
                  <a:rPr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  <a:hlinkClick r:id="rId9"/>
                  </a:rPr>
                  <a:t>Data.java</a:t>
                </a:r>
                <a:endParaRPr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10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案例：图书管理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2.任务实现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951230" y="1811655"/>
            <a:ext cx="1034542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创建控制器类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创建控制器类，在控制器类中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对应的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方法接收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页面发送的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请求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，具体代码如文件4-4所示。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07868"/>
            <a:ext cx="2232248" cy="2232248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388978" y="351674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478588" y="4261751"/>
                <a:ext cx="4022725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文件4-</a:t>
                </a:r>
                <a:r>
                  <a:rPr 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4</a:t>
                </a:r>
                <a:r>
                  <a:rPr 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 </a:t>
                </a:r>
                <a:endParaRPr 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  <a:hlinkClick r:id="rId7"/>
                  </a:rPr>
                  <a:t>BookController.java</a:t>
                </a:r>
                <a:endParaRPr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案例：图书管理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2.任务实现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951230" y="1811655"/>
            <a:ext cx="1034542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（4）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创建模板文件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在resources\templates目录下创建名称为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books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的HTML文件作为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模板文件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，并将模板文件中通过Thymeleaf的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属性和标准表达式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引入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样式文件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，以及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获取数据进行展示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，具体代码如文件4-5所示。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07868"/>
            <a:ext cx="2232248" cy="2232248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388978" y="351674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478588" y="4261751"/>
                <a:ext cx="4022725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文件4-</a:t>
                </a:r>
                <a:r>
                  <a:rPr 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5</a:t>
                </a:r>
                <a:r>
                  <a:rPr 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 </a:t>
                </a:r>
                <a:endParaRPr 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  <a:hlinkClick r:id="rId7" action="ppaction://hlinkfile"/>
                  </a:rPr>
                  <a:t>books.html</a:t>
                </a:r>
                <a:endParaRPr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案例：图书管理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2.任务实现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951230" y="1811655"/>
            <a:ext cx="1034542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（5）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测试图书管理</a:t>
            </a:r>
            <a:endParaRPr sz="18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启动项目，在浏览器中访问http://localhost:8080/book/list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查询所有图书信息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8" name="图片 4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136457" y="2782570"/>
            <a:ext cx="8510400" cy="369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案例：图书管理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2.任务实现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951230" y="1811655"/>
            <a:ext cx="1034542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（5）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测试图书管理</a:t>
            </a:r>
            <a:endParaRPr sz="18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在搜索框中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输入查询条件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后单击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“查询”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按钮，按条件查询图书信息，以查询图书名称中包含“辞”字的图书信息为例。</a:t>
            </a:r>
            <a:endParaRPr lang="en-US" alt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51722" y="3375343"/>
            <a:ext cx="7434000" cy="2770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案例：图书管理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77595" y="1177925"/>
            <a:ext cx="2353945" cy="476885"/>
            <a:chOff x="898650" y="1797999"/>
            <a:chExt cx="3803994" cy="476885"/>
          </a:xfrm>
        </p:grpSpPr>
        <p:sp>
          <p:nvSpPr>
            <p:cNvPr id="10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3699352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898650" y="1797999"/>
              <a:ext cx="3803994" cy="464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8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2.任务实现</a:t>
              </a:r>
              <a:endParaRPr sz="18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951230" y="1811655"/>
            <a:ext cx="1034542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（5）</a:t>
            </a:r>
            <a:r>
              <a:rPr sz="18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测试图书管理</a:t>
            </a:r>
            <a:endParaRPr sz="18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单击图书《楚辞》的“借阅”按钮，此时IDEA控制台中输出图书对应的</a:t>
            </a:r>
            <a:r>
              <a:rPr lang="en-US" alt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23477" y="3573463"/>
            <a:ext cx="7434000" cy="1975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26245" y="3123620"/>
            <a:ext cx="9793605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本章主要对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 Boot整合Thymeleaf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进行了讲解。首先讲解了S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pring Boot支持的模板引擎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；然后讲解了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Thymeleaf基础入门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；最后通过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图书管理案例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演示Spring Boot整合Thymeleaf，以及Thymeleaf常用属性和标准表达式的应用。通过本章的学习，希望大家可以对Spring Boot整合Thymeleaf有所了解，为后续更深入学习Spring Boot做好铺垫。</a:t>
            </a:r>
            <a:endParaRPr sz="18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39470" y="2396490"/>
            <a:ext cx="10511790" cy="286131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34771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  <a:endParaRPr lang="zh-CN" altLang="en-US" sz="2800" b="1"/>
          </a:p>
        </p:txBody>
      </p:sp>
      <p:sp>
        <p:nvSpPr>
          <p:cNvPr id="9" name="椭圆 8"/>
          <p:cNvSpPr/>
          <p:nvPr/>
        </p:nvSpPr>
        <p:spPr>
          <a:xfrm>
            <a:off x="506653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8535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0417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UNIT_TABLE_BEAUTIFY" val="smartTable{8caaa220-524d-4535-951f-33f3162d4cf7}"/>
  <p:tag name="TABLE_ENDDRAG_ORIGIN_RECT" val="591*119"/>
  <p:tag name="TABLE_ENDDRAG_RECT" val="177*224*591*119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UNIT_TABLE_BEAUTIFY" val="smartTable{8caaa220-524d-4535-951f-33f3162d4cf7}"/>
  <p:tag name="TABLE_ENDDRAG_ORIGIN_RECT" val="814*257"/>
  <p:tag name="TABLE_ENDDRAG_RECT" val="75*185*814*257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UNIT_TABLE_BEAUTIFY" val="smartTable{8caaa220-524d-4535-951f-33f3162d4cf7}"/>
  <p:tag name="TABLE_ENDDRAG_ORIGIN_RECT" val="500*140"/>
  <p:tag name="TABLE_ENDDRAG_RECT" val="180*92*500*140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ISPRING_RESOURCE_PATHS_HASH_PRESENTER" val="3f15e6573a385e41c33bb97e7105a62faa5c484"/>
  <p:tag name="COMMONDATA" val="eyJoZGlkIjoiNTQwODNlZjBiNzRkNjZmNWIwNWFhMDg5ODM5YzE3ZjIifQ=="/>
  <p:tag name="KSO_WPP_MARK_KEY" val="982352ae-fb85-4723-8ca9-7b0b57b9b06c"/>
  <p:tag name="commondata" val="eyJoZGlkIjoiOTVhMDEyNTNmYTU0ODE2ZWE1NmRmMGZjMTUzNmU1YzEifQ==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8185</Words>
  <Application>WPS 演示</Application>
  <PresentationFormat>自定义</PresentationFormat>
  <Paragraphs>529</Paragraphs>
  <Slides>44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67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Yu Gothic UI Semibold</vt:lpstr>
      <vt:lpstr>U.S. 101</vt:lpstr>
      <vt:lpstr>Segoe Print</vt:lpstr>
      <vt:lpstr>Roboto</vt:lpstr>
      <vt:lpstr>Times New Roman</vt:lpstr>
      <vt:lpstr>Open Sans Light</vt:lpstr>
      <vt:lpstr>Arial Unicode MS</vt:lpstr>
      <vt:lpstr>Open Sans</vt:lpstr>
      <vt:lpstr>Open Sans</vt:lpstr>
      <vt:lpstr>Courier New</vt:lpstr>
      <vt:lpstr>思源黑体 CN Normal</vt:lpstr>
      <vt:lpstr>Wingdings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风涌泉</cp:lastModifiedBy>
  <cp:revision>1070</cp:revision>
  <dcterms:created xsi:type="dcterms:W3CDTF">2020-11-11T09:29:00Z</dcterms:created>
  <dcterms:modified xsi:type="dcterms:W3CDTF">2024-09-02T08:32:09Z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2052-12.1.0.17147</vt:lpwstr>
  </property>
  <property fmtid="{D5CDD505-2E9C-101B-9397-08002B2CF9AE}" pid="3" name="ICV">
    <vt:lpwstr>69DB4B6826B6494390E926BE37E6C64D</vt:lpwstr>
  </property>
</Properties>
</file>