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7" r:id="rId3"/>
    <p:sldId id="257" r:id="rId4"/>
    <p:sldId id="266" r:id="rId5"/>
    <p:sldId id="265" r:id="rId6"/>
    <p:sldId id="258" r:id="rId7"/>
    <p:sldId id="259" r:id="rId8"/>
    <p:sldId id="263" r:id="rId9"/>
    <p:sldId id="260" r:id="rId10"/>
    <p:sldId id="261" r:id="rId11"/>
    <p:sldId id="262" r:id="rId12"/>
    <p:sldId id="264" r:id="rId13"/>
  </p:sldIdLst>
  <p:sldSz cx="12192000" cy="6858000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51"/>
    <p:restoredTop sz="94793"/>
  </p:normalViewPr>
  <p:slideViewPr>
    <p:cSldViewPr snapToGrid="0">
      <p:cViewPr>
        <p:scale>
          <a:sx n="100" d="100"/>
          <a:sy n="100" d="100"/>
        </p:scale>
        <p:origin x="1373" y="4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FD6-3CFC-2C42-95BD-E5C11EC2F174}" type="datetimeFigureOut">
              <a:rPr kumimoji="1" lang="zh-CN" altLang="en-US" smtClean="0"/>
              <a:t>2025/9/25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5AED1-B55A-054E-81ED-0CD071E250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FD6-3CFC-2C42-95BD-E5C11EC2F174}" type="datetimeFigureOut">
              <a:rPr kumimoji="1" lang="zh-CN" altLang="en-US" smtClean="0"/>
              <a:t>2025/9/25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5AED1-B55A-054E-81ED-0CD071E250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FD6-3CFC-2C42-95BD-E5C11EC2F174}" type="datetimeFigureOut">
              <a:rPr kumimoji="1" lang="zh-CN" altLang="en-US" smtClean="0"/>
              <a:t>2025/9/25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5AED1-B55A-054E-81ED-0CD071E250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FD6-3CFC-2C42-95BD-E5C11EC2F174}" type="datetimeFigureOut">
              <a:rPr kumimoji="1" lang="zh-CN" altLang="en-US" smtClean="0"/>
              <a:t>2025/9/25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5AED1-B55A-054E-81ED-0CD071E250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FD6-3CFC-2C42-95BD-E5C11EC2F174}" type="datetimeFigureOut">
              <a:rPr kumimoji="1" lang="zh-CN" altLang="en-US" smtClean="0"/>
              <a:t>2025/9/25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5AED1-B55A-054E-81ED-0CD071E250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FD6-3CFC-2C42-95BD-E5C11EC2F174}" type="datetimeFigureOut">
              <a:rPr kumimoji="1" lang="zh-CN" altLang="en-US" smtClean="0"/>
              <a:t>2025/9/25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5AED1-B55A-054E-81ED-0CD071E250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FD6-3CFC-2C42-95BD-E5C11EC2F174}" type="datetimeFigureOut">
              <a:rPr kumimoji="1" lang="zh-CN" altLang="en-US" smtClean="0"/>
              <a:t>2025/9/25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5AED1-B55A-054E-81ED-0CD071E250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FD6-3CFC-2C42-95BD-E5C11EC2F174}" type="datetimeFigureOut">
              <a:rPr kumimoji="1" lang="zh-CN" altLang="en-US" smtClean="0"/>
              <a:t>2025/9/25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5AED1-B55A-054E-81ED-0CD071E250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FD6-3CFC-2C42-95BD-E5C11EC2F174}" type="datetimeFigureOut">
              <a:rPr kumimoji="1" lang="zh-CN" altLang="en-US" smtClean="0"/>
              <a:t>2025/9/25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5AED1-B55A-054E-81ED-0CD071E250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FD6-3CFC-2C42-95BD-E5C11EC2F174}" type="datetimeFigureOut">
              <a:rPr kumimoji="1" lang="zh-CN" altLang="en-US" smtClean="0"/>
              <a:t>2025/9/25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5AED1-B55A-054E-81ED-0CD071E250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FD6-3CFC-2C42-95BD-E5C11EC2F174}" type="datetimeFigureOut">
              <a:rPr kumimoji="1" lang="zh-CN" altLang="en-US" smtClean="0"/>
              <a:t>2025/9/25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5AED1-B55A-054E-81ED-0CD071E250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A6FD6-3CFC-2C42-95BD-E5C11EC2F174}" type="datetimeFigureOut">
              <a:rPr kumimoji="1" lang="zh-CN" altLang="en-US" smtClean="0"/>
              <a:t>2025/9/25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5AED1-B55A-054E-81ED-0CD071E250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32338" y="316523"/>
            <a:ext cx="9999785" cy="6224954"/>
          </a:xfrm>
        </p:spPr>
        <p:txBody>
          <a:bodyPr>
            <a:normAutofit/>
          </a:bodyPr>
          <a:lstStyle/>
          <a:p>
            <a:r>
              <a:rPr kumimoji="1" lang="zh-CN" altLang="en-US" dirty="0">
                <a:latin typeface="Hiragino Sans GB W3" panose="020B0300000000000000" pitchFamily="34" charset="-128"/>
                <a:ea typeface="Hiragino Sans GB W3" panose="020B0300000000000000" pitchFamily="34" charset="-128"/>
                <a:sym typeface="+mn-ea"/>
              </a:rPr>
              <a:t>代码托管平台</a:t>
            </a:r>
            <a:br>
              <a:rPr kumimoji="1" lang="en-US" altLang="zh-CN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</a:br>
            <a:r>
              <a:rPr kumimoji="1" lang="en-US" altLang="zh-CN" dirty="0" err="1">
                <a:solidFill>
                  <a:srgbClr val="FF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sym typeface="+mn-ea"/>
              </a:rPr>
              <a:t>github</a:t>
            </a:r>
            <a:r>
              <a:rPr kumimoji="1" lang="zh-CN" altLang="en-US" dirty="0">
                <a:latin typeface="Hiragino Sans GB W3" panose="020B0300000000000000" pitchFamily="34" charset="-128"/>
                <a:ea typeface="Hiragino Sans GB W3" panose="020B0300000000000000" pitchFamily="34" charset="-128"/>
                <a:sym typeface="+mn-ea"/>
              </a:rPr>
              <a:t> </a:t>
            </a:r>
            <a:r>
              <a:rPr kumimoji="1" lang="en-US" altLang="zh-CN" dirty="0" err="1">
                <a:solidFill>
                  <a:srgbClr val="FF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sym typeface="+mn-ea"/>
              </a:rPr>
              <a:t>gitee</a:t>
            </a:r>
            <a:r>
              <a:rPr kumimoji="1" lang="zh-CN" altLang="en-US" dirty="0">
                <a:latin typeface="Hiragino Sans GB W3" panose="020B0300000000000000" pitchFamily="34" charset="-128"/>
                <a:ea typeface="Hiragino Sans GB W3" panose="020B0300000000000000" pitchFamily="34" charset="-128"/>
                <a:sym typeface="+mn-ea"/>
              </a:rPr>
              <a:t> </a:t>
            </a:r>
            <a:r>
              <a:rPr kumimoji="1" lang="zh-CN" altLang="en-US" dirty="0">
                <a:solidFill>
                  <a:srgbClr val="FF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sym typeface="+mn-ea"/>
              </a:rPr>
              <a:t>头歌</a:t>
            </a:r>
            <a:br>
              <a:rPr kumimoji="1" lang="en-US" altLang="zh-CN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</a:br>
            <a:br>
              <a:rPr kumimoji="1" lang="en-US" altLang="zh-CN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</a:br>
            <a:r>
              <a:rPr kumimoji="1" lang="zh-CN" altLang="en-US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版本控制系统</a:t>
            </a:r>
            <a:br>
              <a:rPr kumimoji="1" lang="en-US" altLang="zh-CN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</a:br>
            <a:r>
              <a:rPr kumimoji="1" lang="en-US" altLang="zh-CN" dirty="0">
                <a:solidFill>
                  <a:srgbClr val="FF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git</a:t>
            </a:r>
            <a:r>
              <a:rPr kumimoji="1" lang="zh-CN" altLang="en-US" dirty="0">
                <a:solidFill>
                  <a:srgbClr val="FF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 （可视化工具）</a:t>
            </a:r>
            <a:br>
              <a:rPr kumimoji="1" lang="en-US" altLang="zh-CN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</a:br>
            <a:endParaRPr kumimoji="1" lang="zh-CN" altLang="en-US" dirty="0"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749BDDC-AC24-4C38-A2C0-40E313EE3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01" y="70183"/>
            <a:ext cx="9935280" cy="6751666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824A3942-5169-4794-A941-20D60DCA4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90799"/>
            <a:ext cx="5097780" cy="9191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2018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1183445" y="2233153"/>
            <a:ext cx="10374923" cy="3175686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群体智能教学模式</a:t>
            </a:r>
            <a:br>
              <a:rPr lang="en-US" altLang="zh-CN" b="1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</a:br>
            <a:r>
              <a:rPr lang="zh-CN" altLang="en-US" b="1" dirty="0">
                <a:solidFill>
                  <a:srgbClr val="FF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使用知识社区</a:t>
            </a:r>
            <a:br>
              <a:rPr lang="en-US" altLang="zh-CN" b="1" dirty="0">
                <a:solidFill>
                  <a:srgbClr val="FF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</a:br>
            <a:r>
              <a:rPr lang="en-US" altLang="zh-CN" b="1" dirty="0" err="1">
                <a:solidFill>
                  <a:srgbClr val="FF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LearnerHub</a:t>
            </a:r>
            <a:r>
              <a:rPr lang="zh-CN" altLang="en-US" b="1" dirty="0">
                <a:solidFill>
                  <a:srgbClr val="FF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 软件工程学习空间</a:t>
            </a:r>
            <a:br>
              <a:rPr lang="en-US" altLang="zh-CN" b="1" dirty="0">
                <a:solidFill>
                  <a:srgbClr val="FF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</a:br>
            <a:r>
              <a:rPr lang="en-US" altLang="zh-CN" b="1" dirty="0">
                <a:solidFill>
                  <a:srgbClr val="FF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www.learnerhub.net</a:t>
            </a:r>
            <a:br>
              <a:rPr lang="en-US" altLang="zh-CN" b="1" dirty="0">
                <a:solidFill>
                  <a:srgbClr val="FF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</a:br>
            <a:endParaRPr lang="zh-CN" altLang="en-US" b="1" dirty="0">
              <a:solidFill>
                <a:srgbClr val="FF0000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19467C5-1E67-4D57-85C6-23D43BC143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A7773F0-4AD5-4064-A6B8-4DAA7D2C0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" y="1122363"/>
            <a:ext cx="10614660" cy="502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026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32338" y="316523"/>
            <a:ext cx="9999785" cy="6224954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sym typeface="+mn-ea"/>
              </a:rPr>
              <a:t>开源代码</a:t>
            </a:r>
            <a:br>
              <a:rPr kumimoji="1" lang="en-US" altLang="zh-CN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</a:br>
            <a:r>
              <a:rPr kumimoji="1" lang="en-US" altLang="zh-CN" sz="4400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https://pan.baidu.com/s/1-ONWS_m49yPljk6P9gRWiA </a:t>
            </a:r>
            <a:br>
              <a:rPr kumimoji="1" lang="en-US" altLang="zh-CN" sz="4400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</a:br>
            <a:r>
              <a:rPr kumimoji="1" lang="zh-CN" altLang="en-US" sz="4400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提取码</a:t>
            </a:r>
            <a:r>
              <a:rPr kumimoji="1" lang="en-US" altLang="zh-CN" sz="4400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:1448</a:t>
            </a:r>
            <a:br>
              <a:rPr kumimoji="1" lang="en-US" altLang="zh-CN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</a:br>
            <a:br>
              <a:rPr kumimoji="1" lang="en-US" altLang="zh-CN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</a:br>
            <a:r>
              <a:rPr kumimoji="1" lang="zh-CN" altLang="en-US" dirty="0">
                <a:solidFill>
                  <a:srgbClr val="C0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学习视频</a:t>
            </a:r>
            <a:r>
              <a:rPr kumimoji="1" lang="en-US" altLang="zh-CN" sz="3600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https://www.bilibili.com/video/BV12H4y1p73P/?spm_id_from=333.337.search-card.all.click</a:t>
            </a:r>
            <a:r>
              <a:rPr kumimoji="1" lang="zh-CN" altLang="en-US" sz="3600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：</a:t>
            </a:r>
            <a:br>
              <a:rPr kumimoji="1" lang="en-US" altLang="zh-CN" sz="3600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</a:br>
            <a:r>
              <a:rPr kumimoji="1" lang="zh-CN" altLang="en-US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基于</a:t>
            </a:r>
            <a:r>
              <a:rPr kumimoji="1" lang="en-US" altLang="zh-CN" dirty="0" err="1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Flask+vue+sql</a:t>
            </a:r>
            <a:r>
              <a:rPr kumimoji="1" lang="zh-CN" altLang="en-US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的大屏可视化</a:t>
            </a:r>
            <a:r>
              <a:rPr kumimoji="1" lang="en-US" altLang="zh-CN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web</a:t>
            </a:r>
            <a:r>
              <a:rPr kumimoji="1" lang="zh-CN" altLang="en-US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系统</a:t>
            </a:r>
          </a:p>
        </p:txBody>
      </p:sp>
    </p:spTree>
    <p:extLst>
      <p:ext uri="{BB962C8B-B14F-4D97-AF65-F5344CB8AC3E}">
        <p14:creationId xmlns:p14="http://schemas.microsoft.com/office/powerpoint/2010/main" val="3862368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140677" y="1641231"/>
            <a:ext cx="11910646" cy="3141784"/>
          </a:xfrm>
        </p:spPr>
        <p:txBody>
          <a:bodyPr>
            <a:normAutofit/>
          </a:bodyPr>
          <a:lstStyle/>
          <a:p>
            <a:r>
              <a:rPr lang="en-US" altLang="zh-CN" b="1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Git</a:t>
            </a:r>
            <a:r>
              <a:rPr lang="zh-CN" altLang="en-US" b="1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 </a:t>
            </a:r>
            <a:r>
              <a:rPr lang="en-US" altLang="zh-CN" b="1" dirty="0" err="1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init</a:t>
            </a:r>
            <a:r>
              <a:rPr lang="zh-CN" altLang="en-US" b="1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 初始化本地仓库</a:t>
            </a:r>
            <a:br>
              <a:rPr lang="en-US" altLang="zh-CN" b="1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</a:br>
            <a:r>
              <a:rPr lang="zh-CN" altLang="en-US" b="1" dirty="0">
                <a:solidFill>
                  <a:srgbClr val="FF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命令行</a:t>
            </a:r>
            <a:r>
              <a:rPr lang="en-US" altLang="zh-CN" b="1" dirty="0">
                <a:solidFill>
                  <a:srgbClr val="FF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/</a:t>
            </a:r>
            <a:r>
              <a:rPr lang="zh-CN" altLang="en-US" b="1" dirty="0">
                <a:solidFill>
                  <a:srgbClr val="FF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小乌龟</a:t>
            </a:r>
            <a:r>
              <a:rPr lang="en-US" altLang="zh-CN" b="1" dirty="0">
                <a:solidFill>
                  <a:srgbClr val="FF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/</a:t>
            </a:r>
            <a:r>
              <a:rPr lang="en-US" altLang="zh-CN" b="1" dirty="0" err="1">
                <a:solidFill>
                  <a:srgbClr val="FF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vscode</a:t>
            </a:r>
            <a:r>
              <a:rPr lang="zh-CN" altLang="en-US" b="1" dirty="0">
                <a:solidFill>
                  <a:srgbClr val="FF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 三种方式</a:t>
            </a:r>
            <a:br>
              <a:rPr lang="en-US" altLang="zh-CN" b="1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</a:br>
            <a:r>
              <a:rPr lang="zh-CN" altLang="en-US" sz="4000" b="1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参考：</a:t>
            </a:r>
            <a:r>
              <a:rPr lang="en-US" altLang="zh-CN" sz="4000" b="1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https://</a:t>
            </a:r>
            <a:r>
              <a:rPr lang="en-US" altLang="zh-CN" sz="4000" b="1" dirty="0" err="1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www.runoob.com</a:t>
            </a:r>
            <a:r>
              <a:rPr lang="en-US" altLang="zh-CN" sz="4000" b="1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/git/git-basic-</a:t>
            </a:r>
            <a:r>
              <a:rPr lang="en-US" altLang="zh-CN" sz="4000" b="1" dirty="0" err="1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operations.html</a:t>
            </a:r>
            <a:endParaRPr lang="zh-CN" altLang="en-US" sz="4000" b="1" dirty="0">
              <a:solidFill>
                <a:srgbClr val="FF0000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421640" y="606425"/>
            <a:ext cx="10825480" cy="5923280"/>
          </a:xfrm>
        </p:spPr>
        <p:txBody>
          <a:bodyPr/>
          <a:lstStyle/>
          <a:p>
            <a:pPr algn="l"/>
            <a:r>
              <a:rPr lang="zh-CN" altLang="en-US" sz="4400" b="1"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工作区转换到暂存区</a:t>
            </a:r>
            <a:r>
              <a:rPr lang="en-US" altLang="zh-CN" sz="4400" b="1"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 </a:t>
            </a:r>
            <a:r>
              <a:rPr lang="en-US" altLang="zh-CN" sz="4400" b="1">
                <a:solidFill>
                  <a:srgbClr val="FF0000"/>
                </a:solidFill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add</a:t>
            </a:r>
            <a:br>
              <a:rPr lang="en-US" altLang="zh-CN" sz="4400" b="1"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</a:br>
            <a:r>
              <a:rPr lang="zh-CN" altLang="en-US" sz="4400" b="1"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缓存区到本地仓库</a:t>
            </a:r>
            <a:r>
              <a:rPr lang="en-US" altLang="zh-CN" sz="4400" b="1"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 </a:t>
            </a:r>
            <a:r>
              <a:rPr lang="en-US" altLang="zh-CN" sz="4400" b="1">
                <a:solidFill>
                  <a:srgbClr val="FF0000"/>
                </a:solidFill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commit</a:t>
            </a:r>
            <a:br>
              <a:rPr lang="en-US" altLang="zh-CN" sz="4400" b="1"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</a:br>
            <a:r>
              <a:rPr lang="zh-CN" altLang="en-US" sz="4400" b="1"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本地库推送到远程仓库</a:t>
            </a:r>
            <a:r>
              <a:rPr lang="en-US" altLang="zh-CN" sz="4400" b="1"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 </a:t>
            </a:r>
            <a:r>
              <a:rPr lang="en-US" altLang="zh-CN" sz="4400" b="1">
                <a:solidFill>
                  <a:srgbClr val="FF0000"/>
                </a:solidFill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push</a:t>
            </a:r>
            <a:br>
              <a:rPr lang="en-US" altLang="zh-CN" sz="4400" b="1"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</a:br>
            <a:r>
              <a:rPr lang="zh-CN" altLang="en-US" sz="4400" b="1"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远程回到本地</a:t>
            </a:r>
            <a:r>
              <a:rPr lang="en-US" altLang="zh-CN" sz="4400" b="1"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 </a:t>
            </a:r>
            <a:r>
              <a:rPr lang="en-US" altLang="zh-CN" sz="4400" b="1">
                <a:solidFill>
                  <a:srgbClr val="FF0000"/>
                </a:solidFill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fetch/clone</a:t>
            </a:r>
            <a:br>
              <a:rPr lang="en-US" altLang="zh-CN" sz="4400" b="1"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</a:br>
            <a:r>
              <a:rPr lang="zh-CN" altLang="en-US" sz="4400" b="1"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远程拉到工作区</a:t>
            </a:r>
            <a:r>
              <a:rPr lang="en-US" altLang="zh-CN" sz="4400" b="1"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 </a:t>
            </a:r>
            <a:r>
              <a:rPr lang="en-US" altLang="zh-CN" sz="4400" b="1">
                <a:solidFill>
                  <a:srgbClr val="FF0000"/>
                </a:solidFill>
                <a:latin typeface="Times New Roman Regular" panose="02020503050405090304" charset="0"/>
                <a:ea typeface="+mn-ea"/>
                <a:cs typeface="Times New Roman Regular" panose="02020503050405090304" charset="0"/>
              </a:rPr>
              <a:t>pull</a:t>
            </a:r>
          </a:p>
        </p:txBody>
      </p:sp>
      <p:pic>
        <p:nvPicPr>
          <p:cNvPr id="4" name="图片 3" descr="gq3h0y9rx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009890" y="221873"/>
            <a:ext cx="8582660" cy="24872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539750" y="1125538"/>
            <a:ext cx="10920052" cy="5040312"/>
          </a:xfrm>
        </p:spPr>
        <p:txBody>
          <a:bodyPr/>
          <a:lstStyle/>
          <a:p>
            <a:r>
              <a:rPr lang="zh-CN" altLang="en-US" b="1" dirty="0">
                <a:sym typeface="+mn-ea"/>
              </a:rPr>
              <a:t>使用分支意味着你可以把你的工作从开发主线上分离开来，以免影响开发主线</a:t>
            </a:r>
            <a:endParaRPr lang="zh-CN" altLang="en-US" dirty="0">
              <a:sym typeface="+mn-ea"/>
            </a:endParaRPr>
          </a:p>
          <a:p>
            <a:endParaRPr lang="zh-CN" altLang="en-US" dirty="0"/>
          </a:p>
        </p:txBody>
      </p:sp>
      <p:cxnSp>
        <p:nvCxnSpPr>
          <p:cNvPr id="10" name="直接箭头连接符 9"/>
          <p:cNvCxnSpPr/>
          <p:nvPr>
            <p:custDataLst>
              <p:tags r:id="rId1"/>
            </p:custDataLst>
          </p:nvPr>
        </p:nvCxnSpPr>
        <p:spPr>
          <a:xfrm>
            <a:off x="2545379" y="3940718"/>
            <a:ext cx="807424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>
            <p:custDataLst>
              <p:tags r:id="rId2"/>
            </p:custDataLst>
          </p:nvPr>
        </p:nvSpPr>
        <p:spPr>
          <a:xfrm>
            <a:off x="3394263" y="3839131"/>
            <a:ext cx="228570" cy="22857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2" name="椭圆 11"/>
          <p:cNvSpPr/>
          <p:nvPr>
            <p:custDataLst>
              <p:tags r:id="rId3"/>
            </p:custDataLst>
          </p:nvPr>
        </p:nvSpPr>
        <p:spPr>
          <a:xfrm>
            <a:off x="7102181" y="3813735"/>
            <a:ext cx="228570" cy="22857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13" name="直接箭头连接符 12"/>
          <p:cNvCxnSpPr/>
          <p:nvPr>
            <p:custDataLst>
              <p:tags r:id="rId4"/>
            </p:custDataLst>
          </p:nvPr>
        </p:nvCxnSpPr>
        <p:spPr>
          <a:xfrm>
            <a:off x="2556173" y="4905792"/>
            <a:ext cx="8074244" cy="0"/>
          </a:xfrm>
          <a:prstGeom prst="straightConnector1">
            <a:avLst/>
          </a:prstGeom>
          <a:solidFill>
            <a:srgbClr val="0070C0"/>
          </a:solidFill>
          <a:ln w="38100">
            <a:solidFill>
              <a:srgbClr val="0070C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>
            <p:custDataLst>
              <p:tags r:id="rId5"/>
            </p:custDataLst>
          </p:nvPr>
        </p:nvSpPr>
        <p:spPr>
          <a:xfrm>
            <a:off x="4156164" y="4791507"/>
            <a:ext cx="228570" cy="22857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5" name="椭圆 14"/>
          <p:cNvSpPr/>
          <p:nvPr>
            <p:custDataLst>
              <p:tags r:id="rId6"/>
            </p:custDataLst>
          </p:nvPr>
        </p:nvSpPr>
        <p:spPr>
          <a:xfrm>
            <a:off x="6556152" y="4791507"/>
            <a:ext cx="228570" cy="22857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16" name="直接箭头连接符 15"/>
          <p:cNvCxnSpPr>
            <a:stCxn id="11" idx="5"/>
            <a:endCxn id="14" idx="1"/>
          </p:cNvCxnSpPr>
          <p:nvPr/>
        </p:nvCxnSpPr>
        <p:spPr>
          <a:xfrm>
            <a:off x="3589183" y="4034051"/>
            <a:ext cx="600632" cy="791107"/>
          </a:xfrm>
          <a:prstGeom prst="straightConnector1">
            <a:avLst/>
          </a:prstGeom>
          <a:solidFill>
            <a:srgbClr val="0070C0"/>
          </a:solidFill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14" idx="6"/>
            <a:endCxn id="15" idx="2"/>
          </p:cNvCxnSpPr>
          <p:nvPr/>
        </p:nvCxnSpPr>
        <p:spPr>
          <a:xfrm>
            <a:off x="4384734" y="4905792"/>
            <a:ext cx="2171417" cy="0"/>
          </a:xfrm>
          <a:prstGeom prst="straightConnector1">
            <a:avLst/>
          </a:prstGeom>
          <a:solidFill>
            <a:srgbClr val="0070C0"/>
          </a:solidFill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15" idx="0"/>
            <a:endCxn id="12" idx="3"/>
          </p:cNvCxnSpPr>
          <p:nvPr/>
        </p:nvCxnSpPr>
        <p:spPr>
          <a:xfrm flipV="1">
            <a:off x="6670437" y="4008655"/>
            <a:ext cx="465394" cy="782853"/>
          </a:xfrm>
          <a:prstGeom prst="straightConnector1">
            <a:avLst/>
          </a:prstGeom>
          <a:solidFill>
            <a:srgbClr val="0070C0"/>
          </a:solidFill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>
            <p:custDataLst>
              <p:tags r:id="rId7"/>
            </p:custDataLst>
          </p:nvPr>
        </p:nvCxnSpPr>
        <p:spPr>
          <a:xfrm>
            <a:off x="2556173" y="2950247"/>
            <a:ext cx="8074244" cy="0"/>
          </a:xfrm>
          <a:prstGeom prst="straightConnector1">
            <a:avLst/>
          </a:prstGeom>
          <a:solidFill>
            <a:srgbClr val="C00000"/>
          </a:solidFill>
          <a:ln w="38100">
            <a:solidFill>
              <a:srgbClr val="C0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/>
          <p:cNvSpPr/>
          <p:nvPr>
            <p:custDataLst>
              <p:tags r:id="rId8"/>
            </p:custDataLst>
          </p:nvPr>
        </p:nvSpPr>
        <p:spPr>
          <a:xfrm>
            <a:off x="5299015" y="2835962"/>
            <a:ext cx="228570" cy="22857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21" name="椭圆 20"/>
          <p:cNvSpPr/>
          <p:nvPr>
            <p:custDataLst>
              <p:tags r:id="rId9"/>
            </p:custDataLst>
          </p:nvPr>
        </p:nvSpPr>
        <p:spPr>
          <a:xfrm>
            <a:off x="7699003" y="2835962"/>
            <a:ext cx="228570" cy="22857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22" name="直接箭头连接符 21"/>
          <p:cNvCxnSpPr>
            <a:stCxn id="25" idx="7"/>
            <a:endCxn id="20" idx="3"/>
          </p:cNvCxnSpPr>
          <p:nvPr/>
        </p:nvCxnSpPr>
        <p:spPr>
          <a:xfrm flipV="1">
            <a:off x="4859018" y="3030882"/>
            <a:ext cx="473648" cy="841900"/>
          </a:xfrm>
          <a:prstGeom prst="straightConnector1">
            <a:avLst/>
          </a:prstGeom>
          <a:solidFill>
            <a:srgbClr val="C00000"/>
          </a:solidFill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20" idx="6"/>
            <a:endCxn id="21" idx="2"/>
          </p:cNvCxnSpPr>
          <p:nvPr/>
        </p:nvCxnSpPr>
        <p:spPr>
          <a:xfrm>
            <a:off x="5527586" y="2950247"/>
            <a:ext cx="2171417" cy="0"/>
          </a:xfrm>
          <a:prstGeom prst="straightConnector1">
            <a:avLst/>
          </a:prstGeom>
          <a:solidFill>
            <a:srgbClr val="C00000"/>
          </a:solidFill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21" idx="5"/>
            <a:endCxn id="26" idx="1"/>
          </p:cNvCxnSpPr>
          <p:nvPr/>
        </p:nvCxnSpPr>
        <p:spPr>
          <a:xfrm>
            <a:off x="7893922" y="3030881"/>
            <a:ext cx="511743" cy="816504"/>
          </a:xfrm>
          <a:prstGeom prst="straightConnector1">
            <a:avLst/>
          </a:prstGeom>
          <a:solidFill>
            <a:srgbClr val="C00000"/>
          </a:solidFill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>
            <p:custDataLst>
              <p:tags r:id="rId10"/>
            </p:custDataLst>
          </p:nvPr>
        </p:nvSpPr>
        <p:spPr>
          <a:xfrm>
            <a:off x="4664098" y="3839131"/>
            <a:ext cx="228570" cy="22857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26" name="椭圆 25"/>
          <p:cNvSpPr/>
          <p:nvPr>
            <p:custDataLst>
              <p:tags r:id="rId11"/>
            </p:custDataLst>
          </p:nvPr>
        </p:nvSpPr>
        <p:spPr>
          <a:xfrm>
            <a:off x="8372015" y="3813735"/>
            <a:ext cx="228570" cy="22857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243163" y="3710879"/>
            <a:ext cx="116570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master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1114910" y="4675318"/>
            <a:ext cx="131173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branch2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1114910" y="2725487"/>
            <a:ext cx="131173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branch1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3739024" y="5058173"/>
            <a:ext cx="106221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latin typeface="Times New Roman Regular" panose="02020503050405090304" charset="0"/>
                <a:cs typeface="Times New Roman Regular" panose="02020503050405090304" charset="0"/>
              </a:rPr>
              <a:t>create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5603775" y="5060078"/>
            <a:ext cx="222221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latin typeface="Times New Roman Regular" panose="02020503050405090304" charset="0"/>
                <a:cs typeface="Times New Roman Regular" panose="02020503050405090304" charset="0"/>
              </a:rPr>
              <a:t>merge</a:t>
            </a:r>
          </a:p>
        </p:txBody>
      </p:sp>
      <p:sp>
        <p:nvSpPr>
          <p:cNvPr id="32" name="椭圆 31"/>
          <p:cNvSpPr/>
          <p:nvPr>
            <p:custDataLst>
              <p:tags r:id="rId12"/>
            </p:custDataLst>
          </p:nvPr>
        </p:nvSpPr>
        <p:spPr>
          <a:xfrm>
            <a:off x="6492660" y="2835962"/>
            <a:ext cx="228570" cy="22857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3" name="椭圆 32"/>
          <p:cNvSpPr/>
          <p:nvPr>
            <p:custDataLst>
              <p:tags r:id="rId13"/>
            </p:custDataLst>
          </p:nvPr>
        </p:nvSpPr>
        <p:spPr>
          <a:xfrm>
            <a:off x="5400602" y="4791507"/>
            <a:ext cx="228570" cy="22857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941557" y="5051189"/>
            <a:ext cx="122737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 Regular" panose="02020503050405090304" charset="0"/>
                <a:cs typeface="Times New Roman Regular" panose="02020503050405090304" charset="0"/>
              </a:rPr>
              <a:t>commit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4856478" y="2366124"/>
            <a:ext cx="106221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>
                <a:latin typeface="Times New Roman Regular" panose="02020503050405090304" charset="0"/>
                <a:cs typeface="Times New Roman Regular" panose="02020503050405090304" charset="0"/>
              </a:rPr>
              <a:t>create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6721230" y="2368028"/>
            <a:ext cx="222221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 Regular" panose="02020503050405090304" charset="0"/>
                <a:cs typeface="Times New Roman Regular" panose="02020503050405090304" charset="0"/>
              </a:rPr>
              <a:t>merge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5925775" y="2359139"/>
            <a:ext cx="127989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 Regular" panose="02020503050405090304" charset="0"/>
                <a:cs typeface="Times New Roman Regular" panose="02020503050405090304" charset="0"/>
              </a:rPr>
              <a:t>commit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3895546" y="5622613"/>
            <a:ext cx="3039611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C00000"/>
                </a:solidFill>
                <a:latin typeface="Times New Roman Regular" panose="02020503050405090304" charset="0"/>
                <a:ea typeface="微软雅黑" charset="-122"/>
                <a:sym typeface="+mn-ea"/>
              </a:rPr>
              <a:t>分支本地操作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264916" y="1908462"/>
            <a:ext cx="3039611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C00000"/>
                </a:solidFill>
                <a:latin typeface="Times New Roman Regular" panose="02020503050405090304" charset="0"/>
                <a:ea typeface="微软雅黑" charset="-122"/>
                <a:sym typeface="+mn-ea"/>
              </a:rPr>
              <a:t>分支本地操作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68935" y="671830"/>
            <a:ext cx="11454130" cy="5099685"/>
          </a:xfrm>
        </p:spPr>
        <p:txBody>
          <a:bodyPr>
            <a:normAutofit fontScale="90000"/>
          </a:bodyPr>
          <a:lstStyle/>
          <a:p>
            <a:pPr marL="0" indent="0" algn="l">
              <a:buFont typeface="Wingdings" panose="05000000000000000000" charset="0"/>
            </a:pPr>
            <a:r>
              <a:rPr lang="zh-CN" altLang="en-US" sz="4445" b="1">
                <a:latin typeface="Arial Bold" panose="020B0604020202090204" charset="0"/>
                <a:cs typeface="Arial Bold" panose="020B0604020202090204" charset="0"/>
              </a:rPr>
              <a:t>写技术博客，每周一次</a:t>
            </a:r>
            <a:br>
              <a:rPr lang="zh-CN" altLang="en-US" sz="4445" b="1">
                <a:latin typeface="Arial Bold" panose="020B0604020202090204" charset="0"/>
                <a:cs typeface="Arial Bold" panose="020B0604020202090204" charset="0"/>
              </a:rPr>
            </a:br>
            <a:br>
              <a:rPr lang="zh-CN" altLang="en-US" sz="4445" b="1">
                <a:latin typeface="Arial Bold" panose="020B0604020202090204" charset="0"/>
                <a:cs typeface="Arial Bold" panose="020B0604020202090204" charset="0"/>
              </a:rPr>
            </a:br>
            <a:r>
              <a:rPr lang="zh-CN" altLang="en-US" sz="4445" b="1">
                <a:latin typeface="Arial Bold" panose="020B0604020202090204" charset="0"/>
                <a:cs typeface="Arial Bold" panose="020B0604020202090204" charset="0"/>
              </a:rPr>
              <a:t>软件工程必须为用户或社会解决实际问题</a:t>
            </a:r>
            <a:br>
              <a:rPr lang="zh-CN" altLang="en-US" sz="4445" b="1">
                <a:latin typeface="Arial Bold" panose="020B0604020202090204" charset="0"/>
                <a:cs typeface="Arial Bold" panose="020B0604020202090204" charset="0"/>
              </a:rPr>
            </a:br>
            <a:br>
              <a:rPr lang="zh-CN" altLang="en-US" sz="4445" b="1">
                <a:latin typeface="Arial Bold" panose="020B0604020202090204" charset="0"/>
                <a:cs typeface="Arial Bold" panose="020B0604020202090204" charset="0"/>
              </a:rPr>
            </a:br>
            <a:r>
              <a:rPr lang="zh-CN" altLang="en-US" sz="4445" b="1">
                <a:latin typeface="Arial Bold" panose="020B0604020202090204" charset="0"/>
                <a:cs typeface="Arial Bold" panose="020B0604020202090204" charset="0"/>
              </a:rPr>
              <a:t>课程教学不必太细</a:t>
            </a:r>
            <a:r>
              <a:rPr lang="en-US" altLang="zh-CN" sz="4445" b="1">
                <a:latin typeface="Arial Bold" panose="020B0604020202090204" charset="0"/>
                <a:cs typeface="Arial Bold" panose="020B0604020202090204" charset="0"/>
              </a:rPr>
              <a:t>，</a:t>
            </a:r>
            <a:r>
              <a:rPr lang="zh-CN" altLang="en-US" sz="4445" b="1">
                <a:latin typeface="Arial Bold" panose="020B0604020202090204" charset="0"/>
                <a:cs typeface="Arial Bold" panose="020B0604020202090204" charset="0"/>
              </a:rPr>
              <a:t>让学生首先分析开源代码</a:t>
            </a:r>
            <a:r>
              <a:rPr lang="en-US" altLang="zh-CN" sz="4445" b="1">
                <a:latin typeface="Arial Bold" panose="020B0604020202090204" charset="0"/>
                <a:cs typeface="Arial Bold" panose="020B0604020202090204" charset="0"/>
              </a:rPr>
              <a:t>（</a:t>
            </a:r>
            <a:r>
              <a:rPr lang="zh-CN" altLang="en-US" sz="4445" b="1">
                <a:latin typeface="Arial Bold" panose="020B0604020202090204" charset="0"/>
                <a:cs typeface="Arial Bold" panose="020B0604020202090204" charset="0"/>
              </a:rPr>
              <a:t>学习对象</a:t>
            </a:r>
            <a:r>
              <a:rPr lang="en-US" altLang="zh-CN" sz="4445" b="1">
                <a:latin typeface="Arial Bold" panose="020B0604020202090204" charset="0"/>
                <a:cs typeface="Arial Bold" panose="020B0604020202090204" charset="0"/>
              </a:rPr>
              <a:t>），</a:t>
            </a:r>
            <a:r>
              <a:rPr lang="zh-CN" altLang="en-US" sz="4445" b="1">
                <a:solidFill>
                  <a:srgbClr val="FF0000"/>
                </a:solidFill>
                <a:latin typeface="Arial Bold" panose="020B0604020202090204" charset="0"/>
                <a:cs typeface="Arial Bold" panose="020B0604020202090204" charset="0"/>
              </a:rPr>
              <a:t>开发有创意的软件</a:t>
            </a:r>
            <a:r>
              <a:rPr lang="en-US" altLang="zh-CN" sz="4445" b="1">
                <a:solidFill>
                  <a:srgbClr val="FF0000"/>
                </a:solidFill>
                <a:latin typeface="Arial Bold" panose="020B0604020202090204" charset="0"/>
                <a:cs typeface="Arial Bold" panose="020B0604020202090204" charset="0"/>
              </a:rPr>
              <a:t>，</a:t>
            </a:r>
            <a:r>
              <a:rPr lang="zh-CN" altLang="en-US" sz="4445" b="1">
                <a:solidFill>
                  <a:srgbClr val="FF0000"/>
                </a:solidFill>
                <a:latin typeface="Arial Bold" panose="020B0604020202090204" charset="0"/>
                <a:cs typeface="Arial Bold" panose="020B0604020202090204" charset="0"/>
              </a:rPr>
              <a:t>不断迭代</a:t>
            </a:r>
            <a:r>
              <a:rPr lang="en-US" altLang="zh-CN" sz="4445" b="1">
                <a:solidFill>
                  <a:srgbClr val="FF0000"/>
                </a:solidFill>
                <a:latin typeface="Arial Bold" panose="020B0604020202090204" charset="0"/>
                <a:cs typeface="Arial Bold" panose="020B0604020202090204" charset="0"/>
              </a:rPr>
              <a:t>，</a:t>
            </a:r>
            <a:r>
              <a:rPr lang="zh-CN" altLang="en-US" sz="4445" b="1">
                <a:solidFill>
                  <a:srgbClr val="FF0000"/>
                </a:solidFill>
                <a:latin typeface="Arial Bold" panose="020B0604020202090204" charset="0"/>
                <a:cs typeface="Arial Bold" panose="020B0604020202090204" charset="0"/>
              </a:rPr>
              <a:t>提升实践经验</a:t>
            </a:r>
            <a:br>
              <a:rPr lang="en-US" altLang="zh-CN" sz="4445" b="1">
                <a:solidFill>
                  <a:srgbClr val="FF0000"/>
                </a:solidFill>
                <a:latin typeface="Arial Bold" panose="020B0604020202090204" charset="0"/>
                <a:cs typeface="Arial Bold" panose="020B0604020202090204" charset="0"/>
              </a:rPr>
            </a:br>
            <a:br>
              <a:rPr lang="en-US" altLang="zh-CN" sz="4445" b="1">
                <a:solidFill>
                  <a:srgbClr val="FF0000"/>
                </a:solidFill>
                <a:latin typeface="Arial Bold" panose="020B0604020202090204" charset="0"/>
                <a:cs typeface="Arial Bold" panose="020B0604020202090204" charset="0"/>
              </a:rPr>
            </a:br>
            <a:r>
              <a:rPr lang="zh-CN" altLang="en-US" sz="4445" b="1">
                <a:solidFill>
                  <a:schemeClr val="tx1"/>
                </a:solidFill>
                <a:latin typeface="Arial Bold" panose="020B0604020202090204" charset="0"/>
                <a:cs typeface="Arial Bold" panose="020B0604020202090204" charset="0"/>
              </a:rPr>
              <a:t>用代码作为载体</a:t>
            </a:r>
            <a:r>
              <a:rPr lang="en-US" altLang="zh-CN" sz="4445" b="1">
                <a:solidFill>
                  <a:schemeClr val="tx1"/>
                </a:solidFill>
                <a:latin typeface="Arial Bold" panose="020B0604020202090204" charset="0"/>
                <a:cs typeface="Arial Bold" panose="020B0604020202090204" charset="0"/>
              </a:rPr>
              <a:t>，</a:t>
            </a:r>
            <a:r>
              <a:rPr lang="zh-CN" altLang="en-US" sz="4445" b="1">
                <a:latin typeface="Arial Bold" panose="020B0604020202090204" charset="0"/>
                <a:cs typeface="Arial Bold" panose="020B0604020202090204" charset="0"/>
                <a:sym typeface="+mn-ea"/>
              </a:rPr>
              <a:t>开源带动生态</a:t>
            </a:r>
            <a:endParaRPr lang="en-US" altLang="zh-CN" sz="4445" b="1">
              <a:solidFill>
                <a:schemeClr val="tx1"/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85750" y="326390"/>
            <a:ext cx="11454130" cy="2853690"/>
          </a:xfrm>
        </p:spPr>
        <p:txBody>
          <a:bodyPr>
            <a:normAutofit/>
          </a:bodyPr>
          <a:lstStyle/>
          <a:p>
            <a:pPr marL="0" indent="0" algn="l">
              <a:buFont typeface="+mj-ea"/>
            </a:pPr>
            <a:r>
              <a:rPr lang="zh-CN" altLang="en-US" sz="4445" b="1">
                <a:solidFill>
                  <a:schemeClr val="tx1"/>
                </a:solidFill>
              </a:rPr>
              <a:t>大模型赋能软件工程</a:t>
            </a:r>
            <a:br>
              <a:rPr lang="zh-CN" altLang="en-US" sz="4445" b="1">
                <a:solidFill>
                  <a:schemeClr val="tx1"/>
                </a:solidFill>
              </a:rPr>
            </a:br>
            <a:r>
              <a:rPr lang="zh-CN" altLang="en-US" sz="4445" b="1">
                <a:solidFill>
                  <a:schemeClr val="tx1"/>
                </a:solidFill>
              </a:rPr>
              <a:t> </a:t>
            </a:r>
            <a:r>
              <a:rPr lang="en-US" altLang="zh-CN" sz="4445" b="1">
                <a:solidFill>
                  <a:schemeClr val="tx1"/>
                </a:solidFill>
              </a:rPr>
              <a:t>   </a:t>
            </a:r>
            <a:r>
              <a:rPr lang="en-US" altLang="zh-CN" sz="4445" b="1">
                <a:solidFill>
                  <a:srgbClr val="FF0000"/>
                </a:solidFill>
              </a:rPr>
              <a:t>GPT KIMI </a:t>
            </a:r>
            <a:r>
              <a:rPr lang="zh-CN" altLang="en-US" sz="4445" b="1">
                <a:solidFill>
                  <a:srgbClr val="FF0000"/>
                </a:solidFill>
              </a:rPr>
              <a:t>豆包等</a:t>
            </a:r>
            <a:br>
              <a:rPr lang="zh-CN" altLang="en-US" sz="4445" b="1">
                <a:solidFill>
                  <a:srgbClr val="FF0000"/>
                </a:solidFill>
              </a:rPr>
            </a:br>
            <a:r>
              <a:rPr lang="zh-CN" altLang="en-US" sz="4445" b="1">
                <a:solidFill>
                  <a:schemeClr val="tx1"/>
                </a:solidFill>
              </a:rPr>
              <a:t>一定要学会使用</a:t>
            </a:r>
            <a:r>
              <a:rPr lang="en-US" altLang="zh-CN" sz="4445" b="1">
                <a:solidFill>
                  <a:schemeClr val="tx1"/>
                </a:solidFill>
              </a:rPr>
              <a:t>，</a:t>
            </a:r>
            <a:r>
              <a:rPr lang="zh-CN" altLang="en-US" sz="4445" b="1">
                <a:solidFill>
                  <a:schemeClr val="tx1"/>
                </a:solidFill>
              </a:rPr>
              <a:t>提升开发效率</a:t>
            </a:r>
            <a:br>
              <a:rPr lang="zh-CN" altLang="en-US" sz="4445" b="1">
                <a:solidFill>
                  <a:schemeClr val="tx1"/>
                </a:solidFill>
              </a:rPr>
            </a:br>
            <a:endParaRPr lang="zh-CN" altLang="en-US" sz="4445" b="1">
              <a:solidFill>
                <a:schemeClr val="tx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8135" y="2874645"/>
            <a:ext cx="4515485" cy="263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85750" y="875030"/>
            <a:ext cx="11454130" cy="2305050"/>
          </a:xfrm>
        </p:spPr>
        <p:txBody>
          <a:bodyPr>
            <a:normAutofit fontScale="90000"/>
          </a:bodyPr>
          <a:lstStyle/>
          <a:p>
            <a:pPr marL="0" indent="0" algn="l">
              <a:buFont typeface="+mj-ea"/>
            </a:pPr>
            <a:r>
              <a:rPr lang="zh-CN" altLang="en-US" sz="4445" b="1">
                <a:solidFill>
                  <a:schemeClr val="tx1"/>
                </a:solidFill>
              </a:rPr>
              <a:t>如何避免作业抄袭</a:t>
            </a:r>
            <a:r>
              <a:rPr lang="en-US" altLang="zh-CN" sz="4445" b="1">
                <a:solidFill>
                  <a:schemeClr val="tx1"/>
                </a:solidFill>
              </a:rPr>
              <a:t>：</a:t>
            </a:r>
            <a:r>
              <a:rPr lang="zh-CN" altLang="en-US" sz="4445" b="1">
                <a:solidFill>
                  <a:srgbClr val="FF0000"/>
                </a:solidFill>
              </a:rPr>
              <a:t>自评表</a:t>
            </a:r>
            <a:r>
              <a:rPr lang="en-US" altLang="zh-CN" sz="4445" b="1">
                <a:solidFill>
                  <a:srgbClr val="FF0000"/>
                </a:solidFill>
              </a:rPr>
              <a:t>，</a:t>
            </a:r>
            <a:r>
              <a:rPr lang="zh-CN" altLang="en-US" sz="4445" b="1">
                <a:solidFill>
                  <a:srgbClr val="FF0000"/>
                </a:solidFill>
              </a:rPr>
              <a:t>面对面考核</a:t>
            </a:r>
            <a:br>
              <a:rPr lang="zh-CN" altLang="en-US" sz="4445" b="1">
                <a:solidFill>
                  <a:schemeClr val="tx1"/>
                </a:solidFill>
              </a:rPr>
            </a:br>
            <a:br>
              <a:rPr lang="zh-CN" altLang="en-US" sz="4445" b="1">
                <a:solidFill>
                  <a:schemeClr val="tx1"/>
                </a:solidFill>
              </a:rPr>
            </a:br>
            <a:r>
              <a:rPr lang="zh-CN" altLang="en-US" sz="4445" b="1">
                <a:solidFill>
                  <a:schemeClr val="tx1"/>
                </a:solidFill>
              </a:rPr>
              <a:t>如何进行评价</a:t>
            </a:r>
            <a:r>
              <a:rPr lang="en-US" altLang="zh-CN" sz="4445" b="1">
                <a:solidFill>
                  <a:schemeClr val="tx1"/>
                </a:solidFill>
              </a:rPr>
              <a:t>：</a:t>
            </a:r>
            <a:r>
              <a:rPr lang="zh-CN" altLang="en-US" sz="4445" b="1">
                <a:solidFill>
                  <a:srgbClr val="FF0000"/>
                </a:solidFill>
              </a:rPr>
              <a:t>多次考评</a:t>
            </a:r>
            <a:r>
              <a:rPr lang="en-US" altLang="zh-CN" sz="4445" b="1">
                <a:solidFill>
                  <a:srgbClr val="FF0000"/>
                </a:solidFill>
              </a:rPr>
              <a:t>，</a:t>
            </a:r>
            <a:r>
              <a:rPr lang="zh-CN" altLang="en-US" sz="4445" b="1">
                <a:solidFill>
                  <a:srgbClr val="FF0000"/>
                </a:solidFill>
              </a:rPr>
              <a:t>考评后讲解</a:t>
            </a:r>
            <a:r>
              <a:rPr lang="en-US" altLang="zh-CN" sz="4445" b="1">
                <a:solidFill>
                  <a:srgbClr val="FF0000"/>
                </a:solidFill>
              </a:rPr>
              <a:t>，</a:t>
            </a:r>
            <a:r>
              <a:rPr lang="zh-CN" altLang="en-US" sz="4445" b="1">
                <a:solidFill>
                  <a:srgbClr val="FF0000"/>
                </a:solidFill>
              </a:rPr>
              <a:t>螺旋提升能力；通过实践数据（表格数据）支持考评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03200" y="937895"/>
            <a:ext cx="11454130" cy="5555615"/>
          </a:xfrm>
        </p:spPr>
        <p:txBody>
          <a:bodyPr>
            <a:normAutofit fontScale="90000"/>
          </a:bodyPr>
          <a:lstStyle/>
          <a:p>
            <a:pPr marL="0" indent="0" algn="l">
              <a:buFont typeface="+mj-ea"/>
            </a:pPr>
            <a:r>
              <a:rPr lang="zh-CN" altLang="en-US" sz="4445" b="1">
                <a:solidFill>
                  <a:schemeClr val="tx1"/>
                </a:solidFill>
              </a:rPr>
              <a:t>达成目标</a:t>
            </a:r>
            <a:r>
              <a:rPr lang="en-US" altLang="zh-CN" sz="4445" b="1">
                <a:solidFill>
                  <a:schemeClr val="tx1"/>
                </a:solidFill>
              </a:rPr>
              <a:t>：</a:t>
            </a:r>
            <a:r>
              <a:rPr lang="zh-CN" altLang="en-US" sz="4445" b="1">
                <a:solidFill>
                  <a:schemeClr val="tx1"/>
                </a:solidFill>
              </a:rPr>
              <a:t>抽象和建模能力</a:t>
            </a:r>
            <a:r>
              <a:rPr lang="en-US" altLang="zh-CN" sz="4445" b="1">
                <a:solidFill>
                  <a:schemeClr val="tx1"/>
                </a:solidFill>
              </a:rPr>
              <a:t>，</a:t>
            </a:r>
            <a:r>
              <a:rPr lang="zh-CN" altLang="en-US" sz="4445" b="1">
                <a:solidFill>
                  <a:schemeClr val="tx1"/>
                </a:solidFill>
              </a:rPr>
              <a:t>书面和口头表达能力</a:t>
            </a:r>
            <a:r>
              <a:rPr lang="en-US" altLang="zh-CN" sz="4445" b="1">
                <a:solidFill>
                  <a:schemeClr val="tx1"/>
                </a:solidFill>
              </a:rPr>
              <a:t>，</a:t>
            </a:r>
            <a:r>
              <a:rPr lang="zh-CN" altLang="en-US" sz="4445" b="1">
                <a:solidFill>
                  <a:schemeClr val="tx1"/>
                </a:solidFill>
              </a:rPr>
              <a:t>撰写和规范化能力</a:t>
            </a:r>
            <a:r>
              <a:rPr lang="en-US" altLang="zh-CN" sz="4445" b="1">
                <a:solidFill>
                  <a:schemeClr val="tx1"/>
                </a:solidFill>
              </a:rPr>
              <a:t>，</a:t>
            </a:r>
            <a:r>
              <a:rPr lang="zh-CN" altLang="en-US" sz="4445" b="1">
                <a:solidFill>
                  <a:schemeClr val="tx1"/>
                </a:solidFill>
              </a:rPr>
              <a:t>运用工具和自主学习；</a:t>
            </a:r>
            <a:br>
              <a:rPr lang="zh-CN" altLang="en-US" sz="4445" b="1">
                <a:solidFill>
                  <a:schemeClr val="tx1"/>
                </a:solidFill>
              </a:rPr>
            </a:br>
            <a:br>
              <a:rPr lang="zh-CN" altLang="en-US" sz="4445" b="1">
                <a:solidFill>
                  <a:schemeClr val="tx1"/>
                </a:solidFill>
              </a:rPr>
            </a:br>
            <a:r>
              <a:rPr lang="zh-CN" altLang="en-US" sz="4445" b="1">
                <a:solidFill>
                  <a:srgbClr val="FF0000"/>
                </a:solidFill>
              </a:rPr>
              <a:t>需求分析很重要</a:t>
            </a:r>
            <a:r>
              <a:rPr lang="en-US" altLang="zh-CN" sz="4445" b="1">
                <a:solidFill>
                  <a:srgbClr val="FF0000"/>
                </a:solidFill>
              </a:rPr>
              <a:t>，</a:t>
            </a:r>
            <a:r>
              <a:rPr lang="zh-CN" altLang="en-US" sz="4445" b="1">
                <a:solidFill>
                  <a:srgbClr val="FF0000"/>
                </a:solidFill>
              </a:rPr>
              <a:t>搞清楚要解决什么问题</a:t>
            </a:r>
            <a:r>
              <a:rPr lang="en-US" altLang="zh-CN" sz="4445" b="1">
                <a:solidFill>
                  <a:schemeClr val="tx1"/>
                </a:solidFill>
              </a:rPr>
              <a:t>，</a:t>
            </a:r>
            <a:r>
              <a:rPr lang="zh-CN" altLang="en-US" sz="4445" b="1">
                <a:solidFill>
                  <a:schemeClr val="tx1"/>
                </a:solidFill>
              </a:rPr>
              <a:t>对行业应用场景不了解</a:t>
            </a:r>
            <a:r>
              <a:rPr lang="en-US" altLang="zh-CN" sz="4445" b="1">
                <a:solidFill>
                  <a:schemeClr val="tx1"/>
                </a:solidFill>
              </a:rPr>
              <a:t>；</a:t>
            </a:r>
            <a:br>
              <a:rPr lang="en-US" altLang="zh-CN" sz="4445" b="1">
                <a:solidFill>
                  <a:schemeClr val="tx1"/>
                </a:solidFill>
              </a:rPr>
            </a:br>
            <a:br>
              <a:rPr lang="en-US" altLang="zh-CN" sz="4445" b="1">
                <a:solidFill>
                  <a:schemeClr val="tx1"/>
                </a:solidFill>
              </a:rPr>
            </a:br>
            <a:r>
              <a:rPr lang="zh-CN" altLang="en-US" sz="4445" b="1">
                <a:solidFill>
                  <a:schemeClr val="tx1"/>
                </a:solidFill>
              </a:rPr>
              <a:t>核心功能是创新的重要部分</a:t>
            </a:r>
            <a:r>
              <a:rPr lang="en-US" altLang="zh-CN" sz="4445" b="1">
                <a:solidFill>
                  <a:schemeClr val="tx1"/>
                </a:solidFill>
              </a:rPr>
              <a:t>，</a:t>
            </a:r>
            <a:r>
              <a:rPr lang="zh-CN" altLang="en-US" sz="4445" b="1">
                <a:solidFill>
                  <a:schemeClr val="tx1"/>
                </a:solidFill>
              </a:rPr>
              <a:t>能够体现创意</a:t>
            </a:r>
            <a:r>
              <a:rPr lang="en-US" altLang="zh-CN" sz="4445" b="1">
                <a:solidFill>
                  <a:schemeClr val="tx1"/>
                </a:solidFill>
              </a:rPr>
              <a:t>。</a:t>
            </a:r>
            <a:br>
              <a:rPr lang="zh-CN" altLang="en-US" sz="4445" b="1">
                <a:solidFill>
                  <a:schemeClr val="tx1"/>
                </a:solidFill>
              </a:rPr>
            </a:br>
            <a:br>
              <a:rPr lang="zh-CN" altLang="en-US" sz="4445" b="1">
                <a:solidFill>
                  <a:schemeClr val="tx1"/>
                </a:solidFill>
              </a:rPr>
            </a:br>
            <a:endParaRPr lang="zh-CN" altLang="en-US" sz="4445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917,&quot;width&quot;:1351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8644</TotalTime>
  <Words>383</Words>
  <Application>Microsoft Office PowerPoint</Application>
  <PresentationFormat>宽屏</PresentationFormat>
  <Paragraphs>22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Hiragino Sans GB W3</vt:lpstr>
      <vt:lpstr>Times New Roman Regular</vt:lpstr>
      <vt:lpstr>等线</vt:lpstr>
      <vt:lpstr>等线 Light</vt:lpstr>
      <vt:lpstr>Arial</vt:lpstr>
      <vt:lpstr>Arial Bold</vt:lpstr>
      <vt:lpstr>Wingdings</vt:lpstr>
      <vt:lpstr>Office 主题​​</vt:lpstr>
      <vt:lpstr>代码托管平台 github gitee 头歌  版本控制系统 git （可视化工具） </vt:lpstr>
      <vt:lpstr> </vt:lpstr>
      <vt:lpstr>群体智能教学模式 使用知识社区 LearnerHub 软件工程学习空间 www.learnerhub.net </vt:lpstr>
      <vt:lpstr>PowerPoint 演示文稿</vt:lpstr>
      <vt:lpstr>开源代码 https://pan.baidu.com/s/1-ONWS_m49yPljk6P9gRWiA  提取码:1448  学习视频https://www.bilibili.com/video/BV12H4y1p73P/?spm_id_from=333.337.search-card.all.click： 基于Flask+vue+sql的大屏可视化web系统</vt:lpstr>
      <vt:lpstr>Git init 初始化本地仓库 命令行/小乌龟/vscode 三种方式 参考：https://www.runoob.com/git/git-basic-operations.html</vt:lpstr>
      <vt:lpstr>工作区转换到暂存区 add 缓存区到本地仓库 commit 本地库推送到远程仓库 push 远程回到本地 fetch/clone 远程拉到工作区 pull</vt:lpstr>
      <vt:lpstr>PowerPoint 演示文稿</vt:lpstr>
      <vt:lpstr>写技术博客，每周一次  软件工程必须为用户或社会解决实际问题  课程教学不必太细，让学生首先分析开源代码（学习对象），开发有创意的软件，不断迭代，提升实践经验  用代码作为载体，开源带动生态</vt:lpstr>
      <vt:lpstr>大模型赋能软件工程     GPT KIMI 豆包等 一定要学会使用，提升开发效率 </vt:lpstr>
      <vt:lpstr>如何避免作业抄袭：自评表，面对面考核  如何进行评价：多次考评，考评后讲解，螺旋提升能力；通过实践数据（表格数据）支持考评</vt:lpstr>
      <vt:lpstr>达成目标：抽象和建模能力，书面和口头表达能力，撰写和规范化能力，运用工具和自主学习；  需求分析很重要，搞清楚要解决什么问题，对行业应用场景不了解；  核心功能是创新的重要部分，能够体现创意。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代码托管平台 github gitee 头歌  版本控制系统 git （可视化工具） </dc:title>
  <dc:creator>Microsoft Office User</dc:creator>
  <cp:lastModifiedBy>杰 王</cp:lastModifiedBy>
  <cp:revision>16</cp:revision>
  <dcterms:created xsi:type="dcterms:W3CDTF">2025-08-14T01:11:10Z</dcterms:created>
  <dcterms:modified xsi:type="dcterms:W3CDTF">2025-09-25T12:32:11Z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E1A03788504025D0EEB1996837DB6129_42</vt:lpwstr>
  </property>
  <property fmtid="{D5CDD505-2E9C-101B-9397-08002B2CF9AE}" pid="3" name="KSOProductBuildVer">
    <vt:lpwstr>2052-7.3.1.8967</vt:lpwstr>
  </property>
</Properties>
</file>