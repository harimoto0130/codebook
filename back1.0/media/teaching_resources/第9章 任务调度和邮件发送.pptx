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73"/>
  </p:handoutMasterIdLst>
  <p:sldIdLst>
    <p:sldId id="583" r:id="rId4"/>
    <p:sldId id="584" r:id="rId6"/>
    <p:sldId id="1201" r:id="rId7"/>
    <p:sldId id="586" r:id="rId8"/>
    <p:sldId id="587" r:id="rId9"/>
    <p:sldId id="309" r:id="rId10"/>
    <p:sldId id="1239" r:id="rId11"/>
    <p:sldId id="1246" r:id="rId12"/>
    <p:sldId id="1792" r:id="rId13"/>
    <p:sldId id="1794" r:id="rId14"/>
    <p:sldId id="1795" r:id="rId15"/>
    <p:sldId id="1796" r:id="rId16"/>
    <p:sldId id="1797" r:id="rId17"/>
    <p:sldId id="1798" r:id="rId18"/>
    <p:sldId id="1799" r:id="rId19"/>
    <p:sldId id="1800" r:id="rId20"/>
    <p:sldId id="1801" r:id="rId21"/>
    <p:sldId id="1802" r:id="rId22"/>
    <p:sldId id="1803" r:id="rId23"/>
    <p:sldId id="1804" r:id="rId24"/>
    <p:sldId id="1605" r:id="rId25"/>
    <p:sldId id="1805" r:id="rId26"/>
    <p:sldId id="1806" r:id="rId27"/>
    <p:sldId id="1807" r:id="rId28"/>
    <p:sldId id="1808" r:id="rId29"/>
    <p:sldId id="1809" r:id="rId30"/>
    <p:sldId id="1810" r:id="rId31"/>
    <p:sldId id="1811" r:id="rId32"/>
    <p:sldId id="1812" r:id="rId33"/>
    <p:sldId id="1815" r:id="rId34"/>
    <p:sldId id="1813" r:id="rId35"/>
    <p:sldId id="1814" r:id="rId36"/>
    <p:sldId id="1816" r:id="rId37"/>
    <p:sldId id="1818" r:id="rId38"/>
    <p:sldId id="1819" r:id="rId39"/>
    <p:sldId id="1820" r:id="rId40"/>
    <p:sldId id="1821" r:id="rId41"/>
    <p:sldId id="1822" r:id="rId42"/>
    <p:sldId id="1906" r:id="rId43"/>
    <p:sldId id="1907" r:id="rId44"/>
    <p:sldId id="1908" r:id="rId45"/>
    <p:sldId id="1909" r:id="rId46"/>
    <p:sldId id="1910" r:id="rId47"/>
    <p:sldId id="1911" r:id="rId48"/>
    <p:sldId id="1912" r:id="rId49"/>
    <p:sldId id="1913" r:id="rId50"/>
    <p:sldId id="1914" r:id="rId51"/>
    <p:sldId id="1915" r:id="rId52"/>
    <p:sldId id="1916" r:id="rId53"/>
    <p:sldId id="1917" r:id="rId54"/>
    <p:sldId id="1918" r:id="rId55"/>
    <p:sldId id="1919" r:id="rId56"/>
    <p:sldId id="1920" r:id="rId57"/>
    <p:sldId id="1921" r:id="rId58"/>
    <p:sldId id="1922" r:id="rId59"/>
    <p:sldId id="1923" r:id="rId60"/>
    <p:sldId id="1924" r:id="rId61"/>
    <p:sldId id="1925" r:id="rId62"/>
    <p:sldId id="1926" r:id="rId63"/>
    <p:sldId id="1927" r:id="rId64"/>
    <p:sldId id="1928" r:id="rId65"/>
    <p:sldId id="1929" r:id="rId66"/>
    <p:sldId id="1930" r:id="rId67"/>
    <p:sldId id="1931" r:id="rId68"/>
    <p:sldId id="1932" r:id="rId69"/>
    <p:sldId id="1933" r:id="rId70"/>
    <p:sldId id="889" r:id="rId71"/>
    <p:sldId id="617" r:id="rId72"/>
  </p:sldIdLst>
  <p:sldSz cx="12190095" cy="6859270"/>
  <p:notesSz cx="6858000" cy="9144000"/>
  <p:custDataLst>
    <p:tags r:id="rId78"/>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2" pos="606" userDrawn="1">
          <p15:clr>
            <a:srgbClr val="A4A3A4"/>
          </p15:clr>
        </p15:guide>
        <p15:guide id="4" pos="71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2" autoAdjust="0"/>
    <p:restoredTop sz="94660" autoAdjust="0"/>
  </p:normalViewPr>
  <p:slideViewPr>
    <p:cSldViewPr showGuides="1">
      <p:cViewPr varScale="1">
        <p:scale>
          <a:sx n="87" d="100"/>
          <a:sy n="87" d="100"/>
        </p:scale>
        <p:origin x="768" y="82"/>
      </p:cViewPr>
      <p:guideLst>
        <p:guide pos="606"/>
        <p:guide pos="710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031"/>
        <p:guide pos="2061"/>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8" Type="http://schemas.openxmlformats.org/officeDocument/2006/relationships/tags" Target="tags/tag330.xml"/><Relationship Id="rId77" Type="http://schemas.openxmlformats.org/officeDocument/2006/relationships/commentAuthors" Target="commentAuthors.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handoutMaster" Target="handoutMasters/handoutMaster1.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9.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9.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0" Type="http://schemas.openxmlformats.org/officeDocument/2006/relationships/notesSlide" Target="../notesSlides/notesSlide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image" Target="../media/image2.png"/><Relationship Id="rId1" Type="http://schemas.openxmlformats.org/officeDocument/2006/relationships/tags" Target="../tags/tag1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0.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11.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hyperlink" Target="http://stu.ityxb.com/ebookview/71f722d6f95795bfc5dadc1e240a0db5" TargetMode="External"/><Relationship Id="rId6" Type="http://schemas.openxmlformats.org/officeDocument/2006/relationships/tags" Target="../tags/tag28.xml"/><Relationship Id="rId5" Type="http://schemas.openxmlformats.org/officeDocument/2006/relationships/image" Target="../media/image3.png"/><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4" Type="http://schemas.openxmlformats.org/officeDocument/2006/relationships/notesSlide" Target="../notesSlides/notesSlide11.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1.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hyperlink" Target="http://stu.ityxb.com/ebookview/899088a0af8bac2b23de4ca505ac0481" TargetMode="External"/><Relationship Id="rId6" Type="http://schemas.openxmlformats.org/officeDocument/2006/relationships/tags" Target="../tags/tag36.xml"/><Relationship Id="rId5" Type="http://schemas.openxmlformats.org/officeDocument/2006/relationships/image" Target="../media/image3.png"/><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4" Type="http://schemas.openxmlformats.org/officeDocument/2006/relationships/notesSlide" Target="../notesSlides/notesSlide12.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9.xml"/><Relationship Id="rId1" Type="http://schemas.openxmlformats.org/officeDocument/2006/relationships/tags" Target="../tags/tag32.xml"/></Relationships>
</file>

<file path=ppt/slides/_rels/slide13.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hyperlink" Target="http://stu.ityxb.com/ebookview/0e0e4917b06d740abd26f2e8ded49a4e" TargetMode="External"/><Relationship Id="rId6" Type="http://schemas.openxmlformats.org/officeDocument/2006/relationships/tags" Target="../tags/tag44.xml"/><Relationship Id="rId5" Type="http://schemas.openxmlformats.org/officeDocument/2006/relationships/image" Target="../media/image3.png"/><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4" Type="http://schemas.openxmlformats.org/officeDocument/2006/relationships/notesSlide" Target="../notesSlides/notesSlide13.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47.xml"/><Relationship Id="rId1" Type="http://schemas.openxmlformats.org/officeDocument/2006/relationships/tags" Target="../tags/tag40.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0.xml"/><Relationship Id="rId5" Type="http://schemas.openxmlformats.org/officeDocument/2006/relationships/image" Target="../media/image6.png"/><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s>
</file>

<file path=ppt/slides/_rels/slide16.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hyperlink" Target="http://stu.ityxb.com/ebookview/ef2ff2bfe2335d48f66d9584558d0427" TargetMode="External"/><Relationship Id="rId6" Type="http://schemas.openxmlformats.org/officeDocument/2006/relationships/tags" Target="../tags/tag60.xml"/><Relationship Id="rId5" Type="http://schemas.openxmlformats.org/officeDocument/2006/relationships/image" Target="../media/image3.png"/><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4" Type="http://schemas.openxmlformats.org/officeDocument/2006/relationships/notesSlide" Target="../notesSlides/notesSlide16.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63.xml"/><Relationship Id="rId1" Type="http://schemas.openxmlformats.org/officeDocument/2006/relationships/tags" Target="../tags/tag56.xml"/></Relationships>
</file>

<file path=ppt/slides/_rels/slide17.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hyperlink" Target="http://stu.ityxb.com/ebookview/20348eaaad4671befac9c221cbecfb6e" TargetMode="External"/><Relationship Id="rId6" Type="http://schemas.openxmlformats.org/officeDocument/2006/relationships/tags" Target="../tags/tag68.xml"/><Relationship Id="rId5" Type="http://schemas.openxmlformats.org/officeDocument/2006/relationships/image" Target="../media/image3.png"/><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4" Type="http://schemas.openxmlformats.org/officeDocument/2006/relationships/notesSlide" Target="../notesSlides/notesSlide17.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71.xml"/><Relationship Id="rId1" Type="http://schemas.openxmlformats.org/officeDocument/2006/relationships/tags" Target="../tags/tag64.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10.xml"/><Relationship Id="rId5" Type="http://schemas.openxmlformats.org/officeDocument/2006/relationships/image" Target="../media/image8.png"/><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0.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image" Target="../media/image2.png"/><Relationship Id="rId1" Type="http://schemas.openxmlformats.org/officeDocument/2006/relationships/tags" Target="../tags/tag8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0.xml"/><Relationship Id="rId1" Type="http://schemas.openxmlformats.org/officeDocument/2006/relationships/tags" Target="../tags/tag85.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0.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0.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0.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10.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0.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slideLayout" Target="../slideLayouts/slideLayout10.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0.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0.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slideLayout" Target="../slideLayouts/slideLayout10.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0" Type="http://schemas.openxmlformats.org/officeDocument/2006/relationships/notesSlide" Target="../notesSlides/notesSlide31.xml"/><Relationship Id="rId1" Type="http://schemas.openxmlformats.org/officeDocument/2006/relationships/tags" Target="../tags/tag126.xml"/></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0" Type="http://schemas.openxmlformats.org/officeDocument/2006/relationships/notesSlide" Target="../notesSlides/notesSlide33.xml"/><Relationship Id="rId1" Type="http://schemas.openxmlformats.org/officeDocument/2006/relationships/tags" Target="../tags/tag138.xml"/></Relationships>
</file>

<file path=ppt/slides/_rels/slide34.xml.rels><?xml version="1.0" encoding="UTF-8" standalone="yes"?>
<Relationships xmlns="http://schemas.openxmlformats.org/package/2006/relationships"><Relationship Id="rId9" Type="http://schemas.openxmlformats.org/officeDocument/2006/relationships/tags" Target="../tags/tag152.xml"/><Relationship Id="rId8" Type="http://schemas.openxmlformats.org/officeDocument/2006/relationships/tags" Target="../tags/tag151.xml"/><Relationship Id="rId7" Type="http://schemas.openxmlformats.org/officeDocument/2006/relationships/hyperlink" Target="http://stu.ityxb.com/ebookview/7501e9334068ba9b3d05d14d64fdf0ea" TargetMode="External"/><Relationship Id="rId6" Type="http://schemas.openxmlformats.org/officeDocument/2006/relationships/tags" Target="../tags/tag150.xml"/><Relationship Id="rId5" Type="http://schemas.openxmlformats.org/officeDocument/2006/relationships/image" Target="../media/image3.png"/><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4" Type="http://schemas.openxmlformats.org/officeDocument/2006/relationships/notesSlide" Target="../notesSlides/notesSlide34.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153.xml"/><Relationship Id="rId1" Type="http://schemas.openxmlformats.org/officeDocument/2006/relationships/tags" Target="../tags/tag146.xml"/></Relationships>
</file>

<file path=ppt/slides/_rels/slide35.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hyperlink" Target="http://stu.ityxb.com/ebookview/840416b652a4249c767ac2a8dc697fb1" TargetMode="External"/><Relationship Id="rId6" Type="http://schemas.openxmlformats.org/officeDocument/2006/relationships/tags" Target="../tags/tag158.xml"/><Relationship Id="rId5" Type="http://schemas.openxmlformats.org/officeDocument/2006/relationships/image" Target="../media/image3.png"/><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4" Type="http://schemas.openxmlformats.org/officeDocument/2006/relationships/notesSlide" Target="../notesSlides/notesSlide35.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161.xml"/><Relationship Id="rId1" Type="http://schemas.openxmlformats.org/officeDocument/2006/relationships/tags" Target="../tags/tag154.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37.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0.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image" Target="../media/image2.png"/><Relationship Id="rId1" Type="http://schemas.openxmlformats.org/officeDocument/2006/relationships/tags" Target="../tags/tag166.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0.xml"/><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s>
</file>

<file path=ppt/slides/_rels/slide39.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hyperlink" Target="http://stu.ityxb.com/ebookview/81714926bf327ea76eb176cb1b028d88" TargetMode="External"/><Relationship Id="rId6" Type="http://schemas.openxmlformats.org/officeDocument/2006/relationships/tags" Target="../tags/tag178.xml"/><Relationship Id="rId5" Type="http://schemas.openxmlformats.org/officeDocument/2006/relationships/image" Target="../media/image3.png"/><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4" Type="http://schemas.openxmlformats.org/officeDocument/2006/relationships/notesSlide" Target="../notesSlides/notesSlide39.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181.xml"/><Relationship Id="rId1" Type="http://schemas.openxmlformats.org/officeDocument/2006/relationships/tags" Target="../tags/tag174.xml"/></Relationships>
</file>

<file path=ppt/slides/_rels/slide40.xml.rels><?xml version="1.0" encoding="UTF-8" standalone="yes"?>
<Relationships xmlns="http://schemas.openxmlformats.org/package/2006/relationships"><Relationship Id="rId9" Type="http://schemas.openxmlformats.org/officeDocument/2006/relationships/tags" Target="../tags/tag188.xml"/><Relationship Id="rId8" Type="http://schemas.openxmlformats.org/officeDocument/2006/relationships/tags" Target="../tags/tag187.xml"/><Relationship Id="rId7" Type="http://schemas.openxmlformats.org/officeDocument/2006/relationships/hyperlink" Target="http://stu.ityxb.com/ebookview/24f89803c41db4d3df48933c0867fbc3" TargetMode="External"/><Relationship Id="rId6" Type="http://schemas.openxmlformats.org/officeDocument/2006/relationships/tags" Target="../tags/tag186.xml"/><Relationship Id="rId5" Type="http://schemas.openxmlformats.org/officeDocument/2006/relationships/image" Target="../media/image3.png"/><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4" Type="http://schemas.openxmlformats.org/officeDocument/2006/relationships/notesSlide" Target="../notesSlides/notesSlide40.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189.xml"/><Relationship Id="rId1" Type="http://schemas.openxmlformats.org/officeDocument/2006/relationships/tags" Target="../tags/tag182.xml"/></Relationships>
</file>

<file path=ppt/slides/_rels/slide41.xml.rels><?xml version="1.0" encoding="UTF-8" standalone="yes"?>
<Relationships xmlns="http://schemas.openxmlformats.org/package/2006/relationships"><Relationship Id="rId9" Type="http://schemas.openxmlformats.org/officeDocument/2006/relationships/tags" Target="../tags/tag196.xml"/><Relationship Id="rId8" Type="http://schemas.openxmlformats.org/officeDocument/2006/relationships/tags" Target="../tags/tag195.xml"/><Relationship Id="rId7" Type="http://schemas.openxmlformats.org/officeDocument/2006/relationships/hyperlink" Target="http://stu.ityxb.com/ebookview/72ba1d88562eb76100f2079e29f03b82" TargetMode="External"/><Relationship Id="rId6" Type="http://schemas.openxmlformats.org/officeDocument/2006/relationships/tags" Target="../tags/tag194.xml"/><Relationship Id="rId5" Type="http://schemas.openxmlformats.org/officeDocument/2006/relationships/image" Target="../media/image3.png"/><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4" Type="http://schemas.openxmlformats.org/officeDocument/2006/relationships/notesSlide" Target="../notesSlides/notesSlide41.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197.xml"/><Relationship Id="rId1" Type="http://schemas.openxmlformats.org/officeDocument/2006/relationships/tags" Target="../tags/tag190.xml"/></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10.xml"/><Relationship Id="rId5" Type="http://schemas.openxmlformats.org/officeDocument/2006/relationships/image" Target="../media/image12.png"/><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202.xml"/></Relationships>
</file>

<file path=ppt/slides/_rels/slide45.xml.rels><?xml version="1.0" encoding="UTF-8" standalone="yes"?>
<Relationships xmlns="http://schemas.openxmlformats.org/package/2006/relationships"><Relationship Id="rId8" Type="http://schemas.openxmlformats.org/officeDocument/2006/relationships/notesSlide" Target="../notesSlides/notesSlide45.xml"/><Relationship Id="rId7" Type="http://schemas.openxmlformats.org/officeDocument/2006/relationships/slideLayout" Target="../slideLayouts/slideLayout10.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image" Target="../media/image2.png"/><Relationship Id="rId1" Type="http://schemas.openxmlformats.org/officeDocument/2006/relationships/tags" Target="../tags/tag203.xml"/></Relationships>
</file>

<file path=ppt/slides/_rels/slide46.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hyperlink" Target="http://stu.ityxb.com/ebookview/c870d817321338ceaba9691668492863" TargetMode="External"/><Relationship Id="rId6" Type="http://schemas.openxmlformats.org/officeDocument/2006/relationships/tags" Target="../tags/tag212.xml"/><Relationship Id="rId5" Type="http://schemas.openxmlformats.org/officeDocument/2006/relationships/image" Target="../media/image3.png"/><Relationship Id="rId4" Type="http://schemas.openxmlformats.org/officeDocument/2006/relationships/tags" Target="../tags/tag211.xml"/><Relationship Id="rId3" Type="http://schemas.openxmlformats.org/officeDocument/2006/relationships/tags" Target="../tags/tag210.xml"/><Relationship Id="rId2" Type="http://schemas.openxmlformats.org/officeDocument/2006/relationships/tags" Target="../tags/tag209.xml"/><Relationship Id="rId15" Type="http://schemas.openxmlformats.org/officeDocument/2006/relationships/notesSlide" Target="../notesSlides/notesSlide46.xml"/><Relationship Id="rId14" Type="http://schemas.openxmlformats.org/officeDocument/2006/relationships/slideLayout" Target="../slideLayouts/slideLayout10.xml"/><Relationship Id="rId13" Type="http://schemas.openxmlformats.org/officeDocument/2006/relationships/tags" Target="../tags/tag216.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15.xml"/><Relationship Id="rId1" Type="http://schemas.openxmlformats.org/officeDocument/2006/relationships/tags" Target="../tags/tag208.xml"/></Relationships>
</file>

<file path=ppt/slides/_rels/slide47.xml.rels><?xml version="1.0" encoding="UTF-8" standalone="yes"?>
<Relationships xmlns="http://schemas.openxmlformats.org/package/2006/relationships"><Relationship Id="rId9" Type="http://schemas.openxmlformats.org/officeDocument/2006/relationships/tags" Target="../tags/tag223.xml"/><Relationship Id="rId8" Type="http://schemas.openxmlformats.org/officeDocument/2006/relationships/tags" Target="../tags/tag222.xml"/><Relationship Id="rId7" Type="http://schemas.openxmlformats.org/officeDocument/2006/relationships/hyperlink" Target="http://stu.ityxb.com/ebookview/aaade36a9c43826291582c095cc41cea" TargetMode="External"/><Relationship Id="rId6" Type="http://schemas.openxmlformats.org/officeDocument/2006/relationships/tags" Target="../tags/tag221.xml"/><Relationship Id="rId5" Type="http://schemas.openxmlformats.org/officeDocument/2006/relationships/image" Target="../media/image3.png"/><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4" Type="http://schemas.openxmlformats.org/officeDocument/2006/relationships/notesSlide" Target="../notesSlides/notesSlide47.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24.xml"/><Relationship Id="rId1" Type="http://schemas.openxmlformats.org/officeDocument/2006/relationships/tags" Target="../tags/tag217.xml"/></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48.xml"/><Relationship Id="rId6"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tags" Target="../tags/tag232.xml"/><Relationship Id="rId3" Type="http://schemas.openxmlformats.org/officeDocument/2006/relationships/tags" Target="../tags/tag231.xml"/><Relationship Id="rId2" Type="http://schemas.openxmlformats.org/officeDocument/2006/relationships/tags" Target="../tags/tag230.xml"/><Relationship Id="rId1" Type="http://schemas.openxmlformats.org/officeDocument/2006/relationships/tags" Target="../tags/tag229.xml"/></Relationships>
</file>

<file path=ppt/slides/_rels/slide50.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hyperlink" Target="http://stu.ityxb.com/ebookview/48f06bb5557ca0d5ab5bd5ce9f1b43aa" TargetMode="External"/><Relationship Id="rId6" Type="http://schemas.openxmlformats.org/officeDocument/2006/relationships/tags" Target="../tags/tag237.xml"/><Relationship Id="rId5" Type="http://schemas.openxmlformats.org/officeDocument/2006/relationships/image" Target="../media/image3.png"/><Relationship Id="rId4" Type="http://schemas.openxmlformats.org/officeDocument/2006/relationships/tags" Target="../tags/tag236.xml"/><Relationship Id="rId3" Type="http://schemas.openxmlformats.org/officeDocument/2006/relationships/tags" Target="../tags/tag235.xml"/><Relationship Id="rId2" Type="http://schemas.openxmlformats.org/officeDocument/2006/relationships/tags" Target="../tags/tag234.xml"/><Relationship Id="rId14" Type="http://schemas.openxmlformats.org/officeDocument/2006/relationships/notesSlide" Target="../notesSlides/notesSlide50.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40.xml"/><Relationship Id="rId1" Type="http://schemas.openxmlformats.org/officeDocument/2006/relationships/tags" Target="../tags/tag233.xml"/></Relationships>
</file>

<file path=ppt/slides/_rels/slide51.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tags" Target="../tags/tag246.xml"/><Relationship Id="rId7" Type="http://schemas.openxmlformats.org/officeDocument/2006/relationships/hyperlink" Target="http://stu.ityxb.com/ebookview/fbe4a08b73feeea136a38f590bdaadaf" TargetMode="External"/><Relationship Id="rId6" Type="http://schemas.openxmlformats.org/officeDocument/2006/relationships/tags" Target="../tags/tag245.xml"/><Relationship Id="rId5" Type="http://schemas.openxmlformats.org/officeDocument/2006/relationships/image" Target="../media/image3.png"/><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4" Type="http://schemas.openxmlformats.org/officeDocument/2006/relationships/notesSlide" Target="../notesSlides/notesSlide51.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48.xml"/><Relationship Id="rId1" Type="http://schemas.openxmlformats.org/officeDocument/2006/relationships/tags" Target="../tags/tag241.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52.xml"/><Relationship Id="rId6"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s>
</file>

<file path=ppt/slides/_rels/slide53.xml.rels><?xml version="1.0" encoding="UTF-8" standalone="yes"?>
<Relationships xmlns="http://schemas.openxmlformats.org/package/2006/relationships"><Relationship Id="rId7" Type="http://schemas.openxmlformats.org/officeDocument/2006/relationships/notesSlide" Target="../notesSlides/notesSlide53.xml"/><Relationship Id="rId6" Type="http://schemas.openxmlformats.org/officeDocument/2006/relationships/slideLayout" Target="../slideLayouts/slideLayout10.xml"/><Relationship Id="rId5" Type="http://schemas.openxmlformats.org/officeDocument/2006/relationships/image" Target="../media/image16.png"/><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54.xml"/><Relationship Id="rId7" Type="http://schemas.openxmlformats.org/officeDocument/2006/relationships/slideLayout" Target="../slideLayouts/slideLayout10.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image" Target="../media/image2.png"/><Relationship Id="rId1" Type="http://schemas.openxmlformats.org/officeDocument/2006/relationships/tags" Target="../tags/tag25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0.xml"/><Relationship Id="rId1" Type="http://schemas.openxmlformats.org/officeDocument/2006/relationships/tags" Target="../tags/tag262.xml"/></Relationships>
</file>

<file path=ppt/slides/_rels/slide56.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hyperlink" Target="http://stu.ityxb.com/ebookview/96514135da4e49c49c291329f39848e3" TargetMode="External"/><Relationship Id="rId6" Type="http://schemas.openxmlformats.org/officeDocument/2006/relationships/tags" Target="../tags/tag267.xml"/><Relationship Id="rId5" Type="http://schemas.openxmlformats.org/officeDocument/2006/relationships/image" Target="../media/image3.png"/><Relationship Id="rId4" Type="http://schemas.openxmlformats.org/officeDocument/2006/relationships/tags" Target="../tags/tag266.xml"/><Relationship Id="rId3" Type="http://schemas.openxmlformats.org/officeDocument/2006/relationships/tags" Target="../tags/tag265.xml"/><Relationship Id="rId2" Type="http://schemas.openxmlformats.org/officeDocument/2006/relationships/tags" Target="../tags/tag264.xml"/><Relationship Id="rId15" Type="http://schemas.openxmlformats.org/officeDocument/2006/relationships/notesSlide" Target="../notesSlides/notesSlide56.xml"/><Relationship Id="rId14" Type="http://schemas.openxmlformats.org/officeDocument/2006/relationships/slideLayout" Target="../slideLayouts/slideLayout10.xml"/><Relationship Id="rId13" Type="http://schemas.openxmlformats.org/officeDocument/2006/relationships/tags" Target="../tags/tag271.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70.xml"/><Relationship Id="rId1" Type="http://schemas.openxmlformats.org/officeDocument/2006/relationships/tags" Target="../tags/tag263.xml"/></Relationships>
</file>

<file path=ppt/slides/_rels/slide57.xml.rels><?xml version="1.0" encoding="UTF-8" standalone="yes"?>
<Relationships xmlns="http://schemas.openxmlformats.org/package/2006/relationships"><Relationship Id="rId9" Type="http://schemas.openxmlformats.org/officeDocument/2006/relationships/tags" Target="../tags/tag278.xml"/><Relationship Id="rId8" Type="http://schemas.openxmlformats.org/officeDocument/2006/relationships/tags" Target="../tags/tag277.xml"/><Relationship Id="rId7" Type="http://schemas.openxmlformats.org/officeDocument/2006/relationships/hyperlink" Target="http://stu.ityxb.com/ebookview/6883cb6e01ed8b930bbcc8595ecc8512" TargetMode="External"/><Relationship Id="rId6" Type="http://schemas.openxmlformats.org/officeDocument/2006/relationships/tags" Target="../tags/tag276.xml"/><Relationship Id="rId5" Type="http://schemas.openxmlformats.org/officeDocument/2006/relationships/image" Target="../media/image3.png"/><Relationship Id="rId4" Type="http://schemas.openxmlformats.org/officeDocument/2006/relationships/tags" Target="../tags/tag275.xml"/><Relationship Id="rId3" Type="http://schemas.openxmlformats.org/officeDocument/2006/relationships/tags" Target="../tags/tag274.xml"/><Relationship Id="rId2" Type="http://schemas.openxmlformats.org/officeDocument/2006/relationships/tags" Target="../tags/tag273.xml"/><Relationship Id="rId14" Type="http://schemas.openxmlformats.org/officeDocument/2006/relationships/notesSlide" Target="../notesSlides/notesSlide57.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279.xml"/><Relationship Id="rId1" Type="http://schemas.openxmlformats.org/officeDocument/2006/relationships/tags" Target="../tags/tag272.xml"/></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58.xml"/><Relationship Id="rId6"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59.xml"/><Relationship Id="rId6" Type="http://schemas.openxmlformats.org/officeDocument/2006/relationships/slideLayout" Target="../slideLayouts/slideLayout10.xml"/><Relationship Id="rId5" Type="http://schemas.openxmlformats.org/officeDocument/2006/relationships/image" Target="../media/image18.png"/><Relationship Id="rId4" Type="http://schemas.openxmlformats.org/officeDocument/2006/relationships/tags" Target="../tags/tag287.xml"/><Relationship Id="rId3" Type="http://schemas.openxmlformats.org/officeDocument/2006/relationships/tags" Target="../tags/tag286.xml"/><Relationship Id="rId2" Type="http://schemas.openxmlformats.org/officeDocument/2006/relationships/tags" Target="../tags/tag285.xml"/><Relationship Id="rId1" Type="http://schemas.openxmlformats.org/officeDocument/2006/relationships/tags" Target="../tags/tag284.xml"/></Relationships>
</file>

<file path=ppt/slides/_rels/slide60.xml.rels><?xml version="1.0" encoding="UTF-8" standalone="yes"?>
<Relationships xmlns="http://schemas.openxmlformats.org/package/2006/relationships"><Relationship Id="rId8" Type="http://schemas.openxmlformats.org/officeDocument/2006/relationships/notesSlide" Target="../notesSlides/notesSlide60.xml"/><Relationship Id="rId7" Type="http://schemas.openxmlformats.org/officeDocument/2006/relationships/slideLayout" Target="../slideLayouts/slideLayout10.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image" Target="../media/image2.png"/><Relationship Id="rId1" Type="http://schemas.openxmlformats.org/officeDocument/2006/relationships/tags" Target="../tags/tag288.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tags" Target="../tags/tag293.xml"/></Relationships>
</file>

<file path=ppt/slides/_rels/slide62.xml.rels><?xml version="1.0" encoding="UTF-8" standalone="yes"?>
<Relationships xmlns="http://schemas.openxmlformats.org/package/2006/relationships"><Relationship Id="rId9" Type="http://schemas.openxmlformats.org/officeDocument/2006/relationships/tags" Target="../tags/tag300.xml"/><Relationship Id="rId8" Type="http://schemas.openxmlformats.org/officeDocument/2006/relationships/tags" Target="../tags/tag299.xml"/><Relationship Id="rId7" Type="http://schemas.openxmlformats.org/officeDocument/2006/relationships/hyperlink" Target="http://stu.ityxb.com/ebookview/e3162fd6ae10df00b9a2a751a958e31c" TargetMode="External"/><Relationship Id="rId6" Type="http://schemas.openxmlformats.org/officeDocument/2006/relationships/tags" Target="../tags/tag298.xml"/><Relationship Id="rId5" Type="http://schemas.openxmlformats.org/officeDocument/2006/relationships/image" Target="../media/image3.png"/><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4" Type="http://schemas.openxmlformats.org/officeDocument/2006/relationships/notesSlide" Target="../notesSlides/notesSlide62.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01.xml"/><Relationship Id="rId1" Type="http://schemas.openxmlformats.org/officeDocument/2006/relationships/tags" Target="../tags/tag294.xml"/></Relationships>
</file>

<file path=ppt/slides/_rels/slide63.xml.rels><?xml version="1.0" encoding="UTF-8" standalone="yes"?>
<Relationships xmlns="http://schemas.openxmlformats.org/package/2006/relationships"><Relationship Id="rId9" Type="http://schemas.openxmlformats.org/officeDocument/2006/relationships/tags" Target="../tags/tag308.xml"/><Relationship Id="rId8" Type="http://schemas.openxmlformats.org/officeDocument/2006/relationships/tags" Target="../tags/tag307.xml"/><Relationship Id="rId7" Type="http://schemas.openxmlformats.org/officeDocument/2006/relationships/hyperlink" Target="http://stu.ityxb.com/ebookview/5bff32341d402c26c81b824c8242aa65" TargetMode="External"/><Relationship Id="rId6" Type="http://schemas.openxmlformats.org/officeDocument/2006/relationships/tags" Target="../tags/tag306.xml"/><Relationship Id="rId5" Type="http://schemas.openxmlformats.org/officeDocument/2006/relationships/image" Target="../media/image3.png"/><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4" Type="http://schemas.openxmlformats.org/officeDocument/2006/relationships/notesSlide" Target="../notesSlides/notesSlide63.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09.xml"/><Relationship Id="rId1" Type="http://schemas.openxmlformats.org/officeDocument/2006/relationships/tags" Target="../tags/tag302.xml"/></Relationships>
</file>

<file path=ppt/slides/_rels/slide64.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tags" Target="../tags/tag315.xml"/><Relationship Id="rId7" Type="http://schemas.openxmlformats.org/officeDocument/2006/relationships/hyperlink" Target="http://stu.ityxb.com/ebookview/5b105bc1f0f96d7c9f6486372dad8bbc" TargetMode="External"/><Relationship Id="rId6" Type="http://schemas.openxmlformats.org/officeDocument/2006/relationships/tags" Target="../tags/tag314.xml"/><Relationship Id="rId5" Type="http://schemas.openxmlformats.org/officeDocument/2006/relationships/image" Target="../media/image3.png"/><Relationship Id="rId4" Type="http://schemas.openxmlformats.org/officeDocument/2006/relationships/tags" Target="../tags/tag313.xml"/><Relationship Id="rId3" Type="http://schemas.openxmlformats.org/officeDocument/2006/relationships/tags" Target="../tags/tag312.xml"/><Relationship Id="rId2" Type="http://schemas.openxmlformats.org/officeDocument/2006/relationships/tags" Target="../tags/tag311.xml"/><Relationship Id="rId14" Type="http://schemas.openxmlformats.org/officeDocument/2006/relationships/notesSlide" Target="../notesSlides/notesSlide64.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17.xml"/><Relationship Id="rId1" Type="http://schemas.openxmlformats.org/officeDocument/2006/relationships/tags" Target="../tags/tag310.xml"/></Relationships>
</file>

<file path=ppt/slides/_rels/slide65.xml.rels><?xml version="1.0" encoding="UTF-8" standalone="yes"?>
<Relationships xmlns="http://schemas.openxmlformats.org/package/2006/relationships"><Relationship Id="rId9" Type="http://schemas.openxmlformats.org/officeDocument/2006/relationships/tags" Target="../tags/tag324.xml"/><Relationship Id="rId8" Type="http://schemas.openxmlformats.org/officeDocument/2006/relationships/tags" Target="../tags/tag323.xml"/><Relationship Id="rId7" Type="http://schemas.openxmlformats.org/officeDocument/2006/relationships/hyperlink" Target="http://stu.ityxb.com/ebookview/e4a446a8aa89f254855b2e9c4cfa000d" TargetMode="External"/><Relationship Id="rId6" Type="http://schemas.openxmlformats.org/officeDocument/2006/relationships/tags" Target="../tags/tag322.xml"/><Relationship Id="rId5" Type="http://schemas.openxmlformats.org/officeDocument/2006/relationships/image" Target="../media/image3.png"/><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4" Type="http://schemas.openxmlformats.org/officeDocument/2006/relationships/notesSlide" Target="../notesSlides/notesSlide65.xml"/><Relationship Id="rId13" Type="http://schemas.openxmlformats.org/officeDocument/2006/relationships/slideLayout" Target="../slideLayouts/slideLayout10.xml"/><Relationship Id="rId12" Type="http://schemas.openxmlformats.org/officeDocument/2006/relationships/image" Target="../media/image5.svg"/><Relationship Id="rId11" Type="http://schemas.openxmlformats.org/officeDocument/2006/relationships/image" Target="../media/image4.jpeg"/><Relationship Id="rId10" Type="http://schemas.openxmlformats.org/officeDocument/2006/relationships/tags" Target="../tags/tag325.xml"/><Relationship Id="rId1" Type="http://schemas.openxmlformats.org/officeDocument/2006/relationships/tags" Target="../tags/tag318.xml"/></Relationships>
</file>

<file path=ppt/slides/_rels/slide66.xml.rels><?xml version="1.0" encoding="UTF-8" standalone="yes"?>
<Relationships xmlns="http://schemas.openxmlformats.org/package/2006/relationships"><Relationship Id="rId7" Type="http://schemas.openxmlformats.org/officeDocument/2006/relationships/notesSlide" Target="../notesSlides/notesSlide66.xml"/><Relationship Id="rId6" Type="http://schemas.openxmlformats.org/officeDocument/2006/relationships/slideLayout" Target="../slideLayouts/slideLayout10.xml"/><Relationship Id="rId5" Type="http://schemas.openxmlformats.org/officeDocument/2006/relationships/image" Target="../media/image19.jpeg"/><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tags" Target="../tags/tag32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291080" y="2677795"/>
            <a:ext cx="7847330" cy="675640"/>
          </a:xfrm>
          <a:prstGeom prst="rect">
            <a:avLst/>
          </a:prstGeom>
          <a:noFill/>
        </p:spPr>
        <p:txBody>
          <a:bodyPr wrap="square" rtlCol="0">
            <a:spAutoFit/>
          </a:bodyPr>
          <a:lstStyle/>
          <a:p>
            <a:pPr algn="ctr"/>
            <a:r>
              <a:rPr sz="3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第9章 任务调度和邮件发送</a:t>
            </a:r>
            <a:endParaRPr sz="38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3968750" y="3935095"/>
            <a:ext cx="63030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a:t>
            </a:r>
            <a:r>
              <a:rPr sz="2400" dirty="0">
                <a:solidFill>
                  <a:srgbClr val="595959"/>
                </a:solidFill>
                <a:latin typeface="微软雅黑" panose="020B0503020204020204" pitchFamily="34" charset="-122"/>
                <a:ea typeface="微软雅黑" panose="020B0503020204020204" pitchFamily="34" charset="-122"/>
                <a:cs typeface="+mn-ea"/>
                <a:sym typeface="+mn-lt"/>
              </a:rPr>
              <a:t>Spring Boot企业级开发教程（第2版）》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8925" y="2278380"/>
            <a:ext cx="900557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异步任务</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，能够在Spring Boot项目中实现</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无返回值</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和有返回值的异步任务</a:t>
              </a:r>
              <a:endParaRPr lang="zh-CN" altLang="en-US"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3467100"/>
            <a:ext cx="8997950"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定时任务</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，能够在Spring Boot项目中使用</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注解</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的方式实现定时任务</a:t>
              </a:r>
              <a:endPar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4657090"/>
            <a:ext cx="8997950"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Quartz</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任务调度，能够在Spring Boot项目中整合Quartz完成任务调度</a:t>
              </a:r>
              <a:endPar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8925" y="2206625"/>
            <a:ext cx="9026525"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发送纯文本邮件</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，能够在Spring Boot项目中实现纯文本邮件的发送</a:t>
              </a:r>
              <a:endParaRPr lang="zh-CN" altLang="en-US"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3467100"/>
            <a:ext cx="90189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发送带附件和图片的邮件</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，能够在Spring Boot项目中实现带附件和图片邮件的发送</a:t>
              </a:r>
              <a:endParaRPr lang="zh-CN" altLang="en-US"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541145" y="4670425"/>
            <a:ext cx="9018905" cy="689610"/>
            <a:chOff x="978872" y="2570437"/>
            <a:chExt cx="5437064" cy="517208"/>
          </a:xfrm>
        </p:grpSpPr>
        <p:sp>
          <p:nvSpPr>
            <p:cNvPr id="6" name="Pentagon 5"/>
            <p:cNvSpPr/>
            <p:nvPr>
              <p:custDataLst>
                <p:tags r:id="rId1"/>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rPr>
                <a:t>发送模板邮件</a:t>
              </a:r>
              <a:r>
                <a:rPr lang="zh-CN" altLang="en-US" sz="1700"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，能够在Spring Boot项目中实现模板邮件的发送</a:t>
              </a:r>
              <a:endParaRPr lang="zh-CN" altLang="en-US" sz="1700" dirty="0">
                <a:solidFill>
                  <a:schemeClr val="accent1"/>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7"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17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126490" y="2466340"/>
            <a:ext cx="1015238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开发Web应用时，多数应用都具备</a:t>
            </a:r>
            <a:r>
              <a:rPr lang="zh-CN" altLang="en-US" sz="2000" dirty="0">
                <a:solidFill>
                  <a:srgbClr val="1369B2"/>
                </a:solidFill>
                <a:latin typeface="微软雅黑" panose="020B0503020204020204" pitchFamily="34" charset="-122"/>
                <a:ea typeface="微软雅黑" panose="020B0503020204020204" pitchFamily="34" charset="-122"/>
                <a:cs typeface="+mn-ea"/>
              </a:rPr>
              <a:t>任务调度</a:t>
            </a:r>
            <a:r>
              <a:rPr lang="zh-CN" altLang="zh-CN" sz="2000" dirty="0">
                <a:solidFill>
                  <a:srgbClr val="595959"/>
                </a:solidFill>
                <a:latin typeface="微软雅黑" panose="020B0503020204020204" pitchFamily="34" charset="-122"/>
                <a:ea typeface="微软雅黑" panose="020B0503020204020204" pitchFamily="34" charset="-122"/>
              </a:rPr>
              <a:t>功能，使系统可在</a:t>
            </a:r>
            <a:r>
              <a:rPr lang="zh-CN" altLang="en-US" sz="2000" dirty="0">
                <a:solidFill>
                  <a:srgbClr val="1369B2"/>
                </a:solidFill>
                <a:latin typeface="微软雅黑" panose="020B0503020204020204" pitchFamily="34" charset="-122"/>
                <a:ea typeface="微软雅黑" panose="020B0503020204020204" pitchFamily="34" charset="-122"/>
                <a:cs typeface="+mn-ea"/>
              </a:rPr>
              <a:t>预定义的时间</a:t>
            </a:r>
            <a:r>
              <a:rPr lang="zh-CN" altLang="zh-CN" sz="2000" dirty="0">
                <a:solidFill>
                  <a:srgbClr val="595959"/>
                </a:solidFill>
                <a:latin typeface="微软雅黑" panose="020B0503020204020204" pitchFamily="34" charset="-122"/>
                <a:ea typeface="微软雅黑" panose="020B0503020204020204" pitchFamily="34" charset="-122"/>
              </a:rPr>
              <a:t>执行</a:t>
            </a:r>
            <a:r>
              <a:rPr lang="zh-CN" altLang="en-US" sz="2000" dirty="0">
                <a:solidFill>
                  <a:srgbClr val="1369B2"/>
                </a:solidFill>
                <a:latin typeface="微软雅黑" panose="020B0503020204020204" pitchFamily="34" charset="-122"/>
                <a:ea typeface="微软雅黑" panose="020B0503020204020204" pitchFamily="34" charset="-122"/>
                <a:cs typeface="+mn-ea"/>
              </a:rPr>
              <a:t>指定的任务</a:t>
            </a:r>
            <a:r>
              <a:rPr lang="zh-CN" altLang="zh-CN" sz="2000" dirty="0">
                <a:solidFill>
                  <a:srgbClr val="595959"/>
                </a:solidFill>
                <a:latin typeface="微软雅黑" panose="020B0503020204020204" pitchFamily="34" charset="-122"/>
                <a:ea typeface="微软雅黑" panose="020B0503020204020204" pitchFamily="34" charset="-122"/>
              </a:rPr>
              <a:t>，例如系统的负荷凌晨最小，指定每天凌晨执行数据备份的任务。有时候希望任务执行后将结果自动</a:t>
            </a:r>
            <a:r>
              <a:rPr lang="zh-CN" altLang="en-US" sz="2000" dirty="0">
                <a:solidFill>
                  <a:srgbClr val="1369B2"/>
                </a:solidFill>
                <a:latin typeface="微软雅黑" panose="020B0503020204020204" pitchFamily="34" charset="-122"/>
                <a:ea typeface="微软雅黑" panose="020B0503020204020204" pitchFamily="34" charset="-122"/>
                <a:cs typeface="+mn-ea"/>
              </a:rPr>
              <a:t>通知</a:t>
            </a:r>
            <a:r>
              <a:rPr lang="zh-CN" altLang="zh-CN" sz="2000" dirty="0">
                <a:solidFill>
                  <a:srgbClr val="595959"/>
                </a:solidFill>
                <a:latin typeface="微软雅黑" panose="020B0503020204020204" pitchFamily="34" charset="-122"/>
                <a:ea typeface="微软雅黑" panose="020B0503020204020204" pitchFamily="34" charset="-122"/>
                <a:sym typeface="+mn-ea"/>
              </a:rPr>
              <a:t>给</a:t>
            </a:r>
            <a:r>
              <a:rPr lang="zh-CN" altLang="zh-CN" sz="2000" dirty="0">
                <a:solidFill>
                  <a:srgbClr val="595959"/>
                </a:solidFill>
                <a:latin typeface="微软雅黑" panose="020B0503020204020204" pitchFamily="34" charset="-122"/>
                <a:ea typeface="微软雅黑" panose="020B0503020204020204" pitchFamily="34" charset="-122"/>
              </a:rPr>
              <a:t>指定的人员，可以在任务执行后将结果以</a:t>
            </a:r>
            <a:r>
              <a:rPr lang="zh-CN" altLang="en-US" sz="2000" dirty="0">
                <a:solidFill>
                  <a:srgbClr val="1369B2"/>
                </a:solidFill>
                <a:latin typeface="微软雅黑" panose="020B0503020204020204" pitchFamily="34" charset="-122"/>
                <a:ea typeface="微软雅黑" panose="020B0503020204020204" pitchFamily="34" charset="-122"/>
                <a:cs typeface="+mn-ea"/>
              </a:rPr>
              <a:t>电子邮件</a:t>
            </a:r>
            <a:r>
              <a:rPr lang="zh-CN" altLang="zh-CN" sz="2000" dirty="0">
                <a:solidFill>
                  <a:srgbClr val="595959"/>
                </a:solidFill>
                <a:latin typeface="微软雅黑" panose="020B0503020204020204" pitchFamily="34" charset="-122"/>
                <a:ea typeface="微软雅黑" panose="020B0503020204020204" pitchFamily="34" charset="-122"/>
              </a:rPr>
              <a:t>的方式进行发送。Spring Boot为任务调度和邮件发送提供了非常好的支持，下面将介绍Java中</a:t>
            </a:r>
            <a:r>
              <a:rPr lang="zh-CN" altLang="en-US" sz="2000" dirty="0">
                <a:solidFill>
                  <a:srgbClr val="1369B2"/>
                </a:solidFill>
                <a:latin typeface="微软雅黑" panose="020B0503020204020204" pitchFamily="34" charset="-122"/>
                <a:ea typeface="微软雅黑" panose="020B0503020204020204" pitchFamily="34" charset="-122"/>
                <a:cs typeface="+mn-ea"/>
              </a:rPr>
              <a:t>任务调度</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邮件</a:t>
            </a:r>
            <a:r>
              <a:rPr lang="zh-CN" altLang="zh-CN" sz="2000" dirty="0">
                <a:solidFill>
                  <a:srgbClr val="595959"/>
                </a:solidFill>
                <a:latin typeface="微软雅黑" panose="020B0503020204020204" pitchFamily="34" charset="-122"/>
                <a:ea typeface="微软雅黑" panose="020B0503020204020204" pitchFamily="34" charset="-122"/>
              </a:rPr>
              <a:t>的相关知识，并在</a:t>
            </a:r>
            <a:r>
              <a:rPr lang="zh-CN" altLang="en-US" sz="2000" dirty="0">
                <a:solidFill>
                  <a:srgbClr val="1369B2"/>
                </a:solidFill>
                <a:latin typeface="微软雅黑" panose="020B0503020204020204" pitchFamily="34" charset="-122"/>
                <a:ea typeface="微软雅黑" panose="020B0503020204020204" pitchFamily="34" charset="-122"/>
                <a:cs typeface="+mn-ea"/>
              </a:rPr>
              <a:t>Spring Boot</a:t>
            </a:r>
            <a:r>
              <a:rPr lang="zh-CN" altLang="zh-CN" sz="2000" dirty="0">
                <a:solidFill>
                  <a:srgbClr val="595959"/>
                </a:solidFill>
                <a:latin typeface="微软雅黑" panose="020B0503020204020204" pitchFamily="34" charset="-122"/>
                <a:ea typeface="微软雅黑" panose="020B0503020204020204" pitchFamily="34" charset="-122"/>
              </a:rPr>
              <a:t>项目中对任务调度和邮件发送进行整</a:t>
            </a:r>
            <a:r>
              <a:rPr lang="zh-CN" altLang="en-US" sz="2000" dirty="0">
                <a:solidFill>
                  <a:srgbClr val="1369B2"/>
                </a:solidFill>
                <a:latin typeface="微软雅黑" panose="020B0503020204020204" pitchFamily="34" charset="-122"/>
                <a:ea typeface="微软雅黑" panose="020B0503020204020204" pitchFamily="34" charset="-122"/>
                <a:cs typeface="+mn-ea"/>
              </a:rPr>
              <a:t>合开发</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1"/>
            </p:custDataLst>
          </p:nvPr>
        </p:nvSpPr>
        <p:spPr>
          <a:xfrm>
            <a:off x="1031240" y="2238375"/>
            <a:ext cx="10233660" cy="310959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2"/>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3"/>
            </p:custDataLst>
          </p:nvPr>
        </p:nvSpPr>
        <p:spPr>
          <a:xfrm rot="10800000">
            <a:off x="10920095" y="486918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873270"/>
            <a:ext cx="1192190" cy="612775"/>
            <a:chOff x="2215144" y="982844"/>
            <a:chExt cx="1244730" cy="842780"/>
          </a:xfrm>
        </p:grpSpPr>
        <p:sp>
          <p:nvSpPr>
            <p:cNvPr id="106" name="平行四边形 105"/>
            <p:cNvSpPr/>
            <p:nvPr>
              <p:custDataLst>
                <p:tags r:id="rId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2"/>
              </p:custDataLst>
            </p:nvPr>
          </p:nvSpPr>
          <p:spPr>
            <a:xfrm>
              <a:off x="2393075" y="1005670"/>
              <a:ext cx="1066799" cy="802606"/>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9.1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4070604"/>
            <a:ext cx="1192190" cy="612775"/>
            <a:chOff x="2215144" y="2026500"/>
            <a:chExt cx="1244730" cy="850129"/>
          </a:xfrm>
        </p:grpSpPr>
        <p:sp>
          <p:nvSpPr>
            <p:cNvPr id="109" name="平行四边形 108"/>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9.</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864391"/>
            <a:ext cx="5496560" cy="612775"/>
            <a:chOff x="4315150" y="953426"/>
            <a:chExt cx="4122956" cy="539804"/>
          </a:xfrm>
        </p:grpSpPr>
        <p:sp>
          <p:nvSpPr>
            <p:cNvPr id="112" name="矩形 111"/>
            <p:cNvSpPr/>
            <p:nvPr>
              <p:custDataLst>
                <p:tags r:id="rId5"/>
              </p:custDataLst>
            </p:nvPr>
          </p:nvSpPr>
          <p:spPr>
            <a:xfrm>
              <a:off x="4841196" y="1036090"/>
              <a:ext cx="2827147"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任务调度</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3" name="平行四边形 112"/>
            <p:cNvSpPr/>
            <p:nvPr>
              <p:custDataLst>
                <p:tags r:id="rId6"/>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4053778"/>
            <a:ext cx="5496560" cy="612775"/>
            <a:chOff x="4315150" y="1647579"/>
            <a:chExt cx="4122956" cy="539804"/>
          </a:xfrm>
        </p:grpSpPr>
        <p:sp>
          <p:nvSpPr>
            <p:cNvPr id="115" name="矩形 114"/>
            <p:cNvSpPr/>
            <p:nvPr>
              <p:custDataLst>
                <p:tags r:id="rId7"/>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邮件发送</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6" name="平行四边形 115"/>
            <p:cNvSpPr/>
            <p:nvPr>
              <p:custDataLst>
                <p:tags r:id="rId8"/>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740" y="3014345"/>
            <a:ext cx="6267450" cy="660400"/>
          </a:xfrm>
          <a:prstGeom prst="rect">
            <a:avLst/>
          </a:prstGeom>
          <a:noFill/>
        </p:spPr>
        <p:txBody>
          <a:bodyPr wrap="square" lIns="91443" tIns="45720" rIns="91443" bIns="45720" rtlCol="0">
            <a:spAutoFit/>
          </a:bodyPr>
          <a:lstStyle/>
          <a:p>
            <a:r>
              <a:rPr lang="zh-CN" sz="37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任务调度</a:t>
            </a:r>
            <a:endParaRPr lang="zh-CN" sz="37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207260" y="3014345"/>
            <a:ext cx="1108710" cy="660400"/>
          </a:xfrm>
          <a:prstGeom prst="rect">
            <a:avLst/>
          </a:prstGeom>
          <a:noFill/>
        </p:spPr>
        <p:txBody>
          <a:bodyPr wrap="square" lIns="91443" tIns="45720" rIns="91443" bIns="45720" rtlCol="0">
            <a:spAutoFit/>
          </a:bodyPr>
          <a:lstStyle/>
          <a:p>
            <a:r>
              <a:rPr lang="en-US" sz="37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9.1</a:t>
            </a:r>
            <a:endParaRPr lang="en-US" sz="37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1647190"/>
            <a:ext cx="10313035" cy="207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Java中的</a:t>
            </a:r>
            <a:r>
              <a:rPr sz="1800" dirty="0">
                <a:solidFill>
                  <a:schemeClr val="accent1"/>
                </a:solidFill>
                <a:latin typeface="微软雅黑" panose="020B0503020204020204" pitchFamily="34" charset="-122"/>
                <a:ea typeface="微软雅黑" panose="020B0503020204020204" pitchFamily="34" charset="-122"/>
                <a:cs typeface="+mn-ea"/>
                <a:sym typeface="+mn-lt"/>
              </a:rPr>
              <a:t>任务调度</a:t>
            </a:r>
            <a:r>
              <a:rPr lang="zh-CN" sz="1800" dirty="0">
                <a:solidFill>
                  <a:srgbClr val="595959"/>
                </a:solidFill>
                <a:latin typeface="微软雅黑" panose="020B0503020204020204" pitchFamily="34" charset="-122"/>
                <a:ea typeface="微软雅黑" panose="020B0503020204020204" pitchFamily="34" charset="-122"/>
                <a:cs typeface="+mn-ea"/>
                <a:sym typeface="+mn-lt"/>
              </a:rPr>
              <a:t>主要是指基于</a:t>
            </a:r>
            <a:r>
              <a:rPr sz="1800" dirty="0">
                <a:solidFill>
                  <a:schemeClr val="accent1"/>
                </a:solidFill>
                <a:latin typeface="微软雅黑" panose="020B0503020204020204" pitchFamily="34" charset="-122"/>
                <a:ea typeface="微软雅黑" panose="020B0503020204020204" pitchFamily="34" charset="-122"/>
                <a:cs typeface="+mn-ea"/>
                <a:sym typeface="+mn-lt"/>
              </a:rPr>
              <a:t>指定</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时间点</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间隔时间</a:t>
            </a:r>
            <a:r>
              <a:rPr lang="zh-CN" sz="1800" dirty="0">
                <a:solidFill>
                  <a:srgbClr val="595959"/>
                </a:solidFill>
                <a:latin typeface="微软雅黑" panose="020B0503020204020204" pitchFamily="34" charset="-122"/>
                <a:ea typeface="微软雅黑" panose="020B0503020204020204" pitchFamily="34" charset="-122"/>
                <a:cs typeface="+mn-ea"/>
                <a:sym typeface="+mn-lt"/>
              </a:rPr>
              <a:t>或者</a:t>
            </a:r>
            <a:r>
              <a:rPr sz="1800" dirty="0">
                <a:solidFill>
                  <a:schemeClr val="accent1"/>
                </a:solidFill>
                <a:latin typeface="微软雅黑" panose="020B0503020204020204" pitchFamily="34" charset="-122"/>
                <a:ea typeface="微软雅黑" panose="020B0503020204020204" pitchFamily="34" charset="-122"/>
                <a:cs typeface="+mn-ea"/>
                <a:sym typeface="+mn-lt"/>
              </a:rPr>
              <a:t>执行次数自动执行任务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。在Spring Boot程序中可以使用多种方法实现任务调度，最常见的有使用JDK的</a:t>
            </a:r>
            <a:r>
              <a:rPr sz="1800" dirty="0">
                <a:solidFill>
                  <a:schemeClr val="accent1"/>
                </a:solidFill>
                <a:latin typeface="微软雅黑" panose="020B0503020204020204" pitchFamily="34" charset="-122"/>
                <a:ea typeface="微软雅黑" panose="020B0503020204020204" pitchFamily="34" charset="-122"/>
                <a:cs typeface="+mn-ea"/>
                <a:sym typeface="+mn-lt"/>
              </a:rPr>
              <a:t>Timer</a:t>
            </a:r>
            <a:r>
              <a:rPr lang="zh-CN" sz="1800" dirty="0">
                <a:solidFill>
                  <a:srgbClr val="595959"/>
                </a:solidFill>
                <a:latin typeface="微软雅黑" panose="020B0503020204020204" pitchFamily="34" charset="-122"/>
                <a:ea typeface="微软雅黑" panose="020B0503020204020204" pitchFamily="34" charset="-122"/>
                <a:cs typeface="+mn-ea"/>
                <a:sym typeface="+mn-lt"/>
              </a:rPr>
              <a:t>对象、</a:t>
            </a:r>
            <a:r>
              <a:rPr sz="1800" dirty="0">
                <a:solidFill>
                  <a:schemeClr val="accent1"/>
                </a:solidFill>
                <a:latin typeface="微软雅黑" panose="020B0503020204020204" pitchFamily="34" charset="-122"/>
                <a:ea typeface="微软雅黑" panose="020B0503020204020204" pitchFamily="34" charset="-122"/>
                <a:cs typeface="+mn-ea"/>
                <a:sym typeface="+mn-lt"/>
              </a:rPr>
              <a:t>Spring Task</a:t>
            </a:r>
            <a:r>
              <a:rPr lang="zh-CN" sz="1800" dirty="0">
                <a:solidFill>
                  <a:srgbClr val="595959"/>
                </a:solidFill>
                <a:latin typeface="微软雅黑" panose="020B0503020204020204" pitchFamily="34" charset="-122"/>
                <a:ea typeface="微软雅黑" panose="020B0503020204020204" pitchFamily="34" charset="-122"/>
                <a:cs typeface="+mn-ea"/>
                <a:sym typeface="+mn-lt"/>
              </a:rPr>
              <a:t> 和</a:t>
            </a:r>
            <a:r>
              <a:rPr sz="1800" dirty="0">
                <a:solidFill>
                  <a:schemeClr val="accent1"/>
                </a:solidFill>
                <a:latin typeface="微软雅黑" panose="020B0503020204020204" pitchFamily="34" charset="-122"/>
                <a:ea typeface="微软雅黑" panose="020B0503020204020204" pitchFamily="34" charset="-122"/>
                <a:cs typeface="+mn-ea"/>
                <a:sym typeface="+mn-lt"/>
              </a:rPr>
              <a:t>集成Quartz</a:t>
            </a:r>
            <a:r>
              <a:rPr lang="zh-CN" sz="1800" dirty="0">
                <a:solidFill>
                  <a:srgbClr val="595959"/>
                </a:solidFill>
                <a:latin typeface="微软雅黑" panose="020B0503020204020204" pitchFamily="34" charset="-122"/>
                <a:ea typeface="微软雅黑" panose="020B0503020204020204" pitchFamily="34" charset="-122"/>
                <a:cs typeface="+mn-ea"/>
                <a:sym typeface="+mn-lt"/>
              </a:rPr>
              <a:t>三种方式。其中，使用Timer时，当</a:t>
            </a:r>
            <a:r>
              <a:rPr sz="1800" dirty="0">
                <a:solidFill>
                  <a:schemeClr val="accent1"/>
                </a:solidFill>
                <a:latin typeface="微软雅黑" panose="020B0503020204020204" pitchFamily="34" charset="-122"/>
                <a:ea typeface="微软雅黑" panose="020B0503020204020204" pitchFamily="34" charset="-122"/>
                <a:cs typeface="+mn-ea"/>
                <a:sym typeface="+mn-lt"/>
              </a:rPr>
              <a:t>任务</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较</a:t>
            </a:r>
            <a:r>
              <a:rPr sz="1800" dirty="0">
                <a:solidFill>
                  <a:schemeClr val="accent1"/>
                </a:solidFill>
                <a:latin typeface="微软雅黑" panose="020B0503020204020204" pitchFamily="34" charset="-122"/>
                <a:ea typeface="微软雅黑" panose="020B0503020204020204" pitchFamily="34" charset="-122"/>
                <a:cs typeface="+mn-ea"/>
                <a:sym typeface="+mn-lt"/>
              </a:rPr>
              <a:t>多</a:t>
            </a:r>
            <a:r>
              <a:rPr lang="zh-CN" sz="1800" dirty="0">
                <a:solidFill>
                  <a:srgbClr val="595959"/>
                </a:solidFill>
                <a:latin typeface="微软雅黑" panose="020B0503020204020204" pitchFamily="34" charset="-122"/>
                <a:ea typeface="微软雅黑" panose="020B0503020204020204" pitchFamily="34" charset="-122"/>
                <a:cs typeface="+mn-ea"/>
                <a:sym typeface="+mn-lt"/>
              </a:rPr>
              <a:t>时该方式</a:t>
            </a:r>
            <a:r>
              <a:rPr sz="1800" dirty="0">
                <a:solidFill>
                  <a:schemeClr val="accent1"/>
                </a:solidFill>
                <a:latin typeface="微软雅黑" panose="020B0503020204020204" pitchFamily="34" charset="-122"/>
                <a:ea typeface="微软雅黑" panose="020B0503020204020204" pitchFamily="34" charset="-122"/>
                <a:cs typeface="+mn-ea"/>
                <a:sym typeface="+mn-lt"/>
              </a:rPr>
              <a:t>性能</a:t>
            </a:r>
            <a:r>
              <a:rPr lang="zh-CN" sz="1800" dirty="0">
                <a:solidFill>
                  <a:srgbClr val="595959"/>
                </a:solidFill>
                <a:latin typeface="微软雅黑" panose="020B0503020204020204" pitchFamily="34" charset="-122"/>
                <a:ea typeface="微软雅黑" panose="020B0503020204020204" pitchFamily="34" charset="-122"/>
                <a:cs typeface="+mn-ea"/>
                <a:sym typeface="+mn-lt"/>
              </a:rPr>
              <a:t>相对</a:t>
            </a:r>
            <a:r>
              <a:rPr sz="1800" dirty="0">
                <a:solidFill>
                  <a:schemeClr val="accent1"/>
                </a:solidFill>
                <a:latin typeface="微软雅黑" panose="020B0503020204020204" pitchFamily="34" charset="-122"/>
                <a:ea typeface="微软雅黑" panose="020B0503020204020204" pitchFamily="34" charset="-122"/>
                <a:cs typeface="+mn-ea"/>
                <a:sym typeface="+mn-lt"/>
              </a:rPr>
              <a:t>较差</a:t>
            </a:r>
            <a:r>
              <a:rPr lang="zh-CN" sz="1800" dirty="0">
                <a:solidFill>
                  <a:srgbClr val="595959"/>
                </a:solidFill>
                <a:latin typeface="微软雅黑" panose="020B0503020204020204" pitchFamily="34" charset="-122"/>
                <a:ea typeface="微软雅黑" panose="020B0503020204020204" pitchFamily="34" charset="-122"/>
                <a:cs typeface="+mn-ea"/>
                <a:sym typeface="+mn-lt"/>
              </a:rPr>
              <a:t>；Spring Task是指</a:t>
            </a:r>
            <a:r>
              <a:rPr sz="1800" dirty="0">
                <a:solidFill>
                  <a:schemeClr val="accent1"/>
                </a:solidFill>
                <a:latin typeface="微软雅黑" panose="020B0503020204020204" pitchFamily="34" charset="-122"/>
                <a:ea typeface="微软雅黑" panose="020B0503020204020204" pitchFamily="34" charset="-122"/>
                <a:cs typeface="+mn-ea"/>
                <a:sym typeface="+mn-lt"/>
              </a:rPr>
              <a:t>Spring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提供的</a:t>
            </a:r>
            <a:r>
              <a:rPr sz="1800" dirty="0">
                <a:solidFill>
                  <a:schemeClr val="accent1"/>
                </a:solidFill>
                <a:latin typeface="微软雅黑" panose="020B0503020204020204" pitchFamily="34" charset="-122"/>
                <a:ea typeface="微软雅黑" panose="020B0503020204020204" pitchFamily="34" charset="-122"/>
                <a:cs typeface="+mn-ea"/>
                <a:sym typeface="+mn-lt"/>
              </a:rPr>
              <a:t>任务调度组件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，调度的任务包括</a:t>
            </a:r>
            <a:r>
              <a:rPr sz="1800" dirty="0">
                <a:solidFill>
                  <a:schemeClr val="accent1"/>
                </a:solidFill>
                <a:latin typeface="微软雅黑" panose="020B0503020204020204" pitchFamily="34" charset="-122"/>
                <a:ea typeface="微软雅黑" panose="020B0503020204020204" pitchFamily="34" charset="-122"/>
                <a:cs typeface="+mn-ea"/>
                <a:sym typeface="+mn-lt"/>
              </a:rPr>
              <a:t>异步</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定时</a:t>
            </a:r>
            <a:r>
              <a:rPr sz="1800" dirty="0">
                <a:solidFill>
                  <a:schemeClr val="accent1"/>
                </a:solidFill>
                <a:latin typeface="微软雅黑" panose="020B0503020204020204" pitchFamily="34" charset="-122"/>
                <a:ea typeface="微软雅黑" panose="020B0503020204020204" pitchFamily="34" charset="-122"/>
                <a:cs typeface="+mn-ea"/>
                <a:sym typeface="+mn-lt"/>
              </a:rPr>
              <a:t>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。下面主要在Spring Boot项目中对Spring Task 的异步任务、定时任务，以及集成Quartz实现任务调度进行讲解。</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异步任务</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Boot项目中实现</a:t>
            </a:r>
            <a:r>
              <a:rPr lang="zh-CN" altLang="en-US" dirty="0" smtClean="0">
                <a:solidFill>
                  <a:srgbClr val="1369B2"/>
                </a:solidFill>
                <a:latin typeface="微软雅黑" panose="020B0503020204020204" pitchFamily="34" charset="-122"/>
                <a:ea typeface="微软雅黑" panose="020B0503020204020204" pitchFamily="34" charset="-122"/>
              </a:rPr>
              <a:t>无返回值</a:t>
            </a:r>
            <a:r>
              <a:rPr lang="zh-CN" altLang="en-US" dirty="0" smtClean="0">
                <a:solidFill>
                  <a:srgbClr val="595959"/>
                </a:solidFill>
                <a:latin typeface="微软雅黑" panose="020B0503020204020204" pitchFamily="34" charset="-122"/>
                <a:ea typeface="微软雅黑" panose="020B0503020204020204" pitchFamily="34" charset="-122"/>
              </a:rPr>
              <a:t>和</a:t>
            </a:r>
            <a:r>
              <a:rPr lang="zh-CN" altLang="en-US" dirty="0" smtClean="0">
                <a:solidFill>
                  <a:srgbClr val="1369B2"/>
                </a:solidFill>
                <a:latin typeface="微软雅黑" panose="020B0503020204020204" pitchFamily="34" charset="-122"/>
                <a:ea typeface="微软雅黑" panose="020B0503020204020204" pitchFamily="34" charset="-122"/>
              </a:rPr>
              <a:t>有返回值</a:t>
            </a:r>
            <a:r>
              <a:rPr lang="zh-CN" altLang="en-US" dirty="0" smtClean="0">
                <a:solidFill>
                  <a:srgbClr val="595959"/>
                </a:solidFill>
                <a:latin typeface="微软雅黑" panose="020B0503020204020204" pitchFamily="34" charset="-122"/>
                <a:ea typeface="微软雅黑" panose="020B0503020204020204" pitchFamily="34" charset="-122"/>
              </a:rPr>
              <a:t>的异步任务</a:t>
            </a:r>
            <a:endParaRPr lang="zh-CN" altLang="en-US"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1647190"/>
            <a:ext cx="1031303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Web应用开发中，大多数情况都是通过</a:t>
            </a:r>
            <a:r>
              <a:rPr sz="1800" dirty="0">
                <a:solidFill>
                  <a:schemeClr val="accent1"/>
                </a:solidFill>
                <a:latin typeface="微软雅黑" panose="020B0503020204020204" pitchFamily="34" charset="-122"/>
                <a:ea typeface="微软雅黑" panose="020B0503020204020204" pitchFamily="34" charset="-122"/>
                <a:cs typeface="+mn-ea"/>
                <a:sym typeface="+mn-lt"/>
              </a:rPr>
              <a:t>同步方式</a:t>
            </a:r>
            <a:r>
              <a:rPr lang="zh-CN" sz="1800" dirty="0">
                <a:solidFill>
                  <a:srgbClr val="595959"/>
                </a:solidFill>
                <a:latin typeface="微软雅黑" panose="020B0503020204020204" pitchFamily="34" charset="-122"/>
                <a:ea typeface="微软雅黑" panose="020B0503020204020204" pitchFamily="34" charset="-122"/>
                <a:cs typeface="+mn-ea"/>
                <a:sym typeface="+mn-lt"/>
              </a:rPr>
              <a:t>完成数据交互处理的，但是，当处理与</a:t>
            </a:r>
            <a:r>
              <a:rPr sz="1800" dirty="0">
                <a:solidFill>
                  <a:schemeClr val="accent1"/>
                </a:solidFill>
                <a:latin typeface="微软雅黑" panose="020B0503020204020204" pitchFamily="34" charset="-122"/>
                <a:ea typeface="微软雅黑" panose="020B0503020204020204" pitchFamily="34" charset="-122"/>
                <a:cs typeface="+mn-ea"/>
                <a:sym typeface="+mn-lt"/>
              </a:rPr>
              <a:t>第三方系统交互</a:t>
            </a:r>
            <a:r>
              <a:rPr lang="zh-CN" sz="1800" dirty="0">
                <a:solidFill>
                  <a:srgbClr val="595959"/>
                </a:solidFill>
                <a:latin typeface="微软雅黑" panose="020B0503020204020204" pitchFamily="34" charset="-122"/>
                <a:ea typeface="微软雅黑" panose="020B0503020204020204" pitchFamily="34" charset="-122"/>
                <a:cs typeface="+mn-ea"/>
                <a:sym typeface="+mn-lt"/>
              </a:rPr>
              <a:t>时，容易造成</a:t>
            </a:r>
            <a:r>
              <a:rPr sz="1800" dirty="0">
                <a:solidFill>
                  <a:schemeClr val="accent1"/>
                </a:solidFill>
                <a:latin typeface="微软雅黑" panose="020B0503020204020204" pitchFamily="34" charset="-122"/>
                <a:ea typeface="微软雅黑" panose="020B0503020204020204" pitchFamily="34" charset="-122"/>
                <a:cs typeface="+mn-ea"/>
                <a:sym typeface="+mn-lt"/>
              </a:rPr>
              <a:t>响应迟缓</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的情况，对此可以使用</a:t>
            </a:r>
            <a:r>
              <a:rPr sz="1800" dirty="0">
                <a:solidFill>
                  <a:schemeClr val="accent1"/>
                </a:solidFill>
                <a:latin typeface="微软雅黑" panose="020B0503020204020204" pitchFamily="34" charset="-122"/>
                <a:ea typeface="微软雅黑" panose="020B0503020204020204" pitchFamily="34" charset="-122"/>
                <a:cs typeface="+mn-ea"/>
                <a:sym typeface="+mn-lt"/>
              </a:rPr>
              <a:t>异步执行</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的方式解决这个问题。</a:t>
            </a:r>
            <a:r>
              <a:rPr sz="1800" dirty="0">
                <a:solidFill>
                  <a:schemeClr val="accent1"/>
                </a:solidFill>
                <a:latin typeface="微软雅黑" panose="020B0503020204020204" pitchFamily="34" charset="-122"/>
                <a:ea typeface="微软雅黑" panose="020B0503020204020204" pitchFamily="34" charset="-122"/>
                <a:cs typeface="+mn-ea"/>
                <a:sym typeface="+mn-lt"/>
              </a:rPr>
              <a:t>异步任务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通常用于</a:t>
            </a:r>
            <a:r>
              <a:rPr sz="1800" dirty="0">
                <a:solidFill>
                  <a:schemeClr val="accent1"/>
                </a:solidFill>
                <a:latin typeface="微软雅黑" panose="020B0503020204020204" pitchFamily="34" charset="-122"/>
                <a:ea typeface="微软雅黑" panose="020B0503020204020204" pitchFamily="34" charset="-122"/>
                <a:cs typeface="+mn-ea"/>
                <a:sym typeface="+mn-lt"/>
              </a:rPr>
              <a:t>耗时较长</a:t>
            </a:r>
            <a:r>
              <a:rPr lang="zh-CN" sz="1800" dirty="0">
                <a:solidFill>
                  <a:srgbClr val="595959"/>
                </a:solidFill>
                <a:latin typeface="微软雅黑" panose="020B0503020204020204" pitchFamily="34" charset="-122"/>
                <a:ea typeface="微软雅黑" panose="020B0503020204020204" pitchFamily="34" charset="-122"/>
                <a:cs typeface="+mn-ea"/>
                <a:sym typeface="+mn-lt"/>
              </a:rPr>
              <a:t>或者</a:t>
            </a:r>
            <a:r>
              <a:rPr sz="1800" dirty="0">
                <a:solidFill>
                  <a:schemeClr val="accent1"/>
                </a:solidFill>
                <a:latin typeface="微软雅黑" panose="020B0503020204020204" pitchFamily="34" charset="-122"/>
                <a:ea typeface="微软雅黑" panose="020B0503020204020204" pitchFamily="34" charset="-122"/>
                <a:cs typeface="+mn-ea"/>
                <a:sym typeface="+mn-lt"/>
              </a:rPr>
              <a:t>不需要立即得到执行结果</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的业务，在Spring中，可以使用</a:t>
            </a:r>
            <a:r>
              <a:rPr sz="1800" dirty="0">
                <a:solidFill>
                  <a:schemeClr val="accent1"/>
                </a:solidFill>
                <a:latin typeface="微软雅黑" panose="020B0503020204020204" pitchFamily="34" charset="-122"/>
                <a:ea typeface="微软雅黑" panose="020B0503020204020204" pitchFamily="34" charset="-122"/>
                <a:cs typeface="+mn-ea"/>
                <a:sym typeface="+mn-lt"/>
              </a:rPr>
              <a:t>@Async注解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实现异步任务，被@Async注解标注的方法称之为异步方法，异步方法将在执行的时候，会在</a:t>
            </a:r>
            <a:r>
              <a:rPr sz="1800" dirty="0">
                <a:solidFill>
                  <a:schemeClr val="accent1"/>
                </a:solidFill>
                <a:latin typeface="微软雅黑" panose="020B0503020204020204" pitchFamily="34" charset="-122"/>
                <a:ea typeface="微软雅黑" panose="020B0503020204020204" pitchFamily="34" charset="-122"/>
                <a:cs typeface="+mn-ea"/>
                <a:sym typeface="+mn-lt"/>
              </a:rPr>
              <a:t>独立的线程</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中执行，调用者无须等待它的完成，即可继续其他的操作。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@Async注解标注的方法可以</a:t>
            </a:r>
            <a:r>
              <a:rPr sz="1800" dirty="0">
                <a:solidFill>
                  <a:schemeClr val="accent1"/>
                </a:solidFill>
                <a:latin typeface="微软雅黑" panose="020B0503020204020204" pitchFamily="34" charset="-122"/>
                <a:ea typeface="微软雅黑" panose="020B0503020204020204" pitchFamily="34" charset="-122"/>
                <a:cs typeface="+mn-ea"/>
                <a:sym typeface="+mn-lt"/>
              </a:rPr>
              <a:t>没有返回值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，如果</a:t>
            </a:r>
            <a:r>
              <a:rPr sz="1800" dirty="0">
                <a:solidFill>
                  <a:schemeClr val="accent1"/>
                </a:solidFill>
                <a:latin typeface="微软雅黑" panose="020B0503020204020204" pitchFamily="34" charset="-122"/>
                <a:ea typeface="微软雅黑" panose="020B0503020204020204" pitchFamily="34" charset="-122"/>
                <a:cs typeface="+mn-ea"/>
                <a:sym typeface="+mn-lt"/>
              </a:rPr>
              <a:t>有返回值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，则返回值类型必须为</a:t>
            </a:r>
            <a:r>
              <a:rPr sz="1800" dirty="0">
                <a:solidFill>
                  <a:schemeClr val="accent1"/>
                </a:solidFill>
                <a:latin typeface="微软雅黑" panose="020B0503020204020204" pitchFamily="34" charset="-122"/>
                <a:ea typeface="微软雅黑" panose="020B0503020204020204" pitchFamily="34" charset="-122"/>
                <a:cs typeface="+mn-ea"/>
                <a:sym typeface="+mn-lt"/>
              </a:rPr>
              <a:t>Future类型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。下面在Spring Boot项目中分别对这两种情况进行讲解。</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221230"/>
            <a:ext cx="1031303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下面通过在Spring Boot项目中调用</a:t>
            </a:r>
            <a:r>
              <a:rPr sz="1800" dirty="0">
                <a:solidFill>
                  <a:schemeClr val="accent1"/>
                </a:solidFill>
                <a:latin typeface="微软雅黑" panose="020B0503020204020204" pitchFamily="34" charset="-122"/>
                <a:ea typeface="微软雅黑" panose="020B0503020204020204" pitchFamily="34" charset="-122"/>
                <a:cs typeface="+mn-ea"/>
                <a:sym typeface="+mn-lt"/>
              </a:rPr>
              <a:t>异步的短信验证码服务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的案例，演示</a:t>
            </a:r>
            <a:r>
              <a:rPr sz="1800" dirty="0">
                <a:solidFill>
                  <a:schemeClr val="accent1"/>
                </a:solidFill>
                <a:latin typeface="微软雅黑" panose="020B0503020204020204" pitchFamily="34" charset="-122"/>
                <a:ea typeface="微软雅黑" panose="020B0503020204020204" pitchFamily="34" charset="-122"/>
                <a:cs typeface="+mn-ea"/>
                <a:sym typeface="+mn-lt"/>
              </a:rPr>
              <a:t>无返回值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的异步任务调用。</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（1）</a:t>
            </a:r>
            <a:r>
              <a:rPr sz="1800" dirty="0">
                <a:solidFill>
                  <a:schemeClr val="accent1"/>
                </a:solidFill>
                <a:latin typeface="微软雅黑" panose="020B0503020204020204" pitchFamily="34" charset="-122"/>
                <a:ea typeface="微软雅黑" panose="020B0503020204020204" pitchFamily="34" charset="-122"/>
                <a:cs typeface="+mn-ea"/>
                <a:sym typeface="+mn-lt"/>
              </a:rPr>
              <a:t>创建</a:t>
            </a:r>
            <a:r>
              <a:rPr sz="1800" dirty="0">
                <a:solidFill>
                  <a:schemeClr val="accent1"/>
                </a:solidFill>
                <a:latin typeface="微软雅黑" panose="020B0503020204020204" pitchFamily="34" charset="-122"/>
                <a:ea typeface="微软雅黑" panose="020B0503020204020204" pitchFamily="34" charset="-122"/>
                <a:cs typeface="+mn-ea"/>
                <a:sym typeface="+mn-lt"/>
              </a:rPr>
              <a:t>Spring Boot项目</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Spring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框架提供了对</a:t>
            </a:r>
            <a:r>
              <a:rPr sz="1800" dirty="0">
                <a:solidFill>
                  <a:schemeClr val="accent1"/>
                </a:solidFill>
                <a:latin typeface="微软雅黑" panose="020B0503020204020204" pitchFamily="34" charset="-122"/>
                <a:ea typeface="微软雅黑" panose="020B0503020204020204" pitchFamily="34" charset="-122"/>
                <a:cs typeface="+mn-ea"/>
                <a:sym typeface="+mn-lt"/>
              </a:rPr>
              <a:t>异步任务的支持</a:t>
            </a:r>
            <a:r>
              <a:rPr lang="zh-CN" sz="1800" dirty="0">
                <a:solidFill>
                  <a:srgbClr val="595959"/>
                </a:solidFill>
                <a:latin typeface="微软雅黑" panose="020B0503020204020204" pitchFamily="34" charset="-122"/>
                <a:ea typeface="微软雅黑" panose="020B0503020204020204" pitchFamily="34" charset="-122"/>
                <a:cs typeface="+mn-ea"/>
                <a:sym typeface="+mn-lt"/>
              </a:rPr>
              <a:t>，Spring Boot框架</a:t>
            </a:r>
            <a:r>
              <a:rPr sz="1800" dirty="0">
                <a:solidFill>
                  <a:schemeClr val="accent1"/>
                </a:solidFill>
                <a:latin typeface="微软雅黑" panose="020B0503020204020204" pitchFamily="34" charset="-122"/>
                <a:ea typeface="微软雅黑" panose="020B0503020204020204" pitchFamily="34" charset="-122"/>
                <a:cs typeface="+mn-ea"/>
                <a:sym typeface="+mn-lt"/>
              </a:rPr>
              <a:t>继承</a:t>
            </a:r>
            <a:r>
              <a:rPr lang="zh-CN" sz="1800" dirty="0">
                <a:solidFill>
                  <a:srgbClr val="595959"/>
                </a:solidFill>
                <a:latin typeface="微软雅黑" panose="020B0503020204020204" pitchFamily="34" charset="-122"/>
                <a:ea typeface="微软雅黑" panose="020B0503020204020204" pitchFamily="34" charset="-122"/>
                <a:cs typeface="+mn-ea"/>
                <a:sym typeface="+mn-lt"/>
              </a:rPr>
              <a:t>了这一异步任务功能，在Spring Boot中整合异步任务时，只需在项目中</a:t>
            </a:r>
            <a:r>
              <a:rPr sz="1800" dirty="0">
                <a:solidFill>
                  <a:schemeClr val="accent1"/>
                </a:solidFill>
                <a:latin typeface="微软雅黑" panose="020B0503020204020204" pitchFamily="34" charset="-122"/>
                <a:ea typeface="微软雅黑" panose="020B0503020204020204" pitchFamily="34" charset="-122"/>
                <a:cs typeface="+mn-ea"/>
                <a:sym typeface="+mn-lt"/>
              </a:rPr>
              <a:t>引入</a:t>
            </a:r>
            <a:r>
              <a:rPr lang="zh-CN" sz="1800" dirty="0">
                <a:solidFill>
                  <a:srgbClr val="595959"/>
                </a:solidFill>
                <a:latin typeface="微软雅黑" panose="020B0503020204020204" pitchFamily="34" charset="-122"/>
                <a:ea typeface="微软雅黑" panose="020B0503020204020204" pitchFamily="34" charset="-122"/>
                <a:cs typeface="+mn-ea"/>
                <a:sym typeface="+mn-lt"/>
              </a:rPr>
              <a:t>Web模块中的</a:t>
            </a:r>
            <a:r>
              <a:rPr sz="1800" dirty="0">
                <a:solidFill>
                  <a:schemeClr val="accent1"/>
                </a:solidFill>
                <a:latin typeface="微软雅黑" panose="020B0503020204020204" pitchFamily="34" charset="-122"/>
                <a:ea typeface="微软雅黑" panose="020B0503020204020204" pitchFamily="34" charset="-122"/>
                <a:cs typeface="+mn-ea"/>
                <a:sym typeface="+mn-lt"/>
              </a:rPr>
              <a:t>Spring Web依赖</a:t>
            </a:r>
            <a:r>
              <a:rPr lang="zh-CN" sz="1800" dirty="0">
                <a:solidFill>
                  <a:srgbClr val="595959"/>
                </a:solidFill>
                <a:latin typeface="微软雅黑" panose="020B0503020204020204" pitchFamily="34" charset="-122"/>
                <a:ea typeface="微软雅黑" panose="020B0503020204020204" pitchFamily="34" charset="-122"/>
                <a:cs typeface="+mn-ea"/>
                <a:sym typeface="+mn-lt"/>
              </a:rPr>
              <a:t>就可以使用这种异步任务功能。</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使用</a:t>
            </a:r>
            <a:r>
              <a:rPr sz="1800" dirty="0">
                <a:solidFill>
                  <a:schemeClr val="accent1"/>
                </a:solidFill>
                <a:latin typeface="微软雅黑" panose="020B0503020204020204" pitchFamily="34" charset="-122"/>
                <a:ea typeface="微软雅黑" panose="020B0503020204020204" pitchFamily="34" charset="-122"/>
                <a:cs typeface="+mn-ea"/>
                <a:sym typeface="+mn-lt"/>
              </a:rPr>
              <a:t>Spring Initializr方式</a:t>
            </a:r>
            <a:r>
              <a:rPr lang="zh-CN" sz="1800" dirty="0">
                <a:solidFill>
                  <a:srgbClr val="595959"/>
                </a:solidFill>
                <a:latin typeface="微软雅黑" panose="020B0503020204020204" pitchFamily="34" charset="-122"/>
                <a:ea typeface="微软雅黑" panose="020B0503020204020204" pitchFamily="34" charset="-122"/>
                <a:cs typeface="+mn-ea"/>
                <a:sym typeface="+mn-lt"/>
              </a:rPr>
              <a:t>创建一个名为chapter09的Spring Boot项目，在Dependencies依赖中选择Web模块中的Spring Web依赖。</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（2）</a:t>
            </a:r>
            <a:r>
              <a:rPr sz="1800" dirty="0">
                <a:solidFill>
                  <a:schemeClr val="accent1"/>
                </a:solidFill>
                <a:latin typeface="微软雅黑" panose="020B0503020204020204" pitchFamily="34" charset="-122"/>
                <a:ea typeface="微软雅黑" panose="020B0503020204020204" pitchFamily="34" charset="-122"/>
                <a:cs typeface="+mn-ea"/>
                <a:sym typeface="+mn-lt"/>
              </a:rPr>
              <a:t>编写业务层异步方法</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在chapter09项目中创建名为com.itheima.chapter09.service的包，并在该包下创建一个</a:t>
            </a:r>
            <a:r>
              <a:rPr sz="1800" dirty="0">
                <a:solidFill>
                  <a:schemeClr val="accent1"/>
                </a:solidFill>
                <a:latin typeface="微软雅黑" panose="020B0503020204020204" pitchFamily="34" charset="-122"/>
                <a:ea typeface="微软雅黑" panose="020B0503020204020204" pitchFamily="34" charset="-122"/>
                <a:cs typeface="+mn-ea"/>
                <a:sym typeface="+mn-lt"/>
              </a:rPr>
              <a:t>业务实现类AsyncTaskService</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，在该类中模拟</a:t>
            </a:r>
            <a:r>
              <a:rPr sz="1800" dirty="0">
                <a:solidFill>
                  <a:schemeClr val="accent1"/>
                </a:solidFill>
                <a:latin typeface="微软雅黑" panose="020B0503020204020204" pitchFamily="34" charset="-122"/>
                <a:ea typeface="微软雅黑" panose="020B0503020204020204" pitchFamily="34" charset="-122"/>
                <a:cs typeface="+mn-ea"/>
                <a:sym typeface="+mn-lt"/>
              </a:rPr>
              <a:t>调用短信验证码服务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，具体如文件9-1所示。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94888"/>
            <a:ext cx="2232248" cy="2232248"/>
          </a:xfrm>
          <a:prstGeom prst="rect">
            <a:avLst/>
          </a:prstGeom>
        </p:spPr>
      </p:pic>
      <p:grpSp>
        <p:nvGrpSpPr>
          <p:cNvPr id="12" name="组合 11"/>
          <p:cNvGrpSpPr/>
          <p:nvPr/>
        </p:nvGrpSpPr>
        <p:grpSpPr>
          <a:xfrm>
            <a:off x="5675998" y="380376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en-US" sz="1600" dirty="0">
                    <a:latin typeface="微软雅黑" panose="020B0503020204020204" pitchFamily="34" charset="-122"/>
                    <a:ea typeface="微软雅黑" panose="020B0503020204020204" pitchFamily="34" charset="-122"/>
                    <a:sym typeface="+mn-ea"/>
                  </a:rPr>
                  <a:t>文件9-1</a:t>
                </a:r>
                <a:endParaRPr lang="en-US" sz="1600" dirty="0">
                  <a:latin typeface="微软雅黑" panose="020B0503020204020204" pitchFamily="34" charset="-122"/>
                  <a:ea typeface="微软雅黑" panose="020B0503020204020204" pitchFamily="34" charset="-122"/>
                  <a:sym typeface="+mn-ea"/>
                </a:endParaRPr>
              </a:p>
              <a:p>
                <a:pPr algn="ctr">
                  <a:lnSpc>
                    <a:spcPct val="150000"/>
                  </a:lnSpc>
                </a:pPr>
                <a:r>
                  <a:rPr lang="en-US" sz="1600" dirty="0">
                    <a:latin typeface="微软雅黑" panose="020B0503020204020204" pitchFamily="34" charset="-122"/>
                    <a:ea typeface="微软雅黑" panose="020B0503020204020204" pitchFamily="34" charset="-122"/>
                    <a:sym typeface="+mn-ea"/>
                    <a:hlinkClick r:id="rId7"/>
                  </a:rPr>
                  <a:t>AsyncTaskService.java</a:t>
                </a:r>
                <a:endParaRPr lang="en-US" sz="1600" dirty="0">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（3）</a:t>
            </a:r>
            <a:r>
              <a:rPr sz="1800" dirty="0">
                <a:solidFill>
                  <a:schemeClr val="accent1"/>
                </a:solidFill>
                <a:latin typeface="微软雅黑" panose="020B0503020204020204" pitchFamily="34" charset="-122"/>
                <a:ea typeface="微软雅黑" panose="020B0503020204020204" pitchFamily="34" charset="-122"/>
                <a:cs typeface="+mn-ea"/>
                <a:sym typeface="+mn-lt"/>
              </a:rPr>
              <a:t>编写控制层业务调用代码</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在chapter09项目中创建名为com.itheima.chapter09.controller的包，并在该包下创建</a:t>
            </a:r>
            <a:r>
              <a:rPr sz="1800" dirty="0">
                <a:solidFill>
                  <a:schemeClr val="accent1"/>
                </a:solidFill>
                <a:latin typeface="微软雅黑" panose="020B0503020204020204" pitchFamily="34" charset="-122"/>
                <a:ea typeface="微软雅黑" panose="020B0503020204020204" pitchFamily="34" charset="-122"/>
                <a:cs typeface="+mn-ea"/>
                <a:sym typeface="+mn-lt"/>
              </a:rPr>
              <a:t>控制器类TaskController</a:t>
            </a:r>
            <a:r>
              <a:rPr lang="zh-CN" sz="1800" dirty="0">
                <a:solidFill>
                  <a:srgbClr val="595959"/>
                </a:solidFill>
                <a:latin typeface="微软雅黑" panose="020B0503020204020204" pitchFamily="34" charset="-122"/>
                <a:ea typeface="微软雅黑" panose="020B0503020204020204" pitchFamily="34" charset="-122"/>
                <a:cs typeface="+mn-ea"/>
                <a:sym typeface="+mn-lt"/>
              </a:rPr>
              <a:t>，并在该类中</a:t>
            </a:r>
            <a:r>
              <a:rPr sz="1800" dirty="0">
                <a:solidFill>
                  <a:schemeClr val="accent1"/>
                </a:solidFill>
                <a:latin typeface="微软雅黑" panose="020B0503020204020204" pitchFamily="34" charset="-122"/>
                <a:ea typeface="微软雅黑" panose="020B0503020204020204" pitchFamily="34" charset="-122"/>
                <a:cs typeface="+mn-ea"/>
                <a:sym typeface="+mn-lt"/>
              </a:rPr>
              <a:t>定义</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方法</a:t>
            </a:r>
            <a:r>
              <a:rPr sz="1800" dirty="0">
                <a:solidFill>
                  <a:schemeClr val="accent1"/>
                </a:solidFill>
                <a:latin typeface="微软雅黑" panose="020B0503020204020204" pitchFamily="34" charset="-122"/>
                <a:ea typeface="微软雅黑" panose="020B0503020204020204" pitchFamily="34" charset="-122"/>
                <a:cs typeface="+mn-ea"/>
                <a:sym typeface="+mn-lt"/>
              </a:rPr>
              <a:t>调用</a:t>
            </a:r>
            <a:r>
              <a:rPr lang="en-US" sz="1800" dirty="0">
                <a:solidFill>
                  <a:schemeClr val="accent1"/>
                </a:solidFill>
                <a:latin typeface="微软雅黑" panose="020B0503020204020204" pitchFamily="34" charset="-122"/>
                <a:ea typeface="微软雅黑" panose="020B0503020204020204" pitchFamily="34" charset="-122"/>
                <a:cs typeface="+mn-ea"/>
                <a:sym typeface="+mn-lt"/>
              </a:rPr>
              <a:t>Service</a:t>
            </a:r>
            <a:r>
              <a:rPr lang="zh-CN" altLang="en-US" sz="1800" dirty="0">
                <a:solidFill>
                  <a:schemeClr val="accent1"/>
                </a:solidFill>
                <a:latin typeface="微软雅黑" panose="020B0503020204020204" pitchFamily="34" charset="-122"/>
                <a:ea typeface="微软雅黑" panose="020B0503020204020204" pitchFamily="34" charset="-122"/>
                <a:cs typeface="+mn-ea"/>
                <a:sym typeface="+mn-lt"/>
              </a:rPr>
              <a:t>层的</a:t>
            </a:r>
            <a:r>
              <a:rPr sz="1800" dirty="0">
                <a:solidFill>
                  <a:schemeClr val="accent1"/>
                </a:solidFill>
                <a:latin typeface="微软雅黑" panose="020B0503020204020204" pitchFamily="34" charset="-122"/>
                <a:ea typeface="微软雅黑" panose="020B0503020204020204" pitchFamily="34" charset="-122"/>
                <a:cs typeface="+mn-ea"/>
                <a:sym typeface="+mn-lt"/>
              </a:rPr>
              <a:t>短信验证码服务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，具体如文件9-2所示。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94888"/>
            <a:ext cx="2232248" cy="2232248"/>
          </a:xfrm>
          <a:prstGeom prst="rect">
            <a:avLst/>
          </a:prstGeom>
        </p:spPr>
      </p:pic>
      <p:grpSp>
        <p:nvGrpSpPr>
          <p:cNvPr id="12" name="组合 11"/>
          <p:cNvGrpSpPr/>
          <p:nvPr/>
        </p:nvGrpSpPr>
        <p:grpSpPr>
          <a:xfrm>
            <a:off x="5675998" y="380376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en-US" sz="1600" dirty="0">
                    <a:latin typeface="微软雅黑" panose="020B0503020204020204" pitchFamily="34" charset="-122"/>
                    <a:ea typeface="微软雅黑" panose="020B0503020204020204" pitchFamily="34" charset="-122"/>
                    <a:sym typeface="+mn-ea"/>
                  </a:rPr>
                  <a:t>文件9-2</a:t>
                </a:r>
                <a:endParaRPr lang="en-US" sz="1600" dirty="0">
                  <a:latin typeface="微软雅黑" panose="020B0503020204020204" pitchFamily="34" charset="-122"/>
                  <a:ea typeface="微软雅黑" panose="020B0503020204020204" pitchFamily="34" charset="-122"/>
                  <a:sym typeface="+mn-ea"/>
                </a:endParaRPr>
              </a:p>
              <a:p>
                <a:pPr algn="ctr">
                  <a:lnSpc>
                    <a:spcPct val="150000"/>
                  </a:lnSpc>
                </a:pPr>
                <a:r>
                  <a:rPr lang="en-US" sz="1600" dirty="0">
                    <a:latin typeface="微软雅黑" panose="020B0503020204020204" pitchFamily="34" charset="-122"/>
                    <a:ea typeface="微软雅黑" panose="020B0503020204020204" pitchFamily="34" charset="-122"/>
                    <a:sym typeface="+mn-ea"/>
                    <a:hlinkClick r:id="rId7"/>
                  </a:rPr>
                  <a:t>TaskController.java</a:t>
                </a:r>
                <a:endParaRPr lang="en-US" sz="1600" dirty="0">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（4）</a:t>
            </a:r>
            <a:r>
              <a:rPr sz="1800" dirty="0">
                <a:solidFill>
                  <a:schemeClr val="accent1"/>
                </a:solidFill>
                <a:latin typeface="微软雅黑" panose="020B0503020204020204" pitchFamily="34" charset="-122"/>
                <a:ea typeface="微软雅黑" panose="020B0503020204020204" pitchFamily="34" charset="-122"/>
                <a:cs typeface="+mn-ea"/>
                <a:sym typeface="+mn-lt"/>
              </a:rPr>
              <a:t>开启基于注解的异步任务支持</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@Async注解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只是</a:t>
            </a:r>
            <a:r>
              <a:rPr sz="1800" dirty="0">
                <a:solidFill>
                  <a:schemeClr val="accent1"/>
                </a:solidFill>
                <a:latin typeface="微软雅黑" panose="020B0503020204020204" pitchFamily="34" charset="-122"/>
                <a:ea typeface="微软雅黑" panose="020B0503020204020204" pitchFamily="34" charset="-122"/>
                <a:cs typeface="+mn-ea"/>
                <a:sym typeface="+mn-lt"/>
              </a:rPr>
              <a:t>标注</a:t>
            </a:r>
            <a:r>
              <a:rPr lang="zh-CN" sz="1800" dirty="0">
                <a:solidFill>
                  <a:srgbClr val="595959"/>
                </a:solidFill>
                <a:latin typeface="微软雅黑" panose="020B0503020204020204" pitchFamily="34" charset="-122"/>
                <a:ea typeface="微软雅黑" panose="020B0503020204020204" pitchFamily="34" charset="-122"/>
                <a:cs typeface="+mn-ea"/>
                <a:sym typeface="+mn-lt"/>
              </a:rPr>
              <a:t>方法具有</a:t>
            </a:r>
            <a:r>
              <a:rPr sz="1800" dirty="0">
                <a:solidFill>
                  <a:schemeClr val="accent1"/>
                </a:solidFill>
                <a:latin typeface="微软雅黑" panose="020B0503020204020204" pitchFamily="34" charset="-122"/>
                <a:ea typeface="微软雅黑" panose="020B0503020204020204" pitchFamily="34" charset="-122"/>
                <a:cs typeface="+mn-ea"/>
                <a:sym typeface="+mn-lt"/>
              </a:rPr>
              <a:t>异步执行的功能</a:t>
            </a:r>
            <a:r>
              <a:rPr lang="zh-CN" sz="1800" dirty="0">
                <a:solidFill>
                  <a:srgbClr val="595959"/>
                </a:solidFill>
                <a:latin typeface="微软雅黑" panose="020B0503020204020204" pitchFamily="34" charset="-122"/>
                <a:ea typeface="微软雅黑" panose="020B0503020204020204" pitchFamily="34" charset="-122"/>
                <a:cs typeface="+mn-ea"/>
                <a:sym typeface="+mn-lt"/>
              </a:rPr>
              <a:t>，但</a:t>
            </a:r>
            <a:r>
              <a:rPr sz="1800" dirty="0">
                <a:solidFill>
                  <a:schemeClr val="accent1"/>
                </a:solidFill>
                <a:latin typeface="微软雅黑" panose="020B0503020204020204" pitchFamily="34" charset="-122"/>
                <a:ea typeface="微软雅黑" panose="020B0503020204020204" pitchFamily="34" charset="-122"/>
                <a:cs typeface="+mn-ea"/>
                <a:sym typeface="+mn-lt"/>
              </a:rPr>
              <a:t>异步任务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的支持</a:t>
            </a:r>
            <a:r>
              <a:rPr sz="1800" dirty="0">
                <a:solidFill>
                  <a:schemeClr val="accent1"/>
                </a:solidFill>
                <a:latin typeface="微软雅黑" panose="020B0503020204020204" pitchFamily="34" charset="-122"/>
                <a:ea typeface="微软雅黑" panose="020B0503020204020204" pitchFamily="34" charset="-122"/>
                <a:cs typeface="+mn-ea"/>
                <a:sym typeface="+mn-lt"/>
              </a:rPr>
              <a:t>默认</a:t>
            </a:r>
            <a:r>
              <a:rPr lang="zh-CN" sz="1800" dirty="0">
                <a:solidFill>
                  <a:srgbClr val="595959"/>
                </a:solidFill>
                <a:latin typeface="微软雅黑" panose="020B0503020204020204" pitchFamily="34" charset="-122"/>
                <a:ea typeface="微软雅黑" panose="020B0503020204020204" pitchFamily="34" charset="-122"/>
                <a:cs typeface="+mn-ea"/>
                <a:sym typeface="+mn-lt"/>
              </a:rPr>
              <a:t>情况并</a:t>
            </a:r>
            <a:r>
              <a:rPr sz="1800" dirty="0">
                <a:solidFill>
                  <a:schemeClr val="accent1"/>
                </a:solidFill>
                <a:latin typeface="微软雅黑" panose="020B0503020204020204" pitchFamily="34" charset="-122"/>
                <a:ea typeface="微软雅黑" panose="020B0503020204020204" pitchFamily="34" charset="-122"/>
                <a:cs typeface="+mn-ea"/>
                <a:sym typeface="+mn-lt"/>
              </a:rPr>
              <a:t>没有开启</a:t>
            </a:r>
            <a:r>
              <a:rPr lang="zh-CN" sz="1800" dirty="0">
                <a:solidFill>
                  <a:srgbClr val="595959"/>
                </a:solidFill>
                <a:latin typeface="微软雅黑" panose="020B0503020204020204" pitchFamily="34" charset="-122"/>
                <a:ea typeface="微软雅黑" panose="020B0503020204020204" pitchFamily="34" charset="-122"/>
                <a:cs typeface="+mn-ea"/>
                <a:sym typeface="+mn-lt"/>
              </a:rPr>
              <a:t>，Spring提供的</a:t>
            </a:r>
            <a:r>
              <a:rPr sz="1800" dirty="0">
                <a:solidFill>
                  <a:schemeClr val="accent1"/>
                </a:solidFill>
                <a:latin typeface="微软雅黑" panose="020B0503020204020204" pitchFamily="34" charset="-122"/>
                <a:ea typeface="微软雅黑" panose="020B0503020204020204" pitchFamily="34" charset="-122"/>
                <a:cs typeface="+mn-ea"/>
                <a:sym typeface="+mn-lt"/>
              </a:rPr>
              <a:t>@EnableAsync注解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可以</a:t>
            </a:r>
            <a:r>
              <a:rPr sz="1800" dirty="0">
                <a:solidFill>
                  <a:schemeClr val="accent1"/>
                </a:solidFill>
                <a:latin typeface="微软雅黑" panose="020B0503020204020204" pitchFamily="34" charset="-122"/>
                <a:ea typeface="微软雅黑" panose="020B0503020204020204" pitchFamily="34" charset="-122"/>
                <a:cs typeface="+mn-ea"/>
                <a:sym typeface="+mn-lt"/>
              </a:rPr>
              <a:t>开启</a:t>
            </a:r>
            <a:r>
              <a:rPr lang="zh-CN" sz="1800" dirty="0">
                <a:solidFill>
                  <a:srgbClr val="595959"/>
                </a:solidFill>
                <a:latin typeface="微软雅黑" panose="020B0503020204020204" pitchFamily="34" charset="-122"/>
                <a:ea typeface="微软雅黑" panose="020B0503020204020204" pitchFamily="34" charset="-122"/>
                <a:cs typeface="+mn-ea"/>
                <a:sym typeface="+mn-lt"/>
              </a:rPr>
              <a:t>基于注解的</a:t>
            </a:r>
            <a:r>
              <a:rPr sz="1800" dirty="0">
                <a:solidFill>
                  <a:schemeClr val="accent1"/>
                </a:solidFill>
                <a:latin typeface="微软雅黑" panose="020B0503020204020204" pitchFamily="34" charset="-122"/>
                <a:ea typeface="微软雅黑" panose="020B0503020204020204" pitchFamily="34" charset="-122"/>
                <a:cs typeface="+mn-ea"/>
                <a:sym typeface="+mn-lt"/>
              </a:rPr>
              <a:t>异步任务支持</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。在项目启动类上添加@EnableAsync注解开启异步任务支持，具体如文件9-3所示。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94888"/>
            <a:ext cx="2232248" cy="2232248"/>
          </a:xfrm>
          <a:prstGeom prst="rect">
            <a:avLst/>
          </a:prstGeom>
        </p:spPr>
      </p:pic>
      <p:grpSp>
        <p:nvGrpSpPr>
          <p:cNvPr id="12" name="组合 11"/>
          <p:cNvGrpSpPr/>
          <p:nvPr/>
        </p:nvGrpSpPr>
        <p:grpSpPr>
          <a:xfrm>
            <a:off x="5675998" y="380376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en-US" sz="1600" dirty="0">
                    <a:latin typeface="微软雅黑" panose="020B0503020204020204" pitchFamily="34" charset="-122"/>
                    <a:ea typeface="微软雅黑" panose="020B0503020204020204" pitchFamily="34" charset="-122"/>
                    <a:sym typeface="+mn-ea"/>
                  </a:rPr>
                  <a:t>文件9-3</a:t>
                </a:r>
                <a:endParaRPr lang="en-US" sz="1600" dirty="0">
                  <a:latin typeface="微软雅黑" panose="020B0503020204020204" pitchFamily="34" charset="-122"/>
                  <a:ea typeface="微软雅黑" panose="020B0503020204020204" pitchFamily="34" charset="-122"/>
                  <a:sym typeface="+mn-ea"/>
                </a:endParaRPr>
              </a:p>
              <a:p>
                <a:pPr algn="ctr">
                  <a:lnSpc>
                    <a:spcPct val="150000"/>
                  </a:lnSpc>
                </a:pPr>
                <a:r>
                  <a:rPr lang="en-US" sz="1600" dirty="0">
                    <a:latin typeface="微软雅黑" panose="020B0503020204020204" pitchFamily="34" charset="-122"/>
                    <a:ea typeface="微软雅黑" panose="020B0503020204020204" pitchFamily="34" charset="-122"/>
                    <a:sym typeface="+mn-ea"/>
                    <a:hlinkClick r:id="rId7"/>
                  </a:rPr>
                  <a:t>Chapter09Application.java</a:t>
                </a:r>
                <a:endParaRPr lang="en-US" sz="1600" dirty="0">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（5）</a:t>
            </a:r>
            <a:r>
              <a:rPr sz="1800" dirty="0">
                <a:solidFill>
                  <a:schemeClr val="accent1"/>
                </a:solidFill>
                <a:latin typeface="微软雅黑" panose="020B0503020204020204" pitchFamily="34" charset="-122"/>
                <a:ea typeface="微软雅黑" panose="020B0503020204020204" pitchFamily="34" charset="-122"/>
                <a:cs typeface="+mn-ea"/>
                <a:sym typeface="+mn-lt"/>
              </a:rPr>
              <a:t>测试</a:t>
            </a:r>
            <a:r>
              <a:rPr sz="1800" dirty="0">
                <a:solidFill>
                  <a:schemeClr val="accent1"/>
                </a:solidFill>
                <a:latin typeface="微软雅黑" panose="020B0503020204020204" pitchFamily="34" charset="-122"/>
                <a:ea typeface="微软雅黑" panose="020B0503020204020204" pitchFamily="34" charset="-122"/>
                <a:cs typeface="+mn-ea"/>
                <a:sym typeface="+mn-lt"/>
              </a:rPr>
              <a:t>效果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启动chapter09项目，项目启动成功后，在浏览器中访问“</a:t>
            </a:r>
            <a:r>
              <a:rPr sz="1800" dirty="0">
                <a:solidFill>
                  <a:schemeClr val="accent1"/>
                </a:solidFill>
                <a:latin typeface="微软雅黑" panose="020B0503020204020204" pitchFamily="34" charset="-122"/>
                <a:ea typeface="微软雅黑" panose="020B0503020204020204" pitchFamily="34" charset="-122"/>
                <a:cs typeface="+mn-ea"/>
                <a:sym typeface="+mn-lt"/>
              </a:rPr>
              <a:t>http://localhost:8080/sendSMS</a:t>
            </a:r>
            <a:r>
              <a:rPr lang="zh-CN" sz="1800" dirty="0">
                <a:solidFill>
                  <a:srgbClr val="595959"/>
                </a:solidFill>
                <a:latin typeface="微软雅黑" panose="020B0503020204020204" pitchFamily="34" charset="-122"/>
                <a:ea typeface="微软雅黑" panose="020B0503020204020204" pitchFamily="34" charset="-122"/>
                <a:cs typeface="+mn-ea"/>
                <a:sym typeface="+mn-lt"/>
              </a:rPr>
              <a:t>”请求</a:t>
            </a:r>
            <a:r>
              <a:rPr sz="1800" dirty="0">
                <a:solidFill>
                  <a:schemeClr val="accent1"/>
                </a:solidFill>
                <a:latin typeface="微软雅黑" panose="020B0503020204020204" pitchFamily="34" charset="-122"/>
                <a:ea typeface="微软雅黑" panose="020B0503020204020204" pitchFamily="34" charset="-122"/>
                <a:cs typeface="+mn-ea"/>
                <a:sym typeface="+mn-lt"/>
              </a:rPr>
              <a:t>调用短信验证码服务</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3" name="图片 9"/>
          <p:cNvPicPr>
            <a:picLocks noChangeAspect="1"/>
          </p:cNvPicPr>
          <p:nvPr>
            <p:custDataLst>
              <p:tags r:id="rId4"/>
            </p:custDataLst>
          </p:nvPr>
        </p:nvPicPr>
        <p:blipFill>
          <a:blip r:embed="rId5"/>
          <a:stretch>
            <a:fillRect/>
          </a:stretch>
        </p:blipFill>
        <p:spPr>
          <a:xfrm>
            <a:off x="2152333" y="3862070"/>
            <a:ext cx="7966800" cy="1949916"/>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IDEA</a:t>
            </a:r>
            <a:r>
              <a:rPr sz="1800" dirty="0">
                <a:solidFill>
                  <a:schemeClr val="accent1"/>
                </a:solidFill>
                <a:latin typeface="微软雅黑" panose="020B0503020204020204" pitchFamily="34" charset="-122"/>
                <a:ea typeface="微软雅黑" panose="020B0503020204020204" pitchFamily="34" charset="-122"/>
                <a:cs typeface="+mn-ea"/>
                <a:sym typeface="+mn-lt"/>
              </a:rPr>
              <a:t>控制台</a:t>
            </a:r>
            <a:r>
              <a:rPr lang="zh-CN" sz="1800" dirty="0">
                <a:solidFill>
                  <a:srgbClr val="595959"/>
                </a:solidFill>
                <a:latin typeface="微软雅黑" panose="020B0503020204020204" pitchFamily="34" charset="-122"/>
                <a:ea typeface="微软雅黑" panose="020B0503020204020204" pitchFamily="34" charset="-122"/>
                <a:cs typeface="+mn-ea"/>
                <a:sym typeface="+mn-lt"/>
              </a:rPr>
              <a:t>输出短信验证码业务</a:t>
            </a:r>
            <a:r>
              <a:rPr sz="1800" dirty="0">
                <a:solidFill>
                  <a:schemeClr val="accent1"/>
                </a:solidFill>
                <a:latin typeface="微软雅黑" panose="020B0503020204020204" pitchFamily="34" charset="-122"/>
                <a:ea typeface="微软雅黑" panose="020B0503020204020204" pitchFamily="34" charset="-122"/>
                <a:cs typeface="+mn-ea"/>
                <a:sym typeface="+mn-lt"/>
              </a:rPr>
              <a:t>方法执行的信息</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1.无返回值异步任务调用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3" name="图片 -2147482614"/>
          <p:cNvPicPr>
            <a:picLocks noChangeAspect="1"/>
          </p:cNvPicPr>
          <p:nvPr>
            <p:custDataLst>
              <p:tags r:id="rId4"/>
            </p:custDataLst>
          </p:nvPr>
        </p:nvPicPr>
        <p:blipFill>
          <a:blip r:embed="rId5"/>
          <a:stretch>
            <a:fillRect/>
          </a:stretch>
        </p:blipFill>
        <p:spPr>
          <a:xfrm>
            <a:off x="1851978" y="2997518"/>
            <a:ext cx="8640000" cy="2193528"/>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77720"/>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下面通过在Spring Boot项目中统计2个地区的销售金额的案例，演示</a:t>
            </a:r>
            <a:r>
              <a:rPr sz="1800" dirty="0">
                <a:solidFill>
                  <a:schemeClr val="accent1"/>
                </a:solidFill>
                <a:latin typeface="微软雅黑" panose="020B0503020204020204" pitchFamily="34" charset="-122"/>
                <a:ea typeface="微软雅黑" panose="020B0503020204020204" pitchFamily="34" charset="-122"/>
                <a:cs typeface="+mn-ea"/>
                <a:sym typeface="+mn-lt"/>
              </a:rPr>
              <a:t>有返回值的异步任务调用</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（1）</a:t>
            </a:r>
            <a:r>
              <a:rPr sz="1800" dirty="0">
                <a:solidFill>
                  <a:schemeClr val="accent1"/>
                </a:solidFill>
                <a:latin typeface="微软雅黑" panose="020B0503020204020204" pitchFamily="34" charset="-122"/>
                <a:ea typeface="微软雅黑" panose="020B0503020204020204" pitchFamily="34" charset="-122"/>
                <a:cs typeface="+mn-ea"/>
                <a:sym typeface="+mn-lt"/>
              </a:rPr>
              <a:t>编写异步方法</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在文件9-1的</a:t>
            </a:r>
            <a:r>
              <a:rPr sz="1800" dirty="0">
                <a:solidFill>
                  <a:schemeClr val="accent1"/>
                </a:solidFill>
                <a:latin typeface="微软雅黑" panose="020B0503020204020204" pitchFamily="34" charset="-122"/>
                <a:ea typeface="微软雅黑" panose="020B0503020204020204" pitchFamily="34" charset="-122"/>
                <a:cs typeface="+mn-ea"/>
                <a:sym typeface="+mn-lt"/>
              </a:rPr>
              <a:t>AsyncTaskService类</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a:t>
            </a:r>
            <a:r>
              <a:rPr sz="1800" dirty="0">
                <a:solidFill>
                  <a:schemeClr val="accent1"/>
                </a:solidFill>
                <a:latin typeface="微软雅黑" panose="020B0503020204020204" pitchFamily="34" charset="-122"/>
                <a:ea typeface="微软雅黑" panose="020B0503020204020204" pitchFamily="34" charset="-122"/>
                <a:cs typeface="+mn-ea"/>
                <a:sym typeface="+mn-lt"/>
              </a:rPr>
              <a:t>新增</a:t>
            </a:r>
            <a:r>
              <a:rPr lang="zh-CN" sz="1800" dirty="0">
                <a:solidFill>
                  <a:srgbClr val="595959"/>
                </a:solidFill>
                <a:latin typeface="微软雅黑" panose="020B0503020204020204" pitchFamily="34" charset="-122"/>
                <a:ea typeface="微软雅黑" panose="020B0503020204020204" pitchFamily="34" charset="-122"/>
                <a:cs typeface="+mn-ea"/>
                <a:sym typeface="+mn-lt"/>
              </a:rPr>
              <a:t>统计地区销售金额的</a:t>
            </a:r>
            <a:r>
              <a:rPr sz="1800" dirty="0">
                <a:solidFill>
                  <a:schemeClr val="accent1"/>
                </a:solidFill>
                <a:latin typeface="微软雅黑" panose="020B0503020204020204" pitchFamily="34" charset="-122"/>
                <a:ea typeface="微软雅黑" panose="020B0503020204020204" pitchFamily="34" charset="-122"/>
                <a:cs typeface="+mn-ea"/>
                <a:sym typeface="+mn-lt"/>
              </a:rPr>
              <a:t>异步方法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2.有返回值异步任务调用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766643"/>
            <a:ext cx="2232248" cy="2232248"/>
          </a:xfrm>
          <a:prstGeom prst="rect">
            <a:avLst/>
          </a:prstGeom>
        </p:spPr>
      </p:pic>
      <p:grpSp>
        <p:nvGrpSpPr>
          <p:cNvPr id="12" name="组合 11"/>
          <p:cNvGrpSpPr/>
          <p:nvPr/>
        </p:nvGrpSpPr>
        <p:grpSpPr>
          <a:xfrm>
            <a:off x="5675998" y="387551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zh-CN" sz="1600" dirty="0">
                    <a:solidFill>
                      <a:srgbClr val="595959"/>
                    </a:solidFill>
                    <a:latin typeface="微软雅黑" panose="020B0503020204020204" pitchFamily="34" charset="-122"/>
                    <a:ea typeface="微软雅黑" panose="020B0503020204020204" pitchFamily="34" charset="-122"/>
                    <a:sym typeface="+mn-lt"/>
                    <a:hlinkClick r:id="rId7"/>
                  </a:rPr>
                  <a:t>AsyncTaskService</a:t>
                </a:r>
                <a:r>
                  <a:rPr lang="en-US" sz="1600" dirty="0">
                    <a:latin typeface="微软雅黑" panose="020B0503020204020204" pitchFamily="34" charset="-122"/>
                    <a:ea typeface="微软雅黑" panose="020B0503020204020204" pitchFamily="34" charset="-122"/>
                    <a:sym typeface="+mn-ea"/>
                    <a:hlinkClick r:id="rId7"/>
                  </a:rPr>
                  <a:t>.java</a:t>
                </a:r>
                <a:endParaRPr lang="en-US" sz="1600" dirty="0">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77720"/>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（2）</a:t>
            </a:r>
            <a:r>
              <a:rPr sz="1800" dirty="0">
                <a:solidFill>
                  <a:schemeClr val="accent1"/>
                </a:solidFill>
                <a:latin typeface="微软雅黑" panose="020B0503020204020204" pitchFamily="34" charset="-122"/>
                <a:ea typeface="微软雅黑" panose="020B0503020204020204" pitchFamily="34" charset="-122"/>
                <a:cs typeface="+mn-ea"/>
                <a:sym typeface="+mn-lt"/>
              </a:rPr>
              <a:t>编写控制层业务调用代码</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在文件9-2的</a:t>
            </a:r>
            <a:r>
              <a:rPr sz="1800" dirty="0">
                <a:solidFill>
                  <a:schemeClr val="accent1"/>
                </a:solidFill>
                <a:latin typeface="微软雅黑" panose="020B0503020204020204" pitchFamily="34" charset="-122"/>
                <a:ea typeface="微软雅黑" panose="020B0503020204020204" pitchFamily="34" charset="-122"/>
                <a:cs typeface="+mn-ea"/>
                <a:sym typeface="+mn-lt"/>
              </a:rPr>
              <a:t>TaskController</a:t>
            </a:r>
            <a:r>
              <a:rPr lang="zh-CN" sz="1800" dirty="0">
                <a:solidFill>
                  <a:srgbClr val="595959"/>
                </a:solidFill>
                <a:latin typeface="微软雅黑" panose="020B0503020204020204" pitchFamily="34" charset="-122"/>
                <a:ea typeface="微软雅黑" panose="020B0503020204020204" pitchFamily="34" charset="-122"/>
                <a:cs typeface="+mn-ea"/>
                <a:sym typeface="+mn-lt"/>
              </a:rPr>
              <a:t>异步任务业务处理类中，</a:t>
            </a:r>
            <a:r>
              <a:rPr sz="1800" dirty="0">
                <a:solidFill>
                  <a:schemeClr val="accent1"/>
                </a:solidFill>
                <a:latin typeface="微软雅黑" panose="020B0503020204020204" pitchFamily="34" charset="-122"/>
                <a:ea typeface="微软雅黑" panose="020B0503020204020204" pitchFamily="34" charset="-122"/>
                <a:cs typeface="+mn-ea"/>
                <a:sym typeface="+mn-lt"/>
              </a:rPr>
              <a:t>新增</a:t>
            </a:r>
            <a:r>
              <a:rPr lang="zh-CN" sz="1800" dirty="0">
                <a:solidFill>
                  <a:srgbClr val="595959"/>
                </a:solidFill>
                <a:latin typeface="微软雅黑" panose="020B0503020204020204" pitchFamily="34" charset="-122"/>
                <a:ea typeface="微软雅黑" panose="020B0503020204020204" pitchFamily="34" charset="-122"/>
                <a:cs typeface="+mn-ea"/>
                <a:sym typeface="+mn-lt"/>
              </a:rPr>
              <a:t>处理统计地区销售金额</a:t>
            </a:r>
            <a:r>
              <a:rPr sz="1800" dirty="0">
                <a:solidFill>
                  <a:schemeClr val="accent1"/>
                </a:solidFill>
                <a:latin typeface="微软雅黑" panose="020B0503020204020204" pitchFamily="34" charset="-122"/>
                <a:ea typeface="微软雅黑" panose="020B0503020204020204" pitchFamily="34" charset="-122"/>
                <a:cs typeface="+mn-ea"/>
                <a:sym typeface="+mn-lt"/>
              </a:rPr>
              <a:t>请求方法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，在该方法中</a:t>
            </a:r>
            <a:r>
              <a:rPr sz="1800" dirty="0">
                <a:solidFill>
                  <a:schemeClr val="accent1"/>
                </a:solidFill>
                <a:latin typeface="微软雅黑" panose="020B0503020204020204" pitchFamily="34" charset="-122"/>
                <a:ea typeface="微软雅黑" panose="020B0503020204020204" pitchFamily="34" charset="-122"/>
                <a:cs typeface="+mn-ea"/>
                <a:sym typeface="+mn-lt"/>
              </a:rPr>
              <a:t>调用业务层的异步方法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进行统计。</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2.有返回值异步任务调用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766643"/>
            <a:ext cx="2232248" cy="2232248"/>
          </a:xfrm>
          <a:prstGeom prst="rect">
            <a:avLst/>
          </a:prstGeom>
        </p:spPr>
      </p:pic>
      <p:grpSp>
        <p:nvGrpSpPr>
          <p:cNvPr id="12" name="组合 11"/>
          <p:cNvGrpSpPr/>
          <p:nvPr/>
        </p:nvGrpSpPr>
        <p:grpSpPr>
          <a:xfrm>
            <a:off x="5675998" y="387551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zh-CN" sz="1600" dirty="0">
                    <a:solidFill>
                      <a:srgbClr val="595959"/>
                    </a:solidFill>
                    <a:latin typeface="微软雅黑" panose="020B0503020204020204" pitchFamily="34" charset="-122"/>
                    <a:ea typeface="微软雅黑" panose="020B0503020204020204" pitchFamily="34" charset="-122"/>
                    <a:sym typeface="+mn-lt"/>
                    <a:hlinkClick r:id="rId7"/>
                  </a:rPr>
                  <a:t>TaskController</a:t>
                </a:r>
                <a:r>
                  <a:rPr lang="en-US" sz="1600" dirty="0">
                    <a:latin typeface="微软雅黑" panose="020B0503020204020204" pitchFamily="34" charset="-122"/>
                    <a:ea typeface="微软雅黑" panose="020B0503020204020204" pitchFamily="34" charset="-122"/>
                    <a:sym typeface="+mn-ea"/>
                    <a:hlinkClick r:id="rId7"/>
                  </a:rPr>
                  <a:t>.java</a:t>
                </a:r>
                <a:endParaRPr lang="en-US" sz="1600" dirty="0">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77720"/>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（3）</a:t>
            </a:r>
            <a:r>
              <a:rPr sz="1800" dirty="0">
                <a:solidFill>
                  <a:schemeClr val="accent1"/>
                </a:solidFill>
                <a:latin typeface="微软雅黑" panose="020B0503020204020204" pitchFamily="34" charset="-122"/>
                <a:ea typeface="微软雅黑" panose="020B0503020204020204" pitchFamily="34" charset="-122"/>
                <a:cs typeface="+mn-ea"/>
                <a:sym typeface="+mn-lt"/>
              </a:rPr>
              <a:t>测试效果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启动chapter09项目，项目启动成功后，在浏览器中</a:t>
            </a:r>
            <a:r>
              <a:rPr sz="1800" dirty="0">
                <a:solidFill>
                  <a:schemeClr val="accent1"/>
                </a:solidFill>
                <a:latin typeface="微软雅黑" panose="020B0503020204020204" pitchFamily="34" charset="-122"/>
                <a:ea typeface="微软雅黑" panose="020B0503020204020204" pitchFamily="34" charset="-122"/>
                <a:cs typeface="+mn-ea"/>
                <a:sym typeface="+mn-lt"/>
              </a:rPr>
              <a:t>访问</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http://localhost:8080/statistics</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发送</a:t>
            </a:r>
            <a:r>
              <a:rPr lang="zh-CN" sz="1800" dirty="0">
                <a:solidFill>
                  <a:srgbClr val="595959"/>
                </a:solidFill>
                <a:latin typeface="微软雅黑" panose="020B0503020204020204" pitchFamily="34" charset="-122"/>
                <a:ea typeface="微软雅黑" panose="020B0503020204020204" pitchFamily="34" charset="-122"/>
                <a:cs typeface="+mn-ea"/>
                <a:sym typeface="+mn-lt"/>
              </a:rPr>
              <a:t>统计地区销售金额的</a:t>
            </a:r>
            <a:r>
              <a:rPr sz="1800" dirty="0">
                <a:solidFill>
                  <a:schemeClr val="accent1"/>
                </a:solidFill>
                <a:latin typeface="微软雅黑" panose="020B0503020204020204" pitchFamily="34" charset="-122"/>
                <a:ea typeface="微软雅黑" panose="020B0503020204020204" pitchFamily="34" charset="-122"/>
                <a:cs typeface="+mn-ea"/>
                <a:sym typeface="+mn-lt"/>
              </a:rPr>
              <a:t>请求</a:t>
            </a:r>
            <a:r>
              <a:rPr lang="zh-CN" sz="1800" dirty="0">
                <a:solidFill>
                  <a:srgbClr val="595959"/>
                </a:solidFill>
                <a:latin typeface="微软雅黑" panose="020B0503020204020204" pitchFamily="34" charset="-122"/>
                <a:ea typeface="微软雅黑" panose="020B0503020204020204" pitchFamily="34" charset="-122"/>
                <a:cs typeface="+mn-ea"/>
                <a:sym typeface="+mn-lt"/>
              </a:rPr>
              <a:t>。因为业务层设置了休眠时间，所以浏览器在反应一段时间后才会获取到对应的响应结果。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2.有返回值异步任务调用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3" name="图片 -2147482604"/>
          <p:cNvPicPr>
            <a:picLocks noChangeAspect="1"/>
          </p:cNvPicPr>
          <p:nvPr>
            <p:custDataLst>
              <p:tags r:id="rId4"/>
            </p:custDataLst>
          </p:nvPr>
        </p:nvPicPr>
        <p:blipFill>
          <a:blip r:embed="rId5"/>
          <a:stretch>
            <a:fillRect/>
          </a:stretch>
        </p:blipFill>
        <p:spPr>
          <a:xfrm>
            <a:off x="1851343" y="4005263"/>
            <a:ext cx="8726400" cy="234825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异步任务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200596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IDEA</a:t>
            </a:r>
            <a:r>
              <a:rPr sz="1800" dirty="0">
                <a:solidFill>
                  <a:schemeClr val="accent1"/>
                </a:solidFill>
                <a:latin typeface="微软雅黑" panose="020B0503020204020204" pitchFamily="34" charset="-122"/>
                <a:ea typeface="微软雅黑" panose="020B0503020204020204" pitchFamily="34" charset="-122"/>
                <a:cs typeface="+mn-ea"/>
                <a:sym typeface="+mn-lt"/>
              </a:rPr>
              <a:t>控制台</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中统计地区销售金额</a:t>
            </a:r>
            <a:r>
              <a:rPr sz="1800" dirty="0">
                <a:solidFill>
                  <a:schemeClr val="accent1"/>
                </a:solidFill>
                <a:latin typeface="微软雅黑" panose="020B0503020204020204" pitchFamily="34" charset="-122"/>
                <a:ea typeface="微软雅黑" panose="020B0503020204020204" pitchFamily="34" charset="-122"/>
                <a:cs typeface="+mn-ea"/>
                <a:sym typeface="+mn-lt"/>
              </a:rPr>
              <a:t>输出</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的信息。</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3016885" cy="476885"/>
            <a:chOff x="898650" y="1797999"/>
            <a:chExt cx="6668124" cy="476885"/>
          </a:xfrm>
        </p:grpSpPr>
        <p:sp>
          <p:nvSpPr>
            <p:cNvPr id="4" name="矩形: 圆角 6"/>
            <p:cNvSpPr/>
            <p:nvPr>
              <p:custDataLst>
                <p:tags r:id="rId2"/>
              </p:custDataLst>
            </p:nvPr>
          </p:nvSpPr>
          <p:spPr>
            <a:xfrm>
              <a:off x="980054" y="1813239"/>
              <a:ext cx="658672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6342508"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2.有返回值异步任务调用</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pic>
        <p:nvPicPr>
          <p:cNvPr id="3" name="图片 -2147482603"/>
          <p:cNvPicPr>
            <a:picLocks noChangeAspect="1"/>
          </p:cNvPicPr>
          <p:nvPr>
            <p:custDataLst>
              <p:tags r:id="rId4"/>
            </p:custDataLst>
          </p:nvPr>
        </p:nvPicPr>
        <p:blipFill>
          <a:blip r:embed="rId5"/>
          <a:stretch>
            <a:fillRect/>
          </a:stretch>
        </p:blipFill>
        <p:spPr>
          <a:xfrm>
            <a:off x="1921510" y="2781618"/>
            <a:ext cx="8676000" cy="3623419"/>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定时任务</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Boot项目中使用</a:t>
            </a:r>
            <a:r>
              <a:rPr lang="zh-CN" altLang="en-US" dirty="0" smtClean="0">
                <a:solidFill>
                  <a:srgbClr val="1369B2"/>
                </a:solidFill>
                <a:latin typeface="微软雅黑" panose="020B0503020204020204" pitchFamily="34" charset="-122"/>
                <a:ea typeface="微软雅黑" panose="020B0503020204020204" pitchFamily="34" charset="-122"/>
              </a:rPr>
              <a:t>注解的方式</a:t>
            </a:r>
            <a:r>
              <a:rPr lang="zh-CN" altLang="en-US" dirty="0" smtClean="0">
                <a:solidFill>
                  <a:srgbClr val="595959"/>
                </a:solidFill>
                <a:latin typeface="微软雅黑" panose="020B0503020204020204" pitchFamily="34" charset="-122"/>
                <a:ea typeface="微软雅黑" panose="020B0503020204020204" pitchFamily="34" charset="-122"/>
              </a:rPr>
              <a:t>实现定时任务</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27647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定时任务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是指按照</a:t>
            </a:r>
            <a:r>
              <a:rPr sz="1800" dirty="0">
                <a:solidFill>
                  <a:schemeClr val="accent1"/>
                </a:solidFill>
                <a:latin typeface="微软雅黑" panose="020B0503020204020204" pitchFamily="34" charset="-122"/>
                <a:ea typeface="微软雅黑" panose="020B0503020204020204" pitchFamily="34" charset="-122"/>
                <a:cs typeface="+mn-ea"/>
                <a:sym typeface="+mn-lt"/>
              </a:rPr>
              <a:t>指定时间周期运行的任务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实际开发中，当需要在每天的某个固定时间或者每隔一段时间让程序去执行某个任务时，就可以使用定时任务实现，例如，系统根据员工的入职日期自动发送关怀邮件、服务器数据定时在每天零点进行备份等。下面将基于</a:t>
            </a:r>
            <a:r>
              <a:rPr sz="1800" dirty="0">
                <a:solidFill>
                  <a:schemeClr val="accent1"/>
                </a:solidFill>
                <a:latin typeface="微软雅黑" panose="020B0503020204020204" pitchFamily="34" charset="-122"/>
                <a:ea typeface="微软雅黑" panose="020B0503020204020204" pitchFamily="34" charset="-122"/>
                <a:cs typeface="+mn-ea"/>
                <a:sym typeface="+mn-lt"/>
              </a:rPr>
              <a:t>Spring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定时任务调度功能</a:t>
            </a:r>
            <a:r>
              <a:rPr lang="zh-CN" sz="1800" dirty="0">
                <a:solidFill>
                  <a:srgbClr val="595959"/>
                </a:solidFill>
                <a:latin typeface="微软雅黑" panose="020B0503020204020204" pitchFamily="34" charset="-122"/>
                <a:ea typeface="微软雅黑" panose="020B0503020204020204" pitchFamily="34" charset="-122"/>
                <a:cs typeface="+mn-ea"/>
                <a:sym typeface="+mn-lt"/>
              </a:rPr>
              <a:t>对定时任务进行讲解。</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276475"/>
            <a:ext cx="10313035" cy="207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Spring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框架的</a:t>
            </a:r>
            <a:r>
              <a:rPr sz="1800" dirty="0">
                <a:solidFill>
                  <a:schemeClr val="accent1"/>
                </a:solidFill>
                <a:latin typeface="微软雅黑" panose="020B0503020204020204" pitchFamily="34" charset="-122"/>
                <a:ea typeface="微软雅黑" panose="020B0503020204020204" pitchFamily="34" charset="-122"/>
                <a:cs typeface="+mn-ea"/>
                <a:sym typeface="+mn-lt"/>
              </a:rPr>
              <a:t>定时任务调度功能</a:t>
            </a:r>
            <a:r>
              <a:rPr lang="zh-CN" sz="1800" dirty="0">
                <a:solidFill>
                  <a:srgbClr val="595959"/>
                </a:solidFill>
                <a:latin typeface="微软雅黑" panose="020B0503020204020204" pitchFamily="34" charset="-122"/>
                <a:ea typeface="微软雅黑" panose="020B0503020204020204" pitchFamily="34" charset="-122"/>
                <a:cs typeface="+mn-ea"/>
                <a:sym typeface="+mn-lt"/>
              </a:rPr>
              <a:t>支持</a:t>
            </a:r>
            <a:r>
              <a:rPr sz="1800" dirty="0">
                <a:solidFill>
                  <a:schemeClr val="accent1"/>
                </a:solidFill>
                <a:latin typeface="微软雅黑" panose="020B0503020204020204" pitchFamily="34" charset="-122"/>
                <a:ea typeface="微软雅黑" panose="020B0503020204020204" pitchFamily="34" charset="-122"/>
                <a:cs typeface="+mn-ea"/>
                <a:sym typeface="+mn-lt"/>
              </a:rPr>
              <a:t>配置</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两种方式，Spring Boot在Spring框架的基础上实现了继承，并对其中基于注解方式的定时任务实现了非常好的支持。下面对Spring Boot项目中基于注解方式的相关</a:t>
            </a:r>
            <a:r>
              <a:rPr sz="1800" dirty="0">
                <a:solidFill>
                  <a:schemeClr val="accent1"/>
                </a:solidFill>
                <a:latin typeface="微软雅黑" panose="020B0503020204020204" pitchFamily="34" charset="-122"/>
                <a:ea typeface="微软雅黑" panose="020B0503020204020204" pitchFamily="34" charset="-122"/>
                <a:cs typeface="+mn-ea"/>
                <a:sym typeface="+mn-lt"/>
              </a:rPr>
              <a:t>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a:t>
            </a:r>
            <a:r>
              <a:rPr sz="1800" dirty="0">
                <a:solidFill>
                  <a:schemeClr val="accent1"/>
                </a:solidFill>
                <a:latin typeface="微软雅黑" panose="020B0503020204020204" pitchFamily="34" charset="-122"/>
                <a:ea typeface="微软雅黑" panose="020B0503020204020204" pitchFamily="34" charset="-122"/>
                <a:cs typeface="+mn-ea"/>
                <a:sym typeface="+mn-lt"/>
              </a:rPr>
              <a:t>介绍</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（1）</a:t>
            </a:r>
            <a:r>
              <a:rPr sz="1800" dirty="0">
                <a:solidFill>
                  <a:schemeClr val="accent1"/>
                </a:solidFill>
                <a:latin typeface="微软雅黑" panose="020B0503020204020204" pitchFamily="34" charset="-122"/>
                <a:ea typeface="微软雅黑" panose="020B0503020204020204" pitchFamily="34" charset="-122"/>
                <a:cs typeface="+mn-ea"/>
                <a:sym typeface="+mn-lt"/>
              </a:rPr>
              <a:t>@EnableScheduling</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@EnableScheduling注解用于</a:t>
            </a:r>
            <a:r>
              <a:rPr sz="1800" dirty="0">
                <a:solidFill>
                  <a:schemeClr val="accent1"/>
                </a:solidFill>
                <a:latin typeface="微软雅黑" panose="020B0503020204020204" pitchFamily="34" charset="-122"/>
                <a:ea typeface="微软雅黑" panose="020B0503020204020204" pitchFamily="34" charset="-122"/>
                <a:cs typeface="+mn-ea"/>
                <a:sym typeface="+mn-lt"/>
              </a:rPr>
              <a:t>开启基于注解方式的定时任务支持</a:t>
            </a:r>
            <a:r>
              <a:rPr lang="zh-CN" sz="1800" dirty="0">
                <a:solidFill>
                  <a:srgbClr val="595959"/>
                </a:solidFill>
                <a:latin typeface="微软雅黑" panose="020B0503020204020204" pitchFamily="34" charset="-122"/>
                <a:ea typeface="微软雅黑" panose="020B0503020204020204" pitchFamily="34" charset="-122"/>
                <a:cs typeface="+mn-ea"/>
                <a:sym typeface="+mn-lt"/>
              </a:rPr>
              <a:t>，该注解主要用在项目启动类上。</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1917700"/>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（2）</a:t>
            </a:r>
            <a:r>
              <a:rPr sz="1800" dirty="0">
                <a:solidFill>
                  <a:schemeClr val="accent1"/>
                </a:solidFill>
                <a:latin typeface="微软雅黑" panose="020B0503020204020204" pitchFamily="34" charset="-122"/>
                <a:ea typeface="微软雅黑" panose="020B0503020204020204" pitchFamily="34" charset="-122"/>
                <a:cs typeface="+mn-ea"/>
                <a:sym typeface="+mn-lt"/>
              </a:rPr>
              <a:t>@Scheduled</a:t>
            </a:r>
            <a:endParaRPr sz="1800" dirty="0">
              <a:solidFill>
                <a:schemeClr val="accent1"/>
              </a:solidFill>
              <a:latin typeface="微软雅黑" panose="020B0503020204020204" pitchFamily="34" charset="-122"/>
              <a:ea typeface="微软雅黑" panose="020B0503020204020204" pitchFamily="34" charset="-122"/>
              <a:cs typeface="+mn-ea"/>
              <a:sym typeface="+mn-lt"/>
            </a:endParaRPr>
          </a:p>
          <a:p>
            <a:pPr algn="just">
              <a:lnSpc>
                <a:spcPct val="150000"/>
              </a:lnSpc>
              <a:buClrTx/>
              <a:buSzTx/>
              <a:buFontTx/>
            </a:pPr>
            <a:r>
              <a:rPr sz="1800" dirty="0">
                <a:solidFill>
                  <a:schemeClr val="accent1"/>
                </a:solidFill>
                <a:latin typeface="微软雅黑" panose="020B0503020204020204" pitchFamily="34" charset="-122"/>
                <a:ea typeface="微软雅黑" panose="020B0503020204020204" pitchFamily="34" charset="-122"/>
                <a:cs typeface="+mn-ea"/>
                <a:sym typeface="+mn-lt"/>
              </a:rPr>
              <a:t>@Scheduled注解</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是Spring框架提供的</a:t>
            </a:r>
            <a:r>
              <a:rPr sz="1800" dirty="0">
                <a:solidFill>
                  <a:schemeClr val="accent1"/>
                </a:solidFill>
                <a:latin typeface="微软雅黑" panose="020B0503020204020204" pitchFamily="34" charset="-122"/>
                <a:ea typeface="微软雅黑" panose="020B0503020204020204" pitchFamily="34" charset="-122"/>
                <a:cs typeface="+mn-ea"/>
                <a:sym typeface="+mn-lt"/>
              </a:rPr>
              <a:t>定时任务控制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的注解，主要用在</a:t>
            </a:r>
            <a:r>
              <a:rPr sz="1800" dirty="0">
                <a:solidFill>
                  <a:schemeClr val="accent1"/>
                </a:solidFill>
                <a:latin typeface="微软雅黑" panose="020B0503020204020204" pitchFamily="34" charset="-122"/>
                <a:ea typeface="微软雅黑" panose="020B0503020204020204" pitchFamily="34" charset="-122"/>
                <a:cs typeface="+mn-ea"/>
                <a:sym typeface="+mn-lt"/>
              </a:rPr>
              <a:t>定时业务方法上</a:t>
            </a:r>
            <a:r>
              <a:rPr lang="zh-CN" sz="1800" dirty="0">
                <a:solidFill>
                  <a:srgbClr val="595959"/>
                </a:solidFill>
                <a:latin typeface="微软雅黑" panose="020B0503020204020204" pitchFamily="34" charset="-122"/>
                <a:ea typeface="微软雅黑" panose="020B0503020204020204" pitchFamily="34" charset="-122"/>
                <a:cs typeface="+mn-ea"/>
                <a:sym typeface="+mn-lt"/>
              </a:rPr>
              <a:t>。@Scheduled注解提供多个了</a:t>
            </a:r>
            <a:r>
              <a:rPr sz="1800" dirty="0">
                <a:solidFill>
                  <a:schemeClr val="accent1"/>
                </a:solidFill>
                <a:latin typeface="微软雅黑" panose="020B0503020204020204" pitchFamily="34" charset="-122"/>
                <a:ea typeface="微软雅黑" panose="020B0503020204020204" pitchFamily="34" charset="-122"/>
                <a:cs typeface="+mn-ea"/>
                <a:sym typeface="+mn-lt"/>
              </a:rPr>
              <a:t>属性</a:t>
            </a:r>
            <a:r>
              <a:rPr lang="zh-CN" sz="1800" dirty="0">
                <a:solidFill>
                  <a:srgbClr val="595959"/>
                </a:solidFill>
                <a:latin typeface="微软雅黑" panose="020B0503020204020204" pitchFamily="34" charset="-122"/>
                <a:ea typeface="微软雅黑" panose="020B0503020204020204" pitchFamily="34" charset="-122"/>
                <a:cs typeface="+mn-ea"/>
                <a:sym typeface="+mn-lt"/>
              </a:rPr>
              <a:t>，可以精细化配置定时任务</a:t>
            </a:r>
            <a:r>
              <a:rPr sz="1800" dirty="0">
                <a:solidFill>
                  <a:schemeClr val="accent1"/>
                </a:solidFill>
                <a:latin typeface="微软雅黑" panose="020B0503020204020204" pitchFamily="34" charset="-122"/>
                <a:ea typeface="微软雅黑" panose="020B0503020204020204" pitchFamily="34" charset="-122"/>
                <a:cs typeface="+mn-ea"/>
                <a:sym typeface="+mn-lt"/>
              </a:rPr>
              <a:t>执行规则</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aphicFrame>
        <p:nvGraphicFramePr>
          <p:cNvPr id="3" name="表格 2"/>
          <p:cNvGraphicFramePr/>
          <p:nvPr>
            <p:custDataLst>
              <p:tags r:id="rId4"/>
            </p:custDataLst>
          </p:nvPr>
        </p:nvGraphicFramePr>
        <p:xfrm>
          <a:off x="1012190" y="3653790"/>
          <a:ext cx="10395585" cy="2880360"/>
        </p:xfrm>
        <a:graphic>
          <a:graphicData uri="http://schemas.openxmlformats.org/drawingml/2006/table">
            <a:tbl>
              <a:tblPr/>
              <a:tblGrid>
                <a:gridCol w="3462655"/>
                <a:gridCol w="6932930"/>
              </a:tblGrid>
              <a:tr h="215900">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属性</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说明</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cron</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用于指定任务执行的时间规则，为特殊格式的字符串，可以定制定时任务触发的秒、分钟、小时、月中的日、月、周中的日</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zone</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用于指定解析cron参数时参照的时区。属性值为String类型，默认值为空字符串，即使用服务器的本地时区</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fixedDelay</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一个以毫秒为单位的时间间隔，用于指定上一次任务执行结束后再次执行下一次任务的时间间隔，属性值为long类型</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bl>
          </a:graphicData>
        </a:graphic>
      </p:graphicFrame>
      <p:sp>
        <p:nvSpPr>
          <p:cNvPr id="6" name="TextBox 16"/>
          <p:cNvSpPr>
            <a:spLocks noChangeArrowheads="1"/>
          </p:cNvSpPr>
          <p:nvPr>
            <p:custDataLst>
              <p:tags r:id="rId5"/>
            </p:custDataLst>
          </p:nvPr>
        </p:nvSpPr>
        <p:spPr bwMode="auto">
          <a:xfrm>
            <a:off x="4798695" y="3209925"/>
            <a:ext cx="2631440"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@Scheduled注解的属性</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5013960" y="2133600"/>
            <a:ext cx="2631440"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@Scheduled注解的属性</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aphicFrame>
        <p:nvGraphicFramePr>
          <p:cNvPr id="5" name="表格 4"/>
          <p:cNvGraphicFramePr/>
          <p:nvPr>
            <p:custDataLst>
              <p:tags r:id="rId4"/>
            </p:custDataLst>
          </p:nvPr>
        </p:nvGraphicFramePr>
        <p:xfrm>
          <a:off x="1040765" y="2664460"/>
          <a:ext cx="10352405" cy="3703320"/>
        </p:xfrm>
        <a:graphic>
          <a:graphicData uri="http://schemas.openxmlformats.org/drawingml/2006/table">
            <a:tbl>
              <a:tblPr/>
              <a:tblGrid>
                <a:gridCol w="3434080"/>
                <a:gridCol w="6918325"/>
              </a:tblGrid>
              <a:tr h="215900">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属性</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说明</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fixedDelayString</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作用与fixedDelay相同，不过属性值为字符串形式的数值</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fixedRate</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一个以毫秒为单位的时间间隔，用于指定每隔多久执行一次任务，属性值为long类型</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fixedRateString</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作用与fixedRate相同，不过属性值为字符串形式的数值</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initialDelay</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指定第一次执行之前要延迟的毫秒数，需要指定任务执行的规则（fixedRate、fixedRateString、fixedDelay、fixedDelayString），属性值为long类型</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initialDelayString</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作用与initialDelay相同，不过属性值为字符串形式的数值</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276475"/>
            <a:ext cx="1031303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①　</a:t>
            </a:r>
            <a:r>
              <a:rPr sz="1800" dirty="0">
                <a:solidFill>
                  <a:schemeClr val="accent1"/>
                </a:solidFill>
                <a:latin typeface="微软雅黑" panose="020B0503020204020204" pitchFamily="34" charset="-122"/>
                <a:ea typeface="微软雅黑" panose="020B0503020204020204" pitchFamily="34" charset="-122"/>
                <a:cs typeface="+mn-ea"/>
                <a:sym typeface="+mn-lt"/>
              </a:rPr>
              <a:t>cron属性</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cron属性是@Scheduled定时任务注解中最常用也是最复杂的一个属性，其属性值由</a:t>
            </a:r>
            <a:r>
              <a:rPr sz="1800" dirty="0">
                <a:solidFill>
                  <a:schemeClr val="accent1"/>
                </a:solidFill>
                <a:latin typeface="微软雅黑" panose="020B0503020204020204" pitchFamily="34" charset="-122"/>
                <a:ea typeface="微软雅黑" panose="020B0503020204020204" pitchFamily="34" charset="-122"/>
                <a:cs typeface="+mn-ea"/>
                <a:sym typeface="+mn-lt"/>
              </a:rPr>
              <a:t>类似</a:t>
            </a:r>
            <a:r>
              <a:rPr lang="zh-CN" sz="1800" dirty="0">
                <a:solidFill>
                  <a:srgbClr val="595959"/>
                </a:solidFill>
                <a:latin typeface="微软雅黑" panose="020B0503020204020204" pitchFamily="34" charset="-122"/>
                <a:ea typeface="微软雅黑" panose="020B0503020204020204" pitchFamily="34" charset="-122"/>
                <a:cs typeface="+mn-ea"/>
                <a:sym typeface="+mn-lt"/>
              </a:rPr>
              <a:t>于</a:t>
            </a:r>
            <a:r>
              <a:rPr sz="1800" dirty="0">
                <a:solidFill>
                  <a:schemeClr val="accent1"/>
                </a:solidFill>
                <a:latin typeface="微软雅黑" panose="020B0503020204020204" pitchFamily="34" charset="-122"/>
                <a:ea typeface="微软雅黑" panose="020B0503020204020204" pitchFamily="34" charset="-122"/>
                <a:cs typeface="+mn-ea"/>
                <a:sym typeface="+mn-lt"/>
              </a:rPr>
              <a:t>cron表达式</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的6位数组成，可以</a:t>
            </a:r>
            <a:r>
              <a:rPr sz="1800" dirty="0">
                <a:solidFill>
                  <a:schemeClr val="accent1"/>
                </a:solidFill>
                <a:latin typeface="微软雅黑" panose="020B0503020204020204" pitchFamily="34" charset="-122"/>
                <a:ea typeface="微软雅黑" panose="020B0503020204020204" pitchFamily="34" charset="-122"/>
                <a:cs typeface="+mn-ea"/>
                <a:sym typeface="+mn-lt"/>
              </a:rPr>
              <a:t>详细</a:t>
            </a:r>
            <a:r>
              <a:rPr lang="zh-CN" sz="1800" dirty="0">
                <a:solidFill>
                  <a:srgbClr val="595959"/>
                </a:solidFill>
                <a:latin typeface="微软雅黑" panose="020B0503020204020204" pitchFamily="34" charset="-122"/>
                <a:ea typeface="微软雅黑" panose="020B0503020204020204" pitchFamily="34" charset="-122"/>
                <a:cs typeface="+mn-ea"/>
                <a:sym typeface="+mn-lt"/>
              </a:rPr>
              <a:t>地</a:t>
            </a:r>
            <a:r>
              <a:rPr sz="1800" dirty="0">
                <a:solidFill>
                  <a:schemeClr val="accent1"/>
                </a:solidFill>
                <a:latin typeface="微软雅黑" panose="020B0503020204020204" pitchFamily="34" charset="-122"/>
                <a:ea typeface="微软雅黑" panose="020B0503020204020204" pitchFamily="34" charset="-122"/>
                <a:cs typeface="+mn-ea"/>
                <a:sym typeface="+mn-lt"/>
              </a:rPr>
              <a:t>指定定时任务执行的秒、分、小时、日、月、周</a:t>
            </a:r>
            <a:r>
              <a:rPr lang="zh-CN" sz="1800" dirty="0">
                <a:solidFill>
                  <a:srgbClr val="595959"/>
                </a:solidFill>
                <a:latin typeface="微软雅黑" panose="020B0503020204020204" pitchFamily="34" charset="-122"/>
                <a:ea typeface="微软雅黑" panose="020B0503020204020204" pitchFamily="34" charset="-122"/>
                <a:cs typeface="+mn-ea"/>
                <a:sym typeface="+mn-lt"/>
              </a:rPr>
              <a:t>，其属性值定义格式如下。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从上述格式可知，cron属性值所代表的</a:t>
            </a:r>
            <a:r>
              <a:rPr sz="1800" dirty="0">
                <a:solidFill>
                  <a:schemeClr val="accent1"/>
                </a:solidFill>
                <a:latin typeface="微软雅黑" panose="020B0503020204020204" pitchFamily="34" charset="-122"/>
                <a:ea typeface="微软雅黑" panose="020B0503020204020204" pitchFamily="34" charset="-122"/>
                <a:cs typeface="+mn-ea"/>
                <a:sym typeface="+mn-lt"/>
              </a:rPr>
              <a:t>时间规则</a:t>
            </a:r>
            <a:r>
              <a:rPr lang="zh-CN" sz="1800" dirty="0">
                <a:solidFill>
                  <a:srgbClr val="595959"/>
                </a:solidFill>
                <a:latin typeface="微软雅黑" panose="020B0503020204020204" pitchFamily="34" charset="-122"/>
                <a:ea typeface="微软雅黑" panose="020B0503020204020204" pitchFamily="34" charset="-122"/>
                <a:cs typeface="+mn-ea"/>
                <a:sym typeface="+mn-lt"/>
              </a:rPr>
              <a:t>由</a:t>
            </a:r>
            <a:r>
              <a:rPr sz="1800" dirty="0">
                <a:solidFill>
                  <a:schemeClr val="accent1"/>
                </a:solidFill>
                <a:latin typeface="微软雅黑" panose="020B0503020204020204" pitchFamily="34" charset="-122"/>
                <a:ea typeface="微软雅黑" panose="020B0503020204020204" pitchFamily="34" charset="-122"/>
                <a:cs typeface="+mn-ea"/>
                <a:sym typeface="+mn-lt"/>
              </a:rPr>
              <a:t>6个域</a:t>
            </a:r>
            <a:r>
              <a:rPr lang="zh-CN" sz="1800" dirty="0">
                <a:solidFill>
                  <a:srgbClr val="595959"/>
                </a:solidFill>
                <a:latin typeface="微软雅黑" panose="020B0503020204020204" pitchFamily="34" charset="-122"/>
                <a:ea typeface="微软雅黑" panose="020B0503020204020204" pitchFamily="34" charset="-122"/>
                <a:cs typeface="+mn-ea"/>
                <a:sym typeface="+mn-lt"/>
              </a:rPr>
              <a:t>组成，每个域之间使用</a:t>
            </a:r>
            <a:r>
              <a:rPr sz="1800" dirty="0">
                <a:solidFill>
                  <a:schemeClr val="accent1"/>
                </a:solidFill>
                <a:latin typeface="微软雅黑" panose="020B0503020204020204" pitchFamily="34" charset="-122"/>
                <a:ea typeface="微软雅黑" panose="020B0503020204020204" pitchFamily="34" charset="-122"/>
                <a:cs typeface="+mn-ea"/>
                <a:sym typeface="+mn-lt"/>
              </a:rPr>
              <a:t>空格</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a:t>
            </a:r>
            <a:r>
              <a:rPr sz="1800" dirty="0">
                <a:solidFill>
                  <a:schemeClr val="accent1"/>
                </a:solidFill>
                <a:latin typeface="微软雅黑" panose="020B0503020204020204" pitchFamily="34" charset="-122"/>
                <a:ea typeface="微软雅黑" panose="020B0503020204020204" pitchFamily="34" charset="-122"/>
                <a:cs typeface="+mn-ea"/>
                <a:sym typeface="+mn-lt"/>
              </a:rPr>
              <a:t>分隔</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 name="组合 8"/>
          <p:cNvGrpSpPr/>
          <p:nvPr/>
        </p:nvGrpSpPr>
        <p:grpSpPr bwMode="auto">
          <a:xfrm>
            <a:off x="967105" y="3912870"/>
            <a:ext cx="10339070" cy="572135"/>
            <a:chOff x="339332" y="1269583"/>
            <a:chExt cx="10157364" cy="3178615"/>
          </a:xfrm>
        </p:grpSpPr>
        <p:sp>
          <p:nvSpPr>
            <p:cNvPr id="5" name="矩形 4"/>
            <p:cNvSpPr/>
            <p:nvPr>
              <p:custDataLst>
                <p:tags r:id="rId4"/>
              </p:custDataLst>
            </p:nvPr>
          </p:nvSpPr>
          <p:spPr>
            <a:xfrm>
              <a:off x="339332" y="1269583"/>
              <a:ext cx="10157364" cy="31786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矩形 5"/>
            <p:cNvSpPr/>
            <p:nvPr>
              <p:custDataLst>
                <p:tags r:id="rId5"/>
              </p:custDataLst>
            </p:nvPr>
          </p:nvSpPr>
          <p:spPr>
            <a:xfrm>
              <a:off x="848385" y="1355641"/>
              <a:ext cx="8705064" cy="2986721"/>
            </a:xfrm>
            <a:prstGeom prst="rect">
              <a:avLst/>
            </a:prstGeom>
          </p:spPr>
          <p:txBody>
            <a:bodyPr wrap="square">
              <a:noAutofit/>
            </a:bodyPr>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"秒 分 小时 日 月 周"</a:t>
              </a:r>
              <a:endParaRPr lang="en-US" altLang="zh-CN" sz="1600" dirty="0">
                <a:solidFill>
                  <a:srgbClr val="595959"/>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8" name="TextBox 16"/>
          <p:cNvSpPr>
            <a:spLocks noChangeArrowheads="1"/>
          </p:cNvSpPr>
          <p:nvPr>
            <p:custDataLst>
              <p:tags r:id="rId3"/>
            </p:custDataLst>
          </p:nvPr>
        </p:nvSpPr>
        <p:spPr bwMode="auto">
          <a:xfrm>
            <a:off x="5013960" y="1990090"/>
            <a:ext cx="214439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cron属性值的取值</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9" name="表格 8"/>
          <p:cNvGraphicFramePr/>
          <p:nvPr>
            <p:custDataLst>
              <p:tags r:id="rId4"/>
            </p:custDataLst>
          </p:nvPr>
        </p:nvGraphicFramePr>
        <p:xfrm>
          <a:off x="998855" y="2576830"/>
          <a:ext cx="10322560" cy="3703320"/>
        </p:xfrm>
        <a:graphic>
          <a:graphicData uri="http://schemas.openxmlformats.org/drawingml/2006/table">
            <a:tbl>
              <a:tblPr/>
              <a:tblGrid>
                <a:gridCol w="3440853"/>
                <a:gridCol w="3440853"/>
                <a:gridCol w="3440853"/>
              </a:tblGrid>
              <a:tr h="411480">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域</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可取值</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通配符</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41148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秒</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0~59</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 </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 </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分</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0~59</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小时</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0~23</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日</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1~31</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 </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L</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月</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1~12、月份对应英文前三个字母，大小写均可</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周</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1~7、星期对应英文前三个字母，大小写均可</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dirty="0">
                          <a:solidFill>
                            <a:srgbClr val="595959"/>
                          </a:solidFill>
                          <a:latin typeface="微软雅黑" panose="020B0503020204020204" pitchFamily="34" charset="-122"/>
                          <a:ea typeface="微软雅黑" panose="020B0503020204020204" pitchFamily="34" charset="-122"/>
                          <a:cs typeface="+mn-ea"/>
                          <a:sym typeface="+mn-ea"/>
                        </a:rPr>
                        <a:t>/</a:t>
                      </a:r>
                      <a:r>
                        <a:rPr lang="en-US" altLang="zh-CN" sz="1800" dirty="0">
                          <a:solidFill>
                            <a:srgbClr val="595959"/>
                          </a:solidFill>
                          <a:latin typeface="微软雅黑" panose="020B0503020204020204" pitchFamily="34" charset="-122"/>
                          <a:ea typeface="微软雅黑" panose="020B0503020204020204" pitchFamily="34" charset="-122"/>
                          <a:cs typeface="+mn-ea"/>
                          <a:sym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 </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L </a:t>
                      </a:r>
                      <a:r>
                        <a:rPr lang="en-US" altLang="zh-CN" sz="1800" b="0" dirty="0">
                          <a:solidFill>
                            <a:srgbClr val="595959"/>
                          </a:solidFill>
                          <a:latin typeface="微软雅黑" panose="020B0503020204020204" pitchFamily="34" charset="-122"/>
                          <a:ea typeface="微软雅黑" panose="020B0503020204020204" pitchFamily="34" charset="-122"/>
                          <a:cs typeface="+mn-ea"/>
                        </a:rPr>
                        <a:t> </a:t>
                      </a: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8" name="TextBox 16"/>
          <p:cNvSpPr>
            <a:spLocks noChangeArrowheads="1"/>
          </p:cNvSpPr>
          <p:nvPr>
            <p:custDataLst>
              <p:tags r:id="rId3"/>
            </p:custDataLst>
          </p:nvPr>
        </p:nvSpPr>
        <p:spPr bwMode="auto">
          <a:xfrm>
            <a:off x="5015865" y="2635885"/>
            <a:ext cx="256857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cron属性值支持的通配符</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4"/>
            </p:custDataLst>
          </p:nvPr>
        </p:nvSpPr>
        <p:spPr bwMode="auto">
          <a:xfrm>
            <a:off x="962660" y="2061210"/>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@Schedule</a:t>
            </a:r>
            <a:r>
              <a:rPr lang="en-US" altLang="zh-CN" sz="1800" dirty="0">
                <a:solidFill>
                  <a:srgbClr val="595959"/>
                </a:solidFill>
                <a:latin typeface="微软雅黑" panose="020B0503020204020204" pitchFamily="34" charset="-122"/>
                <a:ea typeface="微软雅黑" panose="020B0503020204020204" pitchFamily="34" charset="-122"/>
                <a:cs typeface="+mn-ea"/>
                <a:sym typeface="+mn-lt"/>
              </a:rPr>
              <a:t>d</a:t>
            </a:r>
            <a:r>
              <a:rPr lang="zh-CN" sz="1800" dirty="0">
                <a:solidFill>
                  <a:srgbClr val="595959"/>
                </a:solidFill>
                <a:latin typeface="微软雅黑" panose="020B0503020204020204" pitchFamily="34" charset="-122"/>
                <a:ea typeface="微软雅黑" panose="020B0503020204020204" pitchFamily="34" charset="-122"/>
                <a:cs typeface="+mn-ea"/>
                <a:sym typeface="+mn-lt"/>
              </a:rPr>
              <a:t>注解中</a:t>
            </a:r>
            <a:r>
              <a:rPr sz="1800" dirty="0">
                <a:solidFill>
                  <a:schemeClr val="accent1"/>
                </a:solidFill>
                <a:latin typeface="微软雅黑" panose="020B0503020204020204" pitchFamily="34" charset="-122"/>
                <a:ea typeface="微软雅黑" panose="020B0503020204020204" pitchFamily="34" charset="-122"/>
                <a:cs typeface="+mn-ea"/>
                <a:sym typeface="+mn-lt"/>
              </a:rPr>
              <a:t>cron属性的值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除了可以是基本的</a:t>
            </a:r>
            <a:r>
              <a:rPr sz="1800" dirty="0">
                <a:solidFill>
                  <a:schemeClr val="accent1"/>
                </a:solidFill>
                <a:latin typeface="微软雅黑" panose="020B0503020204020204" pitchFamily="34" charset="-122"/>
                <a:ea typeface="微软雅黑" panose="020B0503020204020204" pitchFamily="34" charset="-122"/>
                <a:cs typeface="+mn-ea"/>
                <a:sym typeface="+mn-lt"/>
              </a:rPr>
              <a:t>数字</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外</a:t>
            </a:r>
            <a:r>
              <a:rPr lang="zh-CN" sz="1800" dirty="0">
                <a:solidFill>
                  <a:srgbClr val="595959"/>
                </a:solidFill>
                <a:latin typeface="微软雅黑" panose="020B0503020204020204" pitchFamily="34" charset="-122"/>
                <a:ea typeface="微软雅黑" panose="020B0503020204020204" pitchFamily="34" charset="-122"/>
                <a:cs typeface="+mn-ea"/>
                <a:sym typeface="+mn-lt"/>
              </a:rPr>
              <a:t>，还可以使用一些</a:t>
            </a:r>
            <a:r>
              <a:rPr sz="1800" dirty="0">
                <a:solidFill>
                  <a:schemeClr val="accent1"/>
                </a:solidFill>
                <a:latin typeface="微软雅黑" panose="020B0503020204020204" pitchFamily="34" charset="-122"/>
                <a:ea typeface="微软雅黑" panose="020B0503020204020204" pitchFamily="34" charset="-122"/>
                <a:cs typeface="+mn-ea"/>
                <a:sym typeface="+mn-lt"/>
              </a:rPr>
              <a:t>特殊字符</a:t>
            </a:r>
            <a:r>
              <a:rPr lang="zh-CN" sz="1800" dirty="0">
                <a:solidFill>
                  <a:srgbClr val="595959"/>
                </a:solidFill>
                <a:latin typeface="微软雅黑" panose="020B0503020204020204" pitchFamily="34" charset="-122"/>
                <a:ea typeface="微软雅黑" panose="020B0503020204020204" pitchFamily="34" charset="-122"/>
                <a:cs typeface="+mn-ea"/>
                <a:sym typeface="+mn-lt"/>
              </a:rPr>
              <a:t>表示的</a:t>
            </a:r>
            <a:r>
              <a:rPr sz="1800" dirty="0">
                <a:solidFill>
                  <a:schemeClr val="accent1"/>
                </a:solidFill>
                <a:latin typeface="微软雅黑" panose="020B0503020204020204" pitchFamily="34" charset="-122"/>
                <a:ea typeface="微软雅黑" panose="020B0503020204020204" pitchFamily="34" charset="-122"/>
                <a:cs typeface="+mn-ea"/>
                <a:sym typeface="+mn-lt"/>
              </a:rPr>
              <a:t>通配符</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5"/>
            </p:custDataLst>
          </p:nvPr>
        </p:nvGraphicFramePr>
        <p:xfrm>
          <a:off x="982980" y="3292475"/>
          <a:ext cx="10353675" cy="2880360"/>
        </p:xfrm>
        <a:graphic>
          <a:graphicData uri="http://schemas.openxmlformats.org/drawingml/2006/table">
            <a:tbl>
              <a:tblPr/>
              <a:tblGrid>
                <a:gridCol w="1510030"/>
                <a:gridCol w="4184650"/>
                <a:gridCol w="4658995"/>
              </a:tblGrid>
              <a:tr h="203200">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特殊字符</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说明</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示例</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表示匹配该域的任意值</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 * 12* * ?")表示每天中午12点执行一次任务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表示不指定值，只能用在月和周两个域，为了避免月和周的冲突</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"0 * * 26 * ?")表示每月的26日每分钟执行一次任务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表示枚举</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"1,3,5 * * * * ?")表示每天每分钟的第1、3、5秒都会执行一次任务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8" name="TextBox 16"/>
          <p:cNvSpPr>
            <a:spLocks noChangeArrowheads="1"/>
          </p:cNvSpPr>
          <p:nvPr>
            <p:custDataLst>
              <p:tags r:id="rId3"/>
            </p:custDataLst>
          </p:nvPr>
        </p:nvSpPr>
        <p:spPr bwMode="auto">
          <a:xfrm>
            <a:off x="5015865" y="1846580"/>
            <a:ext cx="256857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cron属性值支持的通配符</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p:nvPr>
            <p:custDataLst>
              <p:tags r:id="rId4"/>
            </p:custDataLst>
          </p:nvPr>
        </p:nvGraphicFramePr>
        <p:xfrm>
          <a:off x="1005840" y="2378710"/>
          <a:ext cx="10366375" cy="3703320"/>
        </p:xfrm>
        <a:graphic>
          <a:graphicData uri="http://schemas.openxmlformats.org/drawingml/2006/table">
            <a:tbl>
              <a:tblPr/>
              <a:tblGrid>
                <a:gridCol w="1552575"/>
                <a:gridCol w="2837180"/>
                <a:gridCol w="5976620"/>
              </a:tblGrid>
              <a:tr h="203200">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特殊字符</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说明</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ctr">
                        <a:lnSpc>
                          <a:spcPct val="150000"/>
                        </a:lnSpc>
                        <a:buClrTx/>
                        <a:buSzTx/>
                        <a:buFontTx/>
                        <a:buNone/>
                      </a:pPr>
                      <a:r>
                        <a:rPr lang="zh-CN" sz="1800" b="1" dirty="0">
                          <a:solidFill>
                            <a:srgbClr val="595959"/>
                          </a:solidFill>
                          <a:latin typeface="微软雅黑" panose="020B0503020204020204" pitchFamily="34" charset="-122"/>
                          <a:ea typeface="微软雅黑" panose="020B0503020204020204" pitchFamily="34" charset="-122"/>
                          <a:cs typeface="+mn-ea"/>
                        </a:rPr>
                        <a:t>示例</a:t>
                      </a:r>
                      <a:endParaRPr lang="zh-CN" sz="1800" b="1"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17780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表示步长</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"0 */1* * * ?")表示每隔1分钟执行一次任务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82296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表示区间</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"009-18* * ?")表示每天9~18点的整点都执行一次任务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t"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L</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表示最后，是单词Last的缩写，只能用在日和周域</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"0 0 * L * ?")表示每月最后一日每小时执行一次任务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r h="0">
                <a:tc>
                  <a:txBody>
                    <a:bodyPr/>
                    <a:p>
                      <a:pPr algn="ctr">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a:solidFill>
                        <a:schemeClr val="bg1"/>
                      </a:solidFill>
                      <a:prstDash val="soli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表示当前月的第几个周几，只能用在周域</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c>
                  <a:txBody>
                    <a:bodyPr/>
                    <a:p>
                      <a:pPr algn="just">
                        <a:lnSpc>
                          <a:spcPct val="150000"/>
                        </a:lnSpc>
                        <a:buClrTx/>
                        <a:buSzTx/>
                        <a:buFontTx/>
                        <a:buNone/>
                      </a:pPr>
                      <a:r>
                        <a:rPr lang="zh-CN" sz="1800" b="0" dirty="0">
                          <a:solidFill>
                            <a:srgbClr val="595959"/>
                          </a:solidFill>
                          <a:latin typeface="微软雅黑" panose="020B0503020204020204" pitchFamily="34" charset="-122"/>
                          <a:ea typeface="微软雅黑" panose="020B0503020204020204" pitchFamily="34" charset="-122"/>
                          <a:cs typeface="+mn-ea"/>
                        </a:rPr>
                        <a:t>@Scheduled(cron = "0 * * ? * 4#2")表示当前月第四周的周二每分钟执行一次任务</a:t>
                      </a:r>
                      <a:endParaRPr lang="zh-CN" sz="1800" b="0" dirty="0">
                        <a:solidFill>
                          <a:srgbClr val="595959"/>
                        </a:solidFill>
                        <a:latin typeface="微软雅黑" panose="020B0503020204020204" pitchFamily="34" charset="-122"/>
                        <a:ea typeface="微软雅黑" panose="020B0503020204020204" pitchFamily="34" charset="-122"/>
                        <a:cs typeface="+mn-ea"/>
                      </a:endParaRPr>
                    </a:p>
                  </a:txBody>
                  <a:tcPr marL="68580" marR="68580" marT="0" marB="0" vert="horz" anchor="ctr" anchorCtr="0">
                    <a:lnL w="12700" cap="flat" cmpd="sng">
                      <a:solidFill>
                        <a:schemeClr val="bg1"/>
                      </a:solidFill>
                      <a:prstDash val="solid"/>
                      <a:headEnd type="none" w="med" len="med"/>
                      <a:tailEnd type="none" w="med" len="med"/>
                    </a:lnL>
                    <a:lnR w="12700" cap="flat">
                      <a:solidFill>
                        <a:schemeClr val="bg1"/>
                      </a:solidFill>
                      <a:prstDash val="soli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chemeClr val="accent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27647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②　</a:t>
            </a:r>
            <a:r>
              <a:rPr sz="1800" dirty="0">
                <a:solidFill>
                  <a:schemeClr val="accent1"/>
                </a:solidFill>
                <a:latin typeface="微软雅黑" panose="020B0503020204020204" pitchFamily="34" charset="-122"/>
                <a:ea typeface="微软雅黑" panose="020B0503020204020204" pitchFamily="34" charset="-122"/>
                <a:cs typeface="+mn-ea"/>
                <a:sym typeface="+mn-lt"/>
              </a:rPr>
              <a:t>zone属性</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zone属性主要</a:t>
            </a:r>
            <a:r>
              <a:rPr sz="1800" dirty="0">
                <a:solidFill>
                  <a:schemeClr val="accent1"/>
                </a:solidFill>
                <a:latin typeface="微软雅黑" panose="020B0503020204020204" pitchFamily="34" charset="-122"/>
                <a:ea typeface="微软雅黑" panose="020B0503020204020204" pitchFamily="34" charset="-122"/>
                <a:cs typeface="+mn-ea"/>
                <a:sym typeface="+mn-lt"/>
              </a:rPr>
              <a:t>与cron属性配合使用</a:t>
            </a:r>
            <a:r>
              <a:rPr lang="zh-CN" sz="1800" dirty="0">
                <a:solidFill>
                  <a:srgbClr val="595959"/>
                </a:solidFill>
                <a:latin typeface="微软雅黑" panose="020B0503020204020204" pitchFamily="34" charset="-122"/>
                <a:ea typeface="微软雅黑" panose="020B0503020204020204" pitchFamily="34" charset="-122"/>
                <a:cs typeface="+mn-ea"/>
                <a:sym typeface="+mn-lt"/>
              </a:rPr>
              <a:t>，用于指定cron属性值的</a:t>
            </a:r>
            <a:r>
              <a:rPr sz="1800" dirty="0">
                <a:solidFill>
                  <a:schemeClr val="accent1"/>
                </a:solidFill>
                <a:latin typeface="微软雅黑" panose="020B0503020204020204" pitchFamily="34" charset="-122"/>
                <a:ea typeface="微软雅黑" panose="020B0503020204020204" pitchFamily="34" charset="-122"/>
                <a:cs typeface="+mn-ea"/>
                <a:sym typeface="+mn-lt"/>
              </a:rPr>
              <a:t>时区</a:t>
            </a:r>
            <a:r>
              <a:rPr lang="zh-CN" sz="1800" dirty="0">
                <a:solidFill>
                  <a:srgbClr val="595959"/>
                </a:solidFill>
                <a:latin typeface="微软雅黑" panose="020B0503020204020204" pitchFamily="34" charset="-122"/>
                <a:ea typeface="微软雅黑" panose="020B0503020204020204" pitchFamily="34" charset="-122"/>
                <a:cs typeface="+mn-ea"/>
                <a:sym typeface="+mn-lt"/>
              </a:rPr>
              <a:t>。通常情况下，</a:t>
            </a:r>
            <a:r>
              <a:rPr sz="1800" dirty="0">
                <a:solidFill>
                  <a:schemeClr val="accent1"/>
                </a:solidFill>
                <a:latin typeface="微软雅黑" panose="020B0503020204020204" pitchFamily="34" charset="-122"/>
                <a:ea typeface="微软雅黑" panose="020B0503020204020204" pitchFamily="34" charset="-122"/>
                <a:cs typeface="+mn-ea"/>
                <a:sym typeface="+mn-lt"/>
              </a:rPr>
              <a:t>不指定</a:t>
            </a:r>
            <a:r>
              <a:rPr lang="zh-CN" sz="1800" dirty="0">
                <a:solidFill>
                  <a:srgbClr val="595959"/>
                </a:solidFill>
                <a:latin typeface="微软雅黑" panose="020B0503020204020204" pitchFamily="34" charset="-122"/>
                <a:ea typeface="微软雅黑" panose="020B0503020204020204" pitchFamily="34" charset="-122"/>
                <a:cs typeface="+mn-ea"/>
                <a:sym typeface="+mn-lt"/>
              </a:rPr>
              <a:t>zone属性，cron属性值会</a:t>
            </a:r>
            <a:r>
              <a:rPr sz="1800" dirty="0">
                <a:solidFill>
                  <a:schemeClr val="accent1"/>
                </a:solidFill>
                <a:latin typeface="微软雅黑" panose="020B0503020204020204" pitchFamily="34" charset="-122"/>
                <a:ea typeface="微软雅黑" panose="020B0503020204020204" pitchFamily="34" charset="-122"/>
                <a:cs typeface="+mn-ea"/>
                <a:sym typeface="+mn-lt"/>
              </a:rPr>
              <a:t>自动</a:t>
            </a:r>
            <a:r>
              <a:rPr lang="zh-CN" sz="1800" dirty="0">
                <a:solidFill>
                  <a:srgbClr val="595959"/>
                </a:solidFill>
                <a:latin typeface="微软雅黑" panose="020B0503020204020204" pitchFamily="34" charset="-122"/>
                <a:ea typeface="微软雅黑" panose="020B0503020204020204" pitchFamily="34" charset="-122"/>
                <a:cs typeface="+mn-ea"/>
                <a:sym typeface="+mn-lt"/>
              </a:rPr>
              <a:t>以</a:t>
            </a:r>
            <a:r>
              <a:rPr sz="1800" dirty="0">
                <a:solidFill>
                  <a:schemeClr val="accent1"/>
                </a:solidFill>
                <a:latin typeface="微软雅黑" panose="020B0503020204020204" pitchFamily="34" charset="-122"/>
                <a:ea typeface="微软雅黑" panose="020B0503020204020204" pitchFamily="34" charset="-122"/>
                <a:cs typeface="+mn-ea"/>
                <a:sym typeface="+mn-lt"/>
              </a:rPr>
              <a:t>服务器</a:t>
            </a:r>
            <a:r>
              <a:rPr lang="zh-CN" sz="1800" dirty="0">
                <a:solidFill>
                  <a:srgbClr val="595959"/>
                </a:solidFill>
                <a:latin typeface="微软雅黑" panose="020B0503020204020204" pitchFamily="34" charset="-122"/>
                <a:ea typeface="微软雅黑" panose="020B0503020204020204" pitchFamily="34" charset="-122"/>
                <a:cs typeface="+mn-ea"/>
                <a:sym typeface="+mn-lt"/>
              </a:rPr>
              <a:t>所在区域作为</a:t>
            </a:r>
            <a:r>
              <a:rPr sz="1800" dirty="0">
                <a:solidFill>
                  <a:schemeClr val="accent1"/>
                </a:solidFill>
                <a:latin typeface="微软雅黑" panose="020B0503020204020204" pitchFamily="34" charset="-122"/>
                <a:ea typeface="微软雅黑" panose="020B0503020204020204" pitchFamily="34" charset="-122"/>
                <a:cs typeface="+mn-ea"/>
                <a:sym typeface="+mn-lt"/>
              </a:rPr>
              <a:t>本地时区</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进行表达式</a:t>
            </a:r>
            <a:r>
              <a:rPr sz="1800" dirty="0">
                <a:solidFill>
                  <a:schemeClr val="accent1"/>
                </a:solidFill>
                <a:latin typeface="微软雅黑" panose="020B0503020204020204" pitchFamily="34" charset="-122"/>
                <a:ea typeface="微软雅黑" panose="020B0503020204020204" pitchFamily="34" charset="-122"/>
                <a:cs typeface="+mn-ea"/>
                <a:sym typeface="+mn-lt"/>
              </a:rPr>
              <a:t>解析</a:t>
            </a:r>
            <a:r>
              <a:rPr lang="zh-CN" sz="1800" dirty="0">
                <a:solidFill>
                  <a:srgbClr val="595959"/>
                </a:solidFill>
                <a:latin typeface="微软雅黑" panose="020B0503020204020204" pitchFamily="34" charset="-122"/>
                <a:ea typeface="微软雅黑" panose="020B0503020204020204" pitchFamily="34" charset="-122"/>
                <a:cs typeface="+mn-ea"/>
                <a:sym typeface="+mn-lt"/>
              </a:rPr>
              <a:t>。例如，中国地区服务器的时区通常默认为Asia/Shanghai。</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13296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③　</a:t>
            </a:r>
            <a:r>
              <a:rPr sz="1800" dirty="0">
                <a:solidFill>
                  <a:schemeClr val="accent1"/>
                </a:solidFill>
                <a:latin typeface="微软雅黑" panose="020B0503020204020204" pitchFamily="34" charset="-122"/>
                <a:ea typeface="微软雅黑" panose="020B0503020204020204" pitchFamily="34" charset="-122"/>
                <a:cs typeface="+mn-ea"/>
                <a:sym typeface="+mn-lt"/>
              </a:rPr>
              <a:t>fixedDelay</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fixedDelayString属性</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fixedDelay和fixedDelayString属性的</a:t>
            </a:r>
            <a:r>
              <a:rPr sz="1800" dirty="0">
                <a:solidFill>
                  <a:schemeClr val="accent1"/>
                </a:solidFill>
                <a:latin typeface="微软雅黑" panose="020B0503020204020204" pitchFamily="34" charset="-122"/>
                <a:ea typeface="微软雅黑" panose="020B0503020204020204" pitchFamily="34" charset="-122"/>
                <a:cs typeface="+mn-ea"/>
                <a:sym typeface="+mn-lt"/>
              </a:rPr>
              <a:t>作用</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相同</a:t>
            </a:r>
            <a:r>
              <a:rPr lang="zh-CN" sz="1800" dirty="0">
                <a:solidFill>
                  <a:srgbClr val="595959"/>
                </a:solidFill>
                <a:latin typeface="微软雅黑" panose="020B0503020204020204" pitchFamily="34" charset="-122"/>
                <a:ea typeface="微软雅黑" panose="020B0503020204020204" pitchFamily="34" charset="-122"/>
                <a:cs typeface="+mn-ea"/>
                <a:sym typeface="+mn-lt"/>
              </a:rPr>
              <a:t>，都可以指定上一次任务执行结束后</a:t>
            </a:r>
            <a:r>
              <a:rPr sz="1800" dirty="0">
                <a:solidFill>
                  <a:schemeClr val="accent1"/>
                </a:solidFill>
                <a:latin typeface="微软雅黑" panose="020B0503020204020204" pitchFamily="34" charset="-122"/>
                <a:ea typeface="微软雅黑" panose="020B0503020204020204" pitchFamily="34" charset="-122"/>
                <a:cs typeface="+mn-ea"/>
                <a:sym typeface="+mn-lt"/>
              </a:rPr>
              <a:t>再次执行</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下一次任务的时间</a:t>
            </a:r>
            <a:r>
              <a:rPr sz="1800" dirty="0">
                <a:solidFill>
                  <a:schemeClr val="accent1"/>
                </a:solidFill>
                <a:latin typeface="微软雅黑" panose="020B0503020204020204" pitchFamily="34" charset="-122"/>
                <a:ea typeface="微软雅黑" panose="020B0503020204020204" pitchFamily="34" charset="-122"/>
                <a:cs typeface="+mn-ea"/>
                <a:sym typeface="+mn-lt"/>
              </a:rPr>
              <a:t>间隔</a:t>
            </a:r>
            <a:r>
              <a:rPr lang="zh-CN" sz="1800" dirty="0">
                <a:solidFill>
                  <a:srgbClr val="595959"/>
                </a:solidFill>
                <a:latin typeface="微软雅黑" panose="020B0503020204020204" pitchFamily="34" charset="-122"/>
                <a:ea typeface="微软雅黑" panose="020B0503020204020204" pitchFamily="34" charset="-122"/>
                <a:cs typeface="+mn-ea"/>
                <a:sym typeface="+mn-lt"/>
              </a:rPr>
              <a:t>，两者的主要</a:t>
            </a:r>
            <a:r>
              <a:rPr sz="1800" dirty="0">
                <a:solidFill>
                  <a:schemeClr val="accent1"/>
                </a:solidFill>
                <a:latin typeface="微软雅黑" panose="020B0503020204020204" pitchFamily="34" charset="-122"/>
                <a:ea typeface="微软雅黑" panose="020B0503020204020204" pitchFamily="34" charset="-122"/>
                <a:cs typeface="+mn-ea"/>
                <a:sym typeface="+mn-lt"/>
              </a:rPr>
              <a:t>区别</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是属性值的</a:t>
            </a:r>
            <a:r>
              <a:rPr sz="1800" dirty="0">
                <a:solidFill>
                  <a:schemeClr val="accent1"/>
                </a:solidFill>
                <a:latin typeface="微软雅黑" panose="020B0503020204020204" pitchFamily="34" charset="-122"/>
                <a:ea typeface="微软雅黑" panose="020B0503020204020204" pitchFamily="34" charset="-122"/>
                <a:cs typeface="+mn-ea"/>
                <a:sym typeface="+mn-lt"/>
              </a:rPr>
              <a:t>类型不同</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lang="zh-CN" sz="1800" dirty="0">
                <a:solidFill>
                  <a:srgbClr val="595959"/>
                </a:solidFill>
                <a:latin typeface="微软雅黑" panose="020B0503020204020204" pitchFamily="34" charset="-122"/>
                <a:ea typeface="微软雅黑" panose="020B0503020204020204" pitchFamily="34" charset="-122"/>
                <a:cs typeface="+mn-ea"/>
                <a:sym typeface="+mn-lt"/>
              </a:rPr>
              <a:t>其中，</a:t>
            </a:r>
            <a:r>
              <a:rPr sz="1800" dirty="0">
                <a:solidFill>
                  <a:schemeClr val="accent1"/>
                </a:solidFill>
                <a:latin typeface="微软雅黑" panose="020B0503020204020204" pitchFamily="34" charset="-122"/>
                <a:ea typeface="微软雅黑" panose="020B0503020204020204" pitchFamily="34" charset="-122"/>
                <a:cs typeface="+mn-ea"/>
                <a:sym typeface="+mn-lt"/>
              </a:rPr>
              <a:t>fixedDelay属性值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为</a:t>
            </a:r>
            <a:r>
              <a:rPr sz="1800" dirty="0">
                <a:solidFill>
                  <a:schemeClr val="accent1"/>
                </a:solidFill>
                <a:latin typeface="微软雅黑" panose="020B0503020204020204" pitchFamily="34" charset="-122"/>
                <a:ea typeface="微软雅黑" panose="020B0503020204020204" pitchFamily="34" charset="-122"/>
                <a:cs typeface="+mn-ea"/>
                <a:sym typeface="+mn-lt"/>
              </a:rPr>
              <a:t>long类型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，而</a:t>
            </a:r>
            <a:r>
              <a:rPr sz="1800" dirty="0">
                <a:solidFill>
                  <a:schemeClr val="accent1"/>
                </a:solidFill>
                <a:latin typeface="微软雅黑" panose="020B0503020204020204" pitchFamily="34" charset="-122"/>
                <a:ea typeface="微软雅黑" panose="020B0503020204020204" pitchFamily="34" charset="-122"/>
                <a:cs typeface="+mn-ea"/>
                <a:sym typeface="+mn-lt"/>
              </a:rPr>
              <a:t>fixedDelayString属性值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为</a:t>
            </a:r>
            <a:r>
              <a:rPr sz="1800" dirty="0">
                <a:solidFill>
                  <a:schemeClr val="accent1"/>
                </a:solidFill>
                <a:latin typeface="微软雅黑" panose="020B0503020204020204" pitchFamily="34" charset="-122"/>
                <a:ea typeface="微软雅黑" panose="020B0503020204020204" pitchFamily="34" charset="-122"/>
                <a:cs typeface="+mn-ea"/>
                <a:sym typeface="+mn-lt"/>
              </a:rPr>
              <a:t>字符串类型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，且该字符串必须要能转换成long类型。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 name="组合 8"/>
          <p:cNvGrpSpPr/>
          <p:nvPr/>
        </p:nvGrpSpPr>
        <p:grpSpPr bwMode="auto">
          <a:xfrm>
            <a:off x="967105" y="4343400"/>
            <a:ext cx="10339070" cy="1003300"/>
            <a:chOff x="339332" y="1269583"/>
            <a:chExt cx="10157364" cy="6131104"/>
          </a:xfrm>
        </p:grpSpPr>
        <p:sp>
          <p:nvSpPr>
            <p:cNvPr id="5" name="矩形 4"/>
            <p:cNvSpPr/>
            <p:nvPr>
              <p:custDataLst>
                <p:tags r:id="rId4"/>
              </p:custDataLst>
            </p:nvPr>
          </p:nvSpPr>
          <p:spPr>
            <a:xfrm>
              <a:off x="339332" y="1269583"/>
              <a:ext cx="10157364" cy="6127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矩形 5"/>
            <p:cNvSpPr/>
            <p:nvPr>
              <p:custDataLst>
                <p:tags r:id="rId5"/>
              </p:custDataLst>
            </p:nvPr>
          </p:nvSpPr>
          <p:spPr>
            <a:xfrm>
              <a:off x="848385" y="1354953"/>
              <a:ext cx="8705064" cy="6045734"/>
            </a:xfrm>
            <a:prstGeom prst="rect">
              <a:avLst/>
            </a:prstGeom>
          </p:spPr>
          <p:txBody>
            <a:bodyPr wrap="square">
              <a:noAutofit/>
            </a:bodyPr>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@Scheduled(fixedDelay = 5000)</a:t>
              </a:r>
              <a:endParaRPr lang="zh-CN" sz="16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@Scheduled(fixedDelayString = "5000")</a:t>
              </a:r>
              <a:endParaRPr lang="zh-CN" sz="1600" dirty="0">
                <a:solidFill>
                  <a:srgbClr val="595959"/>
                </a:solidFill>
                <a:latin typeface="微软雅黑" panose="020B0503020204020204" pitchFamily="34" charset="-122"/>
                <a:ea typeface="微软雅黑" panose="020B0503020204020204" pitchFamily="34" charset="-122"/>
                <a:cs typeface="+mn-ea"/>
                <a:sym typeface="+mn-lt"/>
              </a:endParaRPr>
            </a:p>
          </p:txBody>
        </p:sp>
      </p:grpSp>
      <p:sp>
        <p:nvSpPr>
          <p:cNvPr id="8" name="矩形 7"/>
          <p:cNvSpPr/>
          <p:nvPr/>
        </p:nvSpPr>
        <p:spPr>
          <a:xfrm>
            <a:off x="4079240" y="4438015"/>
            <a:ext cx="575945" cy="28765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6"/>
            </p:custDataLst>
          </p:nvPr>
        </p:nvSpPr>
        <p:spPr>
          <a:xfrm>
            <a:off x="4708525" y="4852035"/>
            <a:ext cx="662305" cy="25146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7"/>
            </p:custDataLst>
          </p:nvPr>
        </p:nvSpPr>
        <p:spPr>
          <a:xfrm>
            <a:off x="6664325" y="4428490"/>
            <a:ext cx="4404360" cy="8166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a:solidFill>
                  <a:srgbClr val="FF0000"/>
                </a:solidFill>
              </a:rPr>
              <a:t>程序启动后，会立即执行一次定时任务，然后在任务执行结束后，每隔5000毫秒重复执行一次任务。</a:t>
            </a:r>
            <a:endParaRPr lang="zh-CN" altLang="en-US" sz="1600">
              <a:solidFill>
                <a:srgbClr val="FF0000"/>
              </a:solidFill>
            </a:endParaRPr>
          </a:p>
        </p:txBody>
      </p:sp>
      <p:cxnSp>
        <p:nvCxnSpPr>
          <p:cNvPr id="12" name="直接箭头连接符 11"/>
          <p:cNvCxnSpPr>
            <a:stCxn id="8" idx="3"/>
            <a:endCxn id="10" idx="1"/>
          </p:cNvCxnSpPr>
          <p:nvPr/>
        </p:nvCxnSpPr>
        <p:spPr>
          <a:xfrm>
            <a:off x="4655185" y="4582160"/>
            <a:ext cx="2009140" cy="25463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9" idx="3"/>
            <a:endCxn id="10" idx="1"/>
          </p:cNvCxnSpPr>
          <p:nvPr/>
        </p:nvCxnSpPr>
        <p:spPr>
          <a:xfrm flipV="1">
            <a:off x="5370830" y="4836795"/>
            <a:ext cx="1293495" cy="14097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13296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④　</a:t>
            </a:r>
            <a:r>
              <a:rPr sz="1800" dirty="0">
                <a:solidFill>
                  <a:schemeClr val="accent1"/>
                </a:solidFill>
                <a:latin typeface="微软雅黑" panose="020B0503020204020204" pitchFamily="34" charset="-122"/>
                <a:ea typeface="微软雅黑" panose="020B0503020204020204" pitchFamily="34" charset="-122"/>
                <a:cs typeface="+mn-ea"/>
                <a:sym typeface="+mn-lt"/>
              </a:rPr>
              <a:t>fixedRate</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fixedRateString属性</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fixedRate和fixedRateString属性的</a:t>
            </a:r>
            <a:r>
              <a:rPr sz="1800" dirty="0">
                <a:solidFill>
                  <a:schemeClr val="accent1"/>
                </a:solidFill>
                <a:latin typeface="微软雅黑" panose="020B0503020204020204" pitchFamily="34" charset="-122"/>
                <a:ea typeface="微软雅黑" panose="020B0503020204020204" pitchFamily="34" charset="-122"/>
                <a:cs typeface="+mn-ea"/>
                <a:sym typeface="+mn-lt"/>
              </a:rPr>
              <a:t>作用相同</a:t>
            </a:r>
            <a:r>
              <a:rPr lang="zh-CN" sz="1800" dirty="0">
                <a:solidFill>
                  <a:srgbClr val="595959"/>
                </a:solidFill>
                <a:latin typeface="微软雅黑" panose="020B0503020204020204" pitchFamily="34" charset="-122"/>
                <a:ea typeface="微软雅黑" panose="020B0503020204020204" pitchFamily="34" charset="-122"/>
                <a:cs typeface="+mn-ea"/>
                <a:sym typeface="+mn-lt"/>
              </a:rPr>
              <a:t>，都可以指定</a:t>
            </a:r>
            <a:r>
              <a:rPr sz="1800" dirty="0">
                <a:solidFill>
                  <a:schemeClr val="accent1"/>
                </a:solidFill>
                <a:latin typeface="微软雅黑" panose="020B0503020204020204" pitchFamily="34" charset="-122"/>
                <a:ea typeface="微软雅黑" panose="020B0503020204020204" pitchFamily="34" charset="-122"/>
                <a:cs typeface="+mn-ea"/>
                <a:sym typeface="+mn-lt"/>
              </a:rPr>
              <a:t>每隔多久</a:t>
            </a:r>
            <a:r>
              <a:rPr lang="zh-CN" sz="1800" dirty="0">
                <a:solidFill>
                  <a:srgbClr val="595959"/>
                </a:solidFill>
                <a:latin typeface="微软雅黑" panose="020B0503020204020204" pitchFamily="34" charset="-122"/>
                <a:ea typeface="微软雅黑" panose="020B0503020204020204" pitchFamily="34" charset="-122"/>
                <a:cs typeface="+mn-ea"/>
                <a:sym typeface="+mn-lt"/>
              </a:rPr>
              <a:t>时间</a:t>
            </a:r>
            <a:r>
              <a:rPr sz="1800" dirty="0">
                <a:solidFill>
                  <a:schemeClr val="accent1"/>
                </a:solidFill>
                <a:latin typeface="微软雅黑" panose="020B0503020204020204" pitchFamily="34" charset="-122"/>
                <a:ea typeface="微软雅黑" panose="020B0503020204020204" pitchFamily="34" charset="-122"/>
                <a:cs typeface="+mn-ea"/>
                <a:sym typeface="+mn-lt"/>
              </a:rPr>
              <a:t>执行</a:t>
            </a:r>
            <a:r>
              <a:rPr lang="zh-CN" sz="1800" dirty="0">
                <a:solidFill>
                  <a:srgbClr val="595959"/>
                </a:solidFill>
                <a:latin typeface="微软雅黑" panose="020B0503020204020204" pitchFamily="34" charset="-122"/>
                <a:ea typeface="微软雅黑" panose="020B0503020204020204" pitchFamily="34" charset="-122"/>
                <a:cs typeface="+mn-ea"/>
                <a:sym typeface="+mn-lt"/>
              </a:rPr>
              <a:t>一次任务，两者的主要区别是属性值的类型不同。其中，</a:t>
            </a:r>
            <a:r>
              <a:rPr sz="1800" dirty="0">
                <a:solidFill>
                  <a:schemeClr val="accent1"/>
                </a:solidFill>
                <a:latin typeface="微软雅黑" panose="020B0503020204020204" pitchFamily="34" charset="-122"/>
                <a:ea typeface="微软雅黑" panose="020B0503020204020204" pitchFamily="34" charset="-122"/>
                <a:cs typeface="+mn-ea"/>
                <a:sym typeface="+mn-lt"/>
              </a:rPr>
              <a:t>fixedRate属性值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为</a:t>
            </a:r>
            <a:r>
              <a:rPr sz="1800" dirty="0">
                <a:solidFill>
                  <a:schemeClr val="accent1"/>
                </a:solidFill>
                <a:latin typeface="微软雅黑" panose="020B0503020204020204" pitchFamily="34" charset="-122"/>
                <a:ea typeface="微软雅黑" panose="020B0503020204020204" pitchFamily="34" charset="-122"/>
                <a:cs typeface="+mn-ea"/>
                <a:sym typeface="+mn-lt"/>
              </a:rPr>
              <a:t>long类型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fixedRateString属性值</a:t>
            </a:r>
            <a:r>
              <a:rPr lang="zh-CN" sz="1800" dirty="0">
                <a:solidFill>
                  <a:srgbClr val="595959"/>
                </a:solidFill>
                <a:latin typeface="微软雅黑" panose="020B0503020204020204" pitchFamily="34" charset="-122"/>
                <a:ea typeface="微软雅黑" panose="020B0503020204020204" pitchFamily="34" charset="-122"/>
                <a:cs typeface="+mn-ea"/>
                <a:sym typeface="+mn-lt"/>
              </a:rPr>
              <a:t>为</a:t>
            </a:r>
            <a:r>
              <a:rPr sz="1800" dirty="0">
                <a:solidFill>
                  <a:schemeClr val="accent1"/>
                </a:solidFill>
                <a:latin typeface="微软雅黑" panose="020B0503020204020204" pitchFamily="34" charset="-122"/>
                <a:ea typeface="微软雅黑" panose="020B0503020204020204" pitchFamily="34" charset="-122"/>
                <a:cs typeface="+mn-ea"/>
                <a:sym typeface="+mn-lt"/>
              </a:rPr>
              <a:t>字符串类型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，且该字符串必须要能转换成long类型。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 name="组合 8"/>
          <p:cNvGrpSpPr/>
          <p:nvPr/>
        </p:nvGrpSpPr>
        <p:grpSpPr bwMode="auto">
          <a:xfrm>
            <a:off x="967105" y="4343400"/>
            <a:ext cx="10339070" cy="1003300"/>
            <a:chOff x="339332" y="1269583"/>
            <a:chExt cx="10157364" cy="6131104"/>
          </a:xfrm>
        </p:grpSpPr>
        <p:sp>
          <p:nvSpPr>
            <p:cNvPr id="5" name="矩形 4"/>
            <p:cNvSpPr/>
            <p:nvPr>
              <p:custDataLst>
                <p:tags r:id="rId4"/>
              </p:custDataLst>
            </p:nvPr>
          </p:nvSpPr>
          <p:spPr>
            <a:xfrm>
              <a:off x="339332" y="1269583"/>
              <a:ext cx="10157364" cy="6127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矩形 5"/>
            <p:cNvSpPr/>
            <p:nvPr>
              <p:custDataLst>
                <p:tags r:id="rId5"/>
              </p:custDataLst>
            </p:nvPr>
          </p:nvSpPr>
          <p:spPr>
            <a:xfrm>
              <a:off x="848385" y="1354953"/>
              <a:ext cx="8705064" cy="6045734"/>
            </a:xfrm>
            <a:prstGeom prst="rect">
              <a:avLst/>
            </a:prstGeom>
          </p:spPr>
          <p:txBody>
            <a:bodyPr wrap="square">
              <a:noAutofit/>
            </a:bodyPr>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@Scheduled(fixedRate = 5000)</a:t>
              </a:r>
              <a:endParaRPr lang="zh-CN" sz="16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@Scheduled(fixedRateString = "5000")</a:t>
              </a:r>
              <a:endParaRPr lang="zh-CN" sz="1600" dirty="0">
                <a:solidFill>
                  <a:srgbClr val="595959"/>
                </a:solidFill>
                <a:latin typeface="微软雅黑" panose="020B0503020204020204" pitchFamily="34" charset="-122"/>
                <a:ea typeface="微软雅黑" panose="020B0503020204020204" pitchFamily="34" charset="-122"/>
                <a:cs typeface="+mn-ea"/>
                <a:sym typeface="+mn-lt"/>
              </a:endParaRPr>
            </a:p>
          </p:txBody>
        </p:sp>
      </p:grpSp>
      <p:sp>
        <p:nvSpPr>
          <p:cNvPr id="8" name="矩形 7"/>
          <p:cNvSpPr/>
          <p:nvPr/>
        </p:nvSpPr>
        <p:spPr>
          <a:xfrm>
            <a:off x="3992880" y="4438015"/>
            <a:ext cx="518795" cy="29718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6"/>
            </p:custDataLst>
          </p:nvPr>
        </p:nvSpPr>
        <p:spPr>
          <a:xfrm>
            <a:off x="4565015" y="4852035"/>
            <a:ext cx="718820" cy="23939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7"/>
            </p:custDataLst>
          </p:nvPr>
        </p:nvSpPr>
        <p:spPr>
          <a:xfrm>
            <a:off x="6664325" y="4428490"/>
            <a:ext cx="4404360" cy="81661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a:solidFill>
                  <a:srgbClr val="FF0000"/>
                </a:solidFill>
              </a:rPr>
              <a:t>程序启动后，会立即执行一次定时任务，然后每隔5000毫秒重复执行定时任务。</a:t>
            </a:r>
            <a:endParaRPr lang="zh-CN" altLang="en-US" sz="1600">
              <a:solidFill>
                <a:srgbClr val="FF0000"/>
              </a:solidFill>
            </a:endParaRPr>
          </a:p>
        </p:txBody>
      </p:sp>
      <p:cxnSp>
        <p:nvCxnSpPr>
          <p:cNvPr id="12" name="直接箭头连接符 11"/>
          <p:cNvCxnSpPr>
            <a:stCxn id="8" idx="3"/>
            <a:endCxn id="10" idx="1"/>
          </p:cNvCxnSpPr>
          <p:nvPr/>
        </p:nvCxnSpPr>
        <p:spPr>
          <a:xfrm>
            <a:off x="4511675" y="4586605"/>
            <a:ext cx="2152650" cy="25019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9" idx="3"/>
            <a:endCxn id="10" idx="1"/>
          </p:cNvCxnSpPr>
          <p:nvPr/>
        </p:nvCxnSpPr>
        <p:spPr>
          <a:xfrm flipV="1">
            <a:off x="5283835" y="4836795"/>
            <a:ext cx="1380490" cy="13525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6"/>
          <p:cNvSpPr>
            <a:spLocks noChangeArrowheads="1"/>
          </p:cNvSpPr>
          <p:nvPr>
            <p:custDataLst>
              <p:tags r:id="rId8"/>
            </p:custDataLst>
          </p:nvPr>
        </p:nvSpPr>
        <p:spPr bwMode="auto">
          <a:xfrm>
            <a:off x="995680" y="5577840"/>
            <a:ext cx="6449060"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如果在</a:t>
            </a:r>
            <a:r>
              <a:rPr sz="1800" dirty="0">
                <a:solidFill>
                  <a:schemeClr val="accent1"/>
                </a:solidFill>
                <a:latin typeface="微软雅黑" panose="020B0503020204020204" pitchFamily="34" charset="-122"/>
                <a:ea typeface="微软雅黑" panose="020B0503020204020204" pitchFamily="34" charset="-122"/>
                <a:cs typeface="+mn-ea"/>
                <a:sym typeface="+mn-lt"/>
              </a:rPr>
              <a:t>单线程</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中使用这两个属性需要注意</a:t>
            </a:r>
            <a:r>
              <a:rPr sz="1800" dirty="0">
                <a:solidFill>
                  <a:schemeClr val="accent1"/>
                </a:solidFill>
                <a:latin typeface="微软雅黑" panose="020B0503020204020204" pitchFamily="34" charset="-122"/>
                <a:ea typeface="微软雅黑" panose="020B0503020204020204" pitchFamily="34" charset="-122"/>
                <a:cs typeface="+mn-ea"/>
                <a:sym typeface="+mn-lt"/>
              </a:rPr>
              <a:t>避免线程的阻塞</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5027295" y="2132965"/>
            <a:ext cx="6172835" cy="3739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fixedRate/fixedRateString属性</a:t>
            </a:r>
            <a:r>
              <a:rPr lang="zh-CN" sz="1800" dirty="0">
                <a:solidFill>
                  <a:srgbClr val="595959"/>
                </a:solidFill>
                <a:latin typeface="微软雅黑" panose="020B0503020204020204" pitchFamily="34" charset="-122"/>
                <a:ea typeface="微软雅黑" panose="020B0503020204020204" pitchFamily="34" charset="-122"/>
                <a:cs typeface="+mn-ea"/>
                <a:sym typeface="+mn-lt"/>
              </a:rPr>
              <a:t>与</a:t>
            </a:r>
            <a:r>
              <a:rPr sz="1800" dirty="0">
                <a:solidFill>
                  <a:schemeClr val="accent1"/>
                </a:solidFill>
                <a:latin typeface="微软雅黑" panose="020B0503020204020204" pitchFamily="34" charset="-122"/>
                <a:ea typeface="微软雅黑" panose="020B0503020204020204" pitchFamily="34" charset="-122"/>
                <a:cs typeface="+mn-ea"/>
                <a:sym typeface="+mn-lt"/>
              </a:rPr>
              <a:t>fixedDelay/fixedDelayString属性</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作用</a:t>
            </a:r>
            <a:r>
              <a:rPr lang="zh-CN" sz="1800" dirty="0">
                <a:solidFill>
                  <a:srgbClr val="595959"/>
                </a:solidFill>
                <a:latin typeface="微软雅黑" panose="020B0503020204020204" pitchFamily="34" charset="-122"/>
                <a:ea typeface="微软雅黑" panose="020B0503020204020204" pitchFamily="34" charset="-122"/>
                <a:cs typeface="+mn-ea"/>
                <a:sym typeface="+mn-lt"/>
              </a:rPr>
              <a:t>有些</a:t>
            </a:r>
            <a:r>
              <a:rPr sz="1800" dirty="0">
                <a:solidFill>
                  <a:schemeClr val="accent1"/>
                </a:solidFill>
                <a:latin typeface="微软雅黑" panose="020B0503020204020204" pitchFamily="34" charset="-122"/>
                <a:ea typeface="微软雅黑" panose="020B0503020204020204" pitchFamily="34" charset="-122"/>
                <a:cs typeface="+mn-ea"/>
                <a:sym typeface="+mn-lt"/>
              </a:rPr>
              <a:t>类似</a:t>
            </a:r>
            <a:r>
              <a:rPr lang="zh-CN" sz="1800" dirty="0">
                <a:solidFill>
                  <a:srgbClr val="595959"/>
                </a:solidFill>
                <a:latin typeface="微软雅黑" panose="020B0503020204020204" pitchFamily="34" charset="-122"/>
                <a:ea typeface="微软雅黑" panose="020B0503020204020204" pitchFamily="34" charset="-122"/>
                <a:cs typeface="+mn-ea"/>
                <a:sym typeface="+mn-lt"/>
              </a:rPr>
              <a:t>，都是隔一段时间再</a:t>
            </a:r>
            <a:r>
              <a:rPr sz="1800" dirty="0">
                <a:solidFill>
                  <a:schemeClr val="accent1"/>
                </a:solidFill>
                <a:latin typeface="微软雅黑" panose="020B0503020204020204" pitchFamily="34" charset="-122"/>
                <a:ea typeface="微软雅黑" panose="020B0503020204020204" pitchFamily="34" charset="-122"/>
                <a:cs typeface="+mn-ea"/>
                <a:sym typeface="+mn-lt"/>
              </a:rPr>
              <a:t>重复执行</a:t>
            </a:r>
            <a:r>
              <a:rPr lang="zh-CN" sz="1800" dirty="0">
                <a:solidFill>
                  <a:srgbClr val="595959"/>
                </a:solidFill>
                <a:latin typeface="微软雅黑" panose="020B0503020204020204" pitchFamily="34" charset="-122"/>
                <a:ea typeface="微软雅黑" panose="020B0503020204020204" pitchFamily="34" charset="-122"/>
                <a:cs typeface="+mn-ea"/>
                <a:sym typeface="+mn-lt"/>
              </a:rPr>
              <a:t>定时任务，它们主要区别如下。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fontAlgn="auto" latinLnBrk="1">
              <a:lnSpc>
                <a:spcPct val="150000"/>
              </a:lnSpc>
              <a:buFont typeface="Wingdings" panose="05000000000000000000" charset="0"/>
              <a:buChar char="l"/>
            </a:pPr>
            <a:r>
              <a:rPr lang="zh-CN" sz="1800" dirty="0">
                <a:solidFill>
                  <a:srgbClr val="595959"/>
                </a:solidFill>
                <a:latin typeface="微软雅黑" panose="020B0503020204020204" pitchFamily="34" charset="-122"/>
                <a:ea typeface="微软雅黑" panose="020B0503020204020204" pitchFamily="34" charset="-122"/>
                <a:cs typeface="+mn-ea"/>
                <a:sym typeface="+mn-lt"/>
              </a:rPr>
              <a:t>fixedDelay和fixedDelayString属性的下一次</a:t>
            </a:r>
            <a:r>
              <a:rPr sz="1800" dirty="0">
                <a:solidFill>
                  <a:schemeClr val="accent1"/>
                </a:solidFill>
                <a:latin typeface="微软雅黑" panose="020B0503020204020204" pitchFamily="34" charset="-122"/>
                <a:ea typeface="微软雅黑" panose="020B0503020204020204" pitchFamily="34" charset="-122"/>
                <a:cs typeface="+mn-ea"/>
                <a:sym typeface="+mn-lt"/>
              </a:rPr>
              <a:t>执行时间</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从</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a:t>
            </a:r>
            <a:r>
              <a:rPr sz="1800" dirty="0">
                <a:solidFill>
                  <a:schemeClr val="accent1"/>
                </a:solidFill>
                <a:latin typeface="微软雅黑" panose="020B0503020204020204" pitchFamily="34" charset="-122"/>
                <a:ea typeface="微软雅黑" panose="020B0503020204020204" pitchFamily="34" charset="-122"/>
                <a:cs typeface="+mn-ea"/>
                <a:sym typeface="+mn-lt"/>
              </a:rPr>
              <a:t>上一次</a:t>
            </a:r>
            <a:r>
              <a:rPr lang="zh-CN" sz="1800" dirty="0">
                <a:solidFill>
                  <a:srgbClr val="595959"/>
                </a:solidFill>
                <a:latin typeface="微软雅黑" panose="020B0503020204020204" pitchFamily="34" charset="-122"/>
                <a:ea typeface="微软雅黑" panose="020B0503020204020204" pitchFamily="34" charset="-122"/>
                <a:cs typeface="+mn-ea"/>
                <a:sym typeface="+mn-lt"/>
              </a:rPr>
              <a:t>任务执行</a:t>
            </a:r>
            <a:r>
              <a:rPr sz="1800" dirty="0">
                <a:solidFill>
                  <a:schemeClr val="accent1"/>
                </a:solidFill>
                <a:latin typeface="微软雅黑" panose="020B0503020204020204" pitchFamily="34" charset="-122"/>
                <a:ea typeface="微软雅黑" panose="020B0503020204020204" pitchFamily="34" charset="-122"/>
                <a:cs typeface="+mn-ea"/>
                <a:sym typeface="+mn-lt"/>
              </a:rPr>
              <a:t>完成后</a:t>
            </a:r>
            <a:r>
              <a:rPr lang="zh-CN" sz="1800" dirty="0">
                <a:solidFill>
                  <a:srgbClr val="595959"/>
                </a:solidFill>
                <a:latin typeface="微软雅黑" panose="020B0503020204020204" pitchFamily="34" charset="-122"/>
                <a:ea typeface="微软雅黑" panose="020B0503020204020204" pitchFamily="34" charset="-122"/>
                <a:cs typeface="+mn-ea"/>
                <a:sym typeface="+mn-lt"/>
              </a:rPr>
              <a:t>开始</a:t>
            </a:r>
            <a:r>
              <a:rPr sz="1800" dirty="0">
                <a:solidFill>
                  <a:schemeClr val="accent1"/>
                </a:solidFill>
                <a:latin typeface="微软雅黑" panose="020B0503020204020204" pitchFamily="34" charset="-122"/>
                <a:ea typeface="微软雅黑" panose="020B0503020204020204" pitchFamily="34" charset="-122"/>
                <a:cs typeface="+mn-ea"/>
                <a:sym typeface="+mn-lt"/>
              </a:rPr>
              <a:t>计时</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的</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fontAlgn="auto" latinLnBrk="1">
              <a:lnSpc>
                <a:spcPct val="150000"/>
              </a:lnSpc>
              <a:buFont typeface="Wingdings" panose="05000000000000000000" charset="0"/>
              <a:buChar char="l"/>
            </a:pPr>
            <a:r>
              <a:rPr lang="zh-CN" sz="1800" dirty="0">
                <a:solidFill>
                  <a:srgbClr val="595959"/>
                </a:solidFill>
                <a:latin typeface="微软雅黑" panose="020B0503020204020204" pitchFamily="34" charset="-122"/>
                <a:ea typeface="微软雅黑" panose="020B0503020204020204" pitchFamily="34" charset="-122"/>
                <a:cs typeface="+mn-ea"/>
                <a:sym typeface="+mn-lt"/>
              </a:rPr>
              <a:t>fixedRate和fixedRateString属性的下一次</a:t>
            </a:r>
            <a:r>
              <a:rPr sz="1800" dirty="0">
                <a:solidFill>
                  <a:schemeClr val="accent1"/>
                </a:solidFill>
                <a:latin typeface="微软雅黑" panose="020B0503020204020204" pitchFamily="34" charset="-122"/>
                <a:ea typeface="微软雅黑" panose="020B0503020204020204" pitchFamily="34" charset="-122"/>
                <a:cs typeface="+mn-ea"/>
                <a:sym typeface="+mn-lt"/>
              </a:rPr>
              <a:t>执行时间</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是从</a:t>
            </a:r>
            <a:r>
              <a:rPr sz="1800" dirty="0">
                <a:solidFill>
                  <a:schemeClr val="accent1"/>
                </a:solidFill>
                <a:latin typeface="微软雅黑" panose="020B0503020204020204" pitchFamily="34" charset="-122"/>
                <a:ea typeface="微软雅黑" panose="020B0503020204020204" pitchFamily="34" charset="-122"/>
                <a:cs typeface="+mn-ea"/>
                <a:sym typeface="+mn-lt"/>
              </a:rPr>
              <a:t>上一次</a:t>
            </a:r>
            <a:r>
              <a:rPr lang="zh-CN" sz="1800" dirty="0">
                <a:solidFill>
                  <a:srgbClr val="595959"/>
                </a:solidFill>
                <a:latin typeface="微软雅黑" panose="020B0503020204020204" pitchFamily="34" charset="-122"/>
                <a:ea typeface="微软雅黑" panose="020B0503020204020204" pitchFamily="34" charset="-122"/>
                <a:cs typeface="+mn-ea"/>
                <a:sym typeface="+mn-lt"/>
              </a:rPr>
              <a:t>任务执行就</a:t>
            </a:r>
            <a:r>
              <a:rPr sz="1800" dirty="0">
                <a:solidFill>
                  <a:schemeClr val="accent1"/>
                </a:solidFill>
                <a:latin typeface="微软雅黑" panose="020B0503020204020204" pitchFamily="34" charset="-122"/>
                <a:ea typeface="微软雅黑" panose="020B0503020204020204" pitchFamily="34" charset="-122"/>
                <a:cs typeface="+mn-ea"/>
                <a:sym typeface="+mn-lt"/>
              </a:rPr>
              <a:t>开始计时</a:t>
            </a:r>
            <a:r>
              <a:rPr lang="zh-CN" sz="1800" dirty="0">
                <a:solidFill>
                  <a:srgbClr val="595959"/>
                </a:solidFill>
                <a:latin typeface="微软雅黑" panose="020B0503020204020204" pitchFamily="34" charset="-122"/>
                <a:ea typeface="微软雅黑" panose="020B0503020204020204" pitchFamily="34" charset="-122"/>
                <a:cs typeface="+mn-ea"/>
                <a:sym typeface="+mn-lt"/>
              </a:rPr>
              <a:t>，如果遇到配置的间隔时间小于定时任务执行时间的情况，则下一次任务会在上一次任务执行完成后立即重复执行。</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8" name="图片 7"/>
          <p:cNvPicPr>
            <a:picLocks noChangeAspect="1"/>
          </p:cNvPicPr>
          <p:nvPr>
            <p:custDataLst>
              <p:tags r:id="rId4"/>
            </p:custDataLst>
          </p:nvPr>
        </p:nvPicPr>
        <p:blipFill>
          <a:blip r:embed="rId5"/>
          <a:stretch>
            <a:fillRect/>
          </a:stretch>
        </p:blipFill>
        <p:spPr>
          <a:xfrm>
            <a:off x="49530" y="2206625"/>
            <a:ext cx="4229100" cy="35718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TextBox 16"/>
          <p:cNvSpPr>
            <a:spLocks noChangeArrowheads="1"/>
          </p:cNvSpPr>
          <p:nvPr>
            <p:custDataLst>
              <p:tags r:id="rId1"/>
            </p:custDataLst>
          </p:nvPr>
        </p:nvSpPr>
        <p:spPr bwMode="auto">
          <a:xfrm>
            <a:off x="962660" y="213296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⑤　</a:t>
            </a:r>
            <a:r>
              <a:rPr sz="1800" dirty="0">
                <a:solidFill>
                  <a:schemeClr val="accent1"/>
                </a:solidFill>
                <a:latin typeface="微软雅黑" panose="020B0503020204020204" pitchFamily="34" charset="-122"/>
                <a:ea typeface="微软雅黑" panose="020B0503020204020204" pitchFamily="34" charset="-122"/>
                <a:cs typeface="+mn-ea"/>
                <a:sym typeface="+mn-lt"/>
              </a:rPr>
              <a:t>initialDelay</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initialDelayString属性</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initialDelay和initialDelayString属性的</a:t>
            </a:r>
            <a:r>
              <a:rPr sz="1800" dirty="0">
                <a:solidFill>
                  <a:schemeClr val="accent1"/>
                </a:solidFill>
                <a:latin typeface="微软雅黑" panose="020B0503020204020204" pitchFamily="34" charset="-122"/>
                <a:ea typeface="微软雅黑" panose="020B0503020204020204" pitchFamily="34" charset="-122"/>
                <a:cs typeface="+mn-ea"/>
                <a:sym typeface="+mn-lt"/>
              </a:rPr>
              <a:t>作用相同</a:t>
            </a:r>
            <a:r>
              <a:rPr lang="zh-CN" sz="1800" dirty="0">
                <a:solidFill>
                  <a:srgbClr val="595959"/>
                </a:solidFill>
                <a:latin typeface="微软雅黑" panose="020B0503020204020204" pitchFamily="34" charset="-122"/>
                <a:ea typeface="微软雅黑" panose="020B0503020204020204" pitchFamily="34" charset="-122"/>
                <a:cs typeface="+mn-ea"/>
                <a:sym typeface="+mn-lt"/>
              </a:rPr>
              <a:t>，需要与fixedRate、fixedRateString、fixedDelay、fixedDelayString属性配合使用，</a:t>
            </a:r>
            <a:r>
              <a:rPr sz="1800" dirty="0">
                <a:solidFill>
                  <a:schemeClr val="accent1"/>
                </a:solidFill>
                <a:latin typeface="微软雅黑" panose="020B0503020204020204" pitchFamily="34" charset="-122"/>
                <a:ea typeface="微软雅黑" panose="020B0503020204020204" pitchFamily="34" charset="-122"/>
                <a:cs typeface="+mn-ea"/>
                <a:sym typeface="+mn-lt"/>
              </a:rPr>
              <a:t>指定</a:t>
            </a:r>
            <a:r>
              <a:rPr lang="zh-CN" sz="1800" dirty="0">
                <a:solidFill>
                  <a:srgbClr val="595959"/>
                </a:solidFill>
                <a:latin typeface="微软雅黑" panose="020B0503020204020204" pitchFamily="34" charset="-122"/>
                <a:ea typeface="微软雅黑" panose="020B0503020204020204" pitchFamily="34" charset="-122"/>
                <a:cs typeface="+mn-ea"/>
                <a:sym typeface="+mn-lt"/>
              </a:rPr>
              <a:t>定时任务第一次执行的</a:t>
            </a:r>
            <a:r>
              <a:rPr sz="1800" dirty="0">
                <a:solidFill>
                  <a:schemeClr val="accent1"/>
                </a:solidFill>
                <a:latin typeface="微软雅黑" panose="020B0503020204020204" pitchFamily="34" charset="-122"/>
                <a:ea typeface="微软雅黑" panose="020B0503020204020204" pitchFamily="34" charset="-122"/>
                <a:cs typeface="+mn-ea"/>
                <a:sym typeface="+mn-lt"/>
              </a:rPr>
              <a:t>延迟时间</a:t>
            </a:r>
            <a:r>
              <a:rPr lang="zh-CN" sz="1800" dirty="0">
                <a:solidFill>
                  <a:srgbClr val="595959"/>
                </a:solidFill>
                <a:latin typeface="微软雅黑" panose="020B0503020204020204" pitchFamily="34" charset="-122"/>
                <a:ea typeface="微软雅黑" panose="020B0503020204020204" pitchFamily="34" charset="-122"/>
                <a:cs typeface="+mn-ea"/>
                <a:sym typeface="+mn-lt"/>
              </a:rPr>
              <a:t>，然后再按照各自相隔时间重复执行任务。</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2"/>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3"/>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1.定时任务注解</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 name="组合 8"/>
          <p:cNvGrpSpPr/>
          <p:nvPr/>
        </p:nvGrpSpPr>
        <p:grpSpPr bwMode="auto">
          <a:xfrm>
            <a:off x="967105" y="4343400"/>
            <a:ext cx="10339070" cy="1003300"/>
            <a:chOff x="339332" y="1269583"/>
            <a:chExt cx="10157364" cy="6131104"/>
          </a:xfrm>
        </p:grpSpPr>
        <p:sp>
          <p:nvSpPr>
            <p:cNvPr id="5" name="矩形 4"/>
            <p:cNvSpPr/>
            <p:nvPr>
              <p:custDataLst>
                <p:tags r:id="rId4"/>
              </p:custDataLst>
            </p:nvPr>
          </p:nvSpPr>
          <p:spPr>
            <a:xfrm>
              <a:off x="339332" y="1269583"/>
              <a:ext cx="10157364" cy="612722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309020205020404" pitchFamily="49" charset="0"/>
                <a:sym typeface="+mn-ea"/>
              </a:endParaRPr>
            </a:p>
          </p:txBody>
        </p:sp>
        <p:sp>
          <p:nvSpPr>
            <p:cNvPr id="6" name="矩形 5"/>
            <p:cNvSpPr/>
            <p:nvPr>
              <p:custDataLst>
                <p:tags r:id="rId5"/>
              </p:custDataLst>
            </p:nvPr>
          </p:nvSpPr>
          <p:spPr>
            <a:xfrm>
              <a:off x="848385" y="1354953"/>
              <a:ext cx="8705064" cy="6045734"/>
            </a:xfrm>
            <a:prstGeom prst="rect">
              <a:avLst/>
            </a:prstGeom>
          </p:spPr>
          <p:txBody>
            <a:bodyPr wrap="square">
              <a:noAutofit/>
            </a:bodyPr>
            <a:p>
              <a:pPr algn="just">
                <a:lnSpc>
                  <a:spcPct val="150000"/>
                </a:lnSpc>
              </a:pPr>
              <a:r>
                <a:rPr lang="zh-CN" sz="1600" dirty="0">
                  <a:solidFill>
                    <a:srgbClr val="595959"/>
                  </a:solidFill>
                  <a:latin typeface="微软雅黑" panose="020B0503020204020204" pitchFamily="34" charset="-122"/>
                  <a:ea typeface="微软雅黑" panose="020B0503020204020204" pitchFamily="34" charset="-122"/>
                  <a:cs typeface="+mn-ea"/>
                  <a:sym typeface="+mn-lt"/>
                </a:rPr>
                <a:t>Scheduled(initialDelay=1000, fixedDelay=5000)</a:t>
              </a:r>
              <a:endParaRPr lang="zh-CN" sz="1600" dirty="0">
                <a:solidFill>
                  <a:srgbClr val="595959"/>
                </a:solidFill>
                <a:latin typeface="微软雅黑" panose="020B0503020204020204" pitchFamily="34" charset="-122"/>
                <a:ea typeface="微软雅黑" panose="020B0503020204020204" pitchFamily="34" charset="-122"/>
                <a:cs typeface="+mn-ea"/>
                <a:sym typeface="+mn-lt"/>
              </a:endParaRPr>
            </a:p>
          </p:txBody>
        </p:sp>
      </p:grpSp>
      <p:sp>
        <p:nvSpPr>
          <p:cNvPr id="8" name="矩形 7"/>
          <p:cNvSpPr/>
          <p:nvPr/>
        </p:nvSpPr>
        <p:spPr>
          <a:xfrm>
            <a:off x="3849370" y="4438015"/>
            <a:ext cx="518795" cy="297180"/>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6"/>
            </p:custDataLst>
          </p:nvPr>
        </p:nvSpPr>
        <p:spPr>
          <a:xfrm>
            <a:off x="5613400" y="4493260"/>
            <a:ext cx="531495" cy="27749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custDataLst>
              <p:tags r:id="rId7"/>
            </p:custDataLst>
          </p:nvPr>
        </p:nvSpPr>
        <p:spPr>
          <a:xfrm>
            <a:off x="2425700" y="5504815"/>
            <a:ext cx="3402965" cy="47180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a:solidFill>
                  <a:srgbClr val="FF0000"/>
                </a:solidFill>
              </a:rPr>
              <a:t>延迟1000毫秒后再执行第一次任务。</a:t>
            </a:r>
            <a:endParaRPr lang="zh-CN" altLang="en-US" sz="1600">
              <a:solidFill>
                <a:srgbClr val="FF0000"/>
              </a:solidFill>
            </a:endParaRPr>
          </a:p>
        </p:txBody>
      </p:sp>
      <p:cxnSp>
        <p:nvCxnSpPr>
          <p:cNvPr id="12" name="直接箭头连接符 11"/>
          <p:cNvCxnSpPr>
            <a:stCxn id="8" idx="2"/>
            <a:endCxn id="10" idx="0"/>
          </p:cNvCxnSpPr>
          <p:nvPr/>
        </p:nvCxnSpPr>
        <p:spPr>
          <a:xfrm>
            <a:off x="4109085" y="4735195"/>
            <a:ext cx="18415" cy="76962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矩形 14"/>
          <p:cNvSpPr/>
          <p:nvPr>
            <p:custDataLst>
              <p:tags r:id="rId8"/>
            </p:custDataLst>
          </p:nvPr>
        </p:nvSpPr>
        <p:spPr>
          <a:xfrm>
            <a:off x="6943090" y="4438015"/>
            <a:ext cx="3402965" cy="471805"/>
          </a:xfrm>
          <a:prstGeom prst="rect">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1600">
                <a:solidFill>
                  <a:srgbClr val="FF0000"/>
                </a:solidFill>
              </a:rPr>
              <a:t>每隔5000毫秒重复执行任务。</a:t>
            </a:r>
            <a:endParaRPr lang="zh-CN" altLang="en-US" sz="1600">
              <a:solidFill>
                <a:srgbClr val="FF0000"/>
              </a:solidFill>
            </a:endParaRPr>
          </a:p>
        </p:txBody>
      </p:sp>
      <p:cxnSp>
        <p:nvCxnSpPr>
          <p:cNvPr id="16" name="直接箭头连接符 15"/>
          <p:cNvCxnSpPr>
            <a:stCxn id="9" idx="3"/>
            <a:endCxn id="15" idx="1"/>
          </p:cNvCxnSpPr>
          <p:nvPr/>
        </p:nvCxnSpPr>
        <p:spPr>
          <a:xfrm>
            <a:off x="6144895" y="4632325"/>
            <a:ext cx="798195" cy="4191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2.定时任务演示</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80440" y="2132965"/>
            <a:ext cx="10219690"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下面在Spring Boot实现一个简单的</a:t>
            </a:r>
            <a:r>
              <a:rPr sz="1800" dirty="0">
                <a:solidFill>
                  <a:schemeClr val="accent1"/>
                </a:solidFill>
                <a:latin typeface="微软雅黑" panose="020B0503020204020204" pitchFamily="34" charset="-122"/>
                <a:ea typeface="微软雅黑" panose="020B0503020204020204" pitchFamily="34" charset="-122"/>
                <a:cs typeface="+mn-ea"/>
                <a:sym typeface="+mn-lt"/>
              </a:rPr>
              <a:t>定时任务案例</a:t>
            </a:r>
            <a:r>
              <a:rPr lang="zh-CN" sz="1800" dirty="0">
                <a:solidFill>
                  <a:srgbClr val="595959"/>
                </a:solidFill>
                <a:latin typeface="微软雅黑" panose="020B0503020204020204" pitchFamily="34" charset="-122"/>
                <a:ea typeface="微软雅黑" panose="020B0503020204020204" pitchFamily="34" charset="-122"/>
                <a:cs typeface="+mn-ea"/>
                <a:sym typeface="+mn-lt"/>
              </a:rPr>
              <a:t>，演示定时任务的使用。</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（1）</a:t>
            </a:r>
            <a:r>
              <a:rPr sz="1800" dirty="0">
                <a:solidFill>
                  <a:schemeClr val="accent1"/>
                </a:solidFill>
                <a:latin typeface="微软雅黑" panose="020B0503020204020204" pitchFamily="34" charset="-122"/>
                <a:ea typeface="微软雅黑" panose="020B0503020204020204" pitchFamily="34" charset="-122"/>
                <a:cs typeface="+mn-ea"/>
                <a:sym typeface="+mn-lt"/>
              </a:rPr>
              <a:t>编写定时任务业务处理方法</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在chapter09项目的com.itheima.chapter09.service的包下</a:t>
            </a:r>
            <a:r>
              <a:rPr sz="1800" dirty="0">
                <a:solidFill>
                  <a:schemeClr val="accent1"/>
                </a:solidFill>
                <a:latin typeface="微软雅黑" panose="020B0503020204020204" pitchFamily="34" charset="-122"/>
                <a:ea typeface="微软雅黑" panose="020B0503020204020204" pitchFamily="34" charset="-122"/>
                <a:cs typeface="+mn-ea"/>
                <a:sym typeface="+mn-lt"/>
              </a:rPr>
              <a:t>新建</a:t>
            </a:r>
            <a:r>
              <a:rPr lang="zh-CN" sz="1800" dirty="0">
                <a:solidFill>
                  <a:srgbClr val="595959"/>
                </a:solidFill>
                <a:latin typeface="微软雅黑" panose="020B0503020204020204" pitchFamily="34" charset="-122"/>
                <a:ea typeface="微软雅黑" panose="020B0503020204020204" pitchFamily="34" charset="-122"/>
                <a:cs typeface="+mn-ea"/>
                <a:sym typeface="+mn-lt"/>
              </a:rPr>
              <a:t>一个定时任务管理的</a:t>
            </a:r>
            <a:r>
              <a:rPr sz="1800" dirty="0">
                <a:solidFill>
                  <a:schemeClr val="accent1"/>
                </a:solidFill>
                <a:latin typeface="微软雅黑" panose="020B0503020204020204" pitchFamily="34" charset="-122"/>
                <a:ea typeface="微软雅黑" panose="020B0503020204020204" pitchFamily="34" charset="-122"/>
                <a:cs typeface="+mn-ea"/>
                <a:sym typeface="+mn-lt"/>
              </a:rPr>
              <a:t>业务处理类ScheduledTaskService</a:t>
            </a:r>
            <a:r>
              <a:rPr lang="zh-CN" sz="1800" dirty="0">
                <a:solidFill>
                  <a:srgbClr val="595959"/>
                </a:solidFill>
                <a:latin typeface="微软雅黑" panose="020B0503020204020204" pitchFamily="34" charset="-122"/>
                <a:ea typeface="微软雅黑" panose="020B0503020204020204" pitchFamily="34" charset="-122"/>
                <a:cs typeface="+mn-ea"/>
                <a:sym typeface="+mn-lt"/>
              </a:rPr>
              <a:t>，并在该类中编写对应的</a:t>
            </a:r>
            <a:r>
              <a:rPr sz="1800" dirty="0">
                <a:solidFill>
                  <a:schemeClr val="accent1"/>
                </a:solidFill>
                <a:latin typeface="微软雅黑" panose="020B0503020204020204" pitchFamily="34" charset="-122"/>
                <a:ea typeface="微软雅黑" panose="020B0503020204020204" pitchFamily="34" charset="-122"/>
                <a:cs typeface="+mn-ea"/>
                <a:sym typeface="+mn-lt"/>
              </a:rPr>
              <a:t>定时任务处理</a:t>
            </a:r>
            <a:r>
              <a:rPr lang="zh-CN" sz="1800" dirty="0">
                <a:solidFill>
                  <a:srgbClr val="595959"/>
                </a:solidFill>
                <a:latin typeface="微软雅黑" panose="020B0503020204020204" pitchFamily="34" charset="-122"/>
                <a:ea typeface="微软雅黑" panose="020B0503020204020204" pitchFamily="34" charset="-122"/>
                <a:cs typeface="+mn-ea"/>
                <a:sym typeface="+mn-lt"/>
              </a:rPr>
              <a:t>方法，具体如文件9-4所示。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文件9-4</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ScheduledTaskService.java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2.定时任务演示</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80440" y="2132965"/>
            <a:ext cx="10219690"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（2）</a:t>
            </a:r>
            <a:r>
              <a:rPr sz="1800" dirty="0">
                <a:solidFill>
                  <a:schemeClr val="accent1"/>
                </a:solidFill>
                <a:latin typeface="微软雅黑" panose="020B0503020204020204" pitchFamily="34" charset="-122"/>
                <a:ea typeface="微软雅黑" panose="020B0503020204020204" pitchFamily="34" charset="-122"/>
                <a:cs typeface="+mn-ea"/>
                <a:sym typeface="+mn-lt"/>
              </a:rPr>
              <a:t>开启基于注解的定时任务支持</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为了使Spring Boot中基于注解方式的定时任务生效，在项目</a:t>
            </a:r>
            <a:r>
              <a:rPr sz="1800" dirty="0">
                <a:solidFill>
                  <a:schemeClr val="accent1"/>
                </a:solidFill>
                <a:latin typeface="微软雅黑" panose="020B0503020204020204" pitchFamily="34" charset="-122"/>
                <a:ea typeface="微软雅黑" panose="020B0503020204020204" pitchFamily="34" charset="-122"/>
                <a:cs typeface="+mn-ea"/>
                <a:sym typeface="+mn-lt"/>
              </a:rPr>
              <a:t>启动类上</a:t>
            </a:r>
            <a:r>
              <a:rPr lang="zh-CN" sz="1800" dirty="0">
                <a:solidFill>
                  <a:srgbClr val="595959"/>
                </a:solidFill>
                <a:latin typeface="微软雅黑" panose="020B0503020204020204" pitchFamily="34" charset="-122"/>
                <a:ea typeface="微软雅黑" panose="020B0503020204020204" pitchFamily="34" charset="-122"/>
                <a:cs typeface="+mn-ea"/>
                <a:sym typeface="+mn-lt"/>
              </a:rPr>
              <a:t>使用</a:t>
            </a:r>
            <a:r>
              <a:rPr sz="1800" dirty="0">
                <a:solidFill>
                  <a:schemeClr val="accent1"/>
                </a:solidFill>
                <a:latin typeface="微软雅黑" panose="020B0503020204020204" pitchFamily="34" charset="-122"/>
                <a:ea typeface="微软雅黑" panose="020B0503020204020204" pitchFamily="34" charset="-122"/>
                <a:cs typeface="+mn-ea"/>
                <a:sym typeface="+mn-lt"/>
              </a:rPr>
              <a:t>@EnableScheduling注解开启</a:t>
            </a:r>
            <a:r>
              <a:rPr lang="zh-CN" sz="1800" dirty="0">
                <a:solidFill>
                  <a:srgbClr val="595959"/>
                </a:solidFill>
                <a:latin typeface="微软雅黑" panose="020B0503020204020204" pitchFamily="34" charset="-122"/>
                <a:ea typeface="微软雅黑" panose="020B0503020204020204" pitchFamily="34" charset="-122"/>
                <a:cs typeface="+mn-ea"/>
                <a:sym typeface="+mn-lt"/>
              </a:rPr>
              <a:t>基于注解的定时任务支持，具体如文件9-5所示。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a:t>
                </a:r>
                <a:r>
                  <a:rPr lang="en-US" sz="1600" dirty="0">
                    <a:latin typeface="微软雅黑" panose="020B0503020204020204" pitchFamily="34" charset="-122"/>
                    <a:ea typeface="微软雅黑" panose="020B0503020204020204" pitchFamily="34" charset="-122"/>
                  </a:rPr>
                  <a:t>5</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Chapter09Application.java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定时任务</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2.定时任务演示</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80440" y="1917700"/>
            <a:ext cx="3315970"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（3）</a:t>
            </a:r>
            <a:r>
              <a:rPr sz="1800" dirty="0">
                <a:solidFill>
                  <a:schemeClr val="accent1"/>
                </a:solidFill>
                <a:latin typeface="微软雅黑" panose="020B0503020204020204" pitchFamily="34" charset="-122"/>
                <a:ea typeface="微软雅黑" panose="020B0503020204020204" pitchFamily="34" charset="-122"/>
                <a:cs typeface="+mn-ea"/>
                <a:sym typeface="+mn-lt"/>
              </a:rPr>
              <a:t>测试效果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indent="0" algn="just" fontAlgn="auto" latinLnBrk="1">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启动</a:t>
            </a:r>
            <a:r>
              <a:rPr lang="zh-CN" sz="1800" dirty="0">
                <a:solidFill>
                  <a:srgbClr val="595959"/>
                </a:solidFill>
                <a:latin typeface="微软雅黑" panose="020B0503020204020204" pitchFamily="34" charset="-122"/>
                <a:ea typeface="微软雅黑" panose="020B0503020204020204" pitchFamily="34" charset="-122"/>
                <a:cs typeface="+mn-ea"/>
                <a:sym typeface="+mn-lt"/>
              </a:rPr>
              <a:t>chapter09</a:t>
            </a:r>
            <a:r>
              <a:rPr sz="1800" dirty="0">
                <a:solidFill>
                  <a:schemeClr val="accent1"/>
                </a:solidFill>
                <a:latin typeface="微软雅黑" panose="020B0503020204020204" pitchFamily="34" charset="-122"/>
                <a:ea typeface="微软雅黑" panose="020B0503020204020204" pitchFamily="34" charset="-122"/>
                <a:cs typeface="+mn-ea"/>
                <a:sym typeface="+mn-lt"/>
              </a:rPr>
              <a:t>项目</a:t>
            </a:r>
            <a:r>
              <a:rPr lang="zh-CN" sz="1800" dirty="0">
                <a:solidFill>
                  <a:srgbClr val="595959"/>
                </a:solidFill>
                <a:latin typeface="微软雅黑" panose="020B0503020204020204" pitchFamily="34" charset="-122"/>
                <a:ea typeface="微软雅黑" panose="020B0503020204020204" pitchFamily="34" charset="-122"/>
                <a:cs typeface="+mn-ea"/>
                <a:sym typeface="+mn-lt"/>
              </a:rPr>
              <a:t>，项目启动后</a:t>
            </a:r>
            <a:r>
              <a:rPr sz="1800" dirty="0">
                <a:solidFill>
                  <a:schemeClr val="accent1"/>
                </a:solidFill>
                <a:latin typeface="微软雅黑" panose="020B0503020204020204" pitchFamily="34" charset="-122"/>
                <a:ea typeface="微软雅黑" panose="020B0503020204020204" pitchFamily="34" charset="-122"/>
                <a:cs typeface="+mn-ea"/>
                <a:sym typeface="+mn-lt"/>
              </a:rPr>
              <a:t>控制台输出信息</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5" name="图片 -2147482601"/>
          <p:cNvPicPr>
            <a:picLocks noChangeAspect="1"/>
          </p:cNvPicPr>
          <p:nvPr>
            <p:custDataLst>
              <p:tags r:id="rId4"/>
            </p:custDataLst>
          </p:nvPr>
        </p:nvPicPr>
        <p:blipFill>
          <a:blip r:embed="rId5"/>
          <a:stretch>
            <a:fillRect/>
          </a:stretch>
        </p:blipFill>
        <p:spPr>
          <a:xfrm>
            <a:off x="4512310" y="2133600"/>
            <a:ext cx="6822000" cy="4050209"/>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Quartz任务调度</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Boot项目中整合Quartz完成任务调度</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282825" cy="476885"/>
            <a:chOff x="898650" y="1797999"/>
            <a:chExt cx="5045655" cy="476885"/>
          </a:xfrm>
        </p:grpSpPr>
        <p:sp>
          <p:nvSpPr>
            <p:cNvPr id="4" name="矩形: 圆角 6"/>
            <p:cNvSpPr/>
            <p:nvPr>
              <p:custDataLst>
                <p:tags r:id="rId1"/>
              </p:custDataLst>
            </p:nvPr>
          </p:nvSpPr>
          <p:spPr>
            <a:xfrm>
              <a:off x="979717" y="1813239"/>
              <a:ext cx="4938933"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504565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1.Quartz概述</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4570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Quartz</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是基于Java语言实现的开源的</a:t>
            </a:r>
            <a:r>
              <a:rPr sz="1800" dirty="0">
                <a:solidFill>
                  <a:schemeClr val="accent1"/>
                </a:solidFill>
                <a:latin typeface="微软雅黑" panose="020B0503020204020204" pitchFamily="34" charset="-122"/>
                <a:ea typeface="微软雅黑" panose="020B0503020204020204" pitchFamily="34" charset="-122"/>
                <a:cs typeface="+mn-ea"/>
                <a:sym typeface="+mn-lt"/>
              </a:rPr>
              <a:t>任务调度库</a:t>
            </a:r>
            <a:r>
              <a:rPr lang="zh-CN" sz="1800" dirty="0">
                <a:solidFill>
                  <a:srgbClr val="595959"/>
                </a:solidFill>
                <a:latin typeface="微软雅黑" panose="020B0503020204020204" pitchFamily="34" charset="-122"/>
                <a:ea typeface="微软雅黑" panose="020B0503020204020204" pitchFamily="34" charset="-122"/>
                <a:cs typeface="+mn-ea"/>
                <a:sym typeface="+mn-lt"/>
              </a:rPr>
              <a:t>，它可以</a:t>
            </a:r>
            <a:r>
              <a:rPr sz="1800" dirty="0">
                <a:solidFill>
                  <a:schemeClr val="accent1"/>
                </a:solidFill>
                <a:latin typeface="微软雅黑" panose="020B0503020204020204" pitchFamily="34" charset="-122"/>
                <a:ea typeface="微软雅黑" panose="020B0503020204020204" pitchFamily="34" charset="-122"/>
                <a:cs typeface="+mn-ea"/>
                <a:sym typeface="+mn-lt"/>
              </a:rPr>
              <a:t>集成</a:t>
            </a:r>
            <a:r>
              <a:rPr lang="zh-CN" sz="1800" dirty="0">
                <a:solidFill>
                  <a:srgbClr val="595959"/>
                </a:solidFill>
                <a:latin typeface="微软雅黑" panose="020B0503020204020204" pitchFamily="34" charset="-122"/>
                <a:ea typeface="微软雅黑" panose="020B0503020204020204" pitchFamily="34" charset="-122"/>
                <a:cs typeface="+mn-ea"/>
                <a:sym typeface="+mn-lt"/>
              </a:rPr>
              <a:t>于J2EE或J2SE</a:t>
            </a:r>
            <a:r>
              <a:rPr sz="1800" dirty="0">
                <a:solidFill>
                  <a:schemeClr val="accent1"/>
                </a:solidFill>
                <a:latin typeface="微软雅黑" panose="020B0503020204020204" pitchFamily="34" charset="-122"/>
                <a:ea typeface="微软雅黑" panose="020B0503020204020204" pitchFamily="34" charset="-122"/>
                <a:cs typeface="+mn-ea"/>
                <a:sym typeface="+mn-lt"/>
              </a:rPr>
              <a:t>应用程序</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中</a:t>
            </a:r>
            <a:r>
              <a:rPr lang="zh-CN" sz="1800" dirty="0">
                <a:solidFill>
                  <a:srgbClr val="595959"/>
                </a:solidFill>
                <a:latin typeface="微软雅黑" panose="020B0503020204020204" pitchFamily="34" charset="-122"/>
                <a:ea typeface="微软雅黑" panose="020B0503020204020204" pitchFamily="34" charset="-122"/>
                <a:cs typeface="+mn-ea"/>
                <a:sym typeface="+mn-lt"/>
              </a:rPr>
              <a:t>，也可以</a:t>
            </a:r>
            <a:r>
              <a:rPr sz="1800" dirty="0">
                <a:solidFill>
                  <a:schemeClr val="accent1"/>
                </a:solidFill>
                <a:latin typeface="微软雅黑" panose="020B0503020204020204" pitchFamily="34" charset="-122"/>
                <a:ea typeface="微软雅黑" panose="020B0503020204020204" pitchFamily="34" charset="-122"/>
                <a:cs typeface="+mn-ea"/>
                <a:sym typeface="+mn-lt"/>
              </a:rPr>
              <a:t>单独</a:t>
            </a:r>
            <a:r>
              <a:rPr lang="zh-CN" sz="1800" dirty="0">
                <a:solidFill>
                  <a:srgbClr val="595959"/>
                </a:solidFill>
                <a:latin typeface="微软雅黑" panose="020B0503020204020204" pitchFamily="34" charset="-122"/>
                <a:ea typeface="微软雅黑" panose="020B0503020204020204" pitchFamily="34" charset="-122"/>
                <a:cs typeface="+mn-ea"/>
                <a:sym typeface="+mn-lt"/>
              </a:rPr>
              <a:t>使用。Quartz可以灵活地实现各种任务的调度，支持任务和调度的多种组合方式，以及支持调度数据的多种存储方式。</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Quartz采用基于</a:t>
            </a:r>
            <a:r>
              <a:rPr sz="1800" dirty="0">
                <a:solidFill>
                  <a:schemeClr val="accent1"/>
                </a:solidFill>
                <a:latin typeface="微软雅黑" panose="020B0503020204020204" pitchFamily="34" charset="-122"/>
                <a:ea typeface="微软雅黑" panose="020B0503020204020204" pitchFamily="34" charset="-122"/>
                <a:cs typeface="+mn-ea"/>
                <a:sym typeface="+mn-lt"/>
              </a:rPr>
              <a:t>多线程</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的架构，其内部包含很多重要的组件，下面对这些组件进行说明。</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Font typeface="Wingdings" panose="05000000000000000000" charset="0"/>
              <a:buChar char="l"/>
            </a:pPr>
            <a:r>
              <a:rPr sz="1800" dirty="0">
                <a:solidFill>
                  <a:schemeClr val="accent1"/>
                </a:solidFill>
                <a:latin typeface="微软雅黑" panose="020B0503020204020204" pitchFamily="34" charset="-122"/>
                <a:ea typeface="微软雅黑" panose="020B0503020204020204" pitchFamily="34" charset="-122"/>
                <a:cs typeface="+mn-ea"/>
                <a:sym typeface="+mn-lt"/>
              </a:rPr>
              <a:t>Job</a:t>
            </a:r>
            <a:r>
              <a:rPr lang="zh-CN" sz="1800" dirty="0">
                <a:solidFill>
                  <a:srgbClr val="595959"/>
                </a:solidFill>
                <a:latin typeface="微软雅黑" panose="020B0503020204020204" pitchFamily="34" charset="-122"/>
                <a:ea typeface="微软雅黑" panose="020B0503020204020204" pitchFamily="34" charset="-122"/>
                <a:cs typeface="+mn-ea"/>
                <a:sym typeface="+mn-lt"/>
              </a:rPr>
              <a:t>：Job为希望被调度程序</a:t>
            </a:r>
            <a:r>
              <a:rPr sz="1800" dirty="0">
                <a:solidFill>
                  <a:schemeClr val="accent1"/>
                </a:solidFill>
                <a:latin typeface="微软雅黑" panose="020B0503020204020204" pitchFamily="34" charset="-122"/>
                <a:ea typeface="微软雅黑" panose="020B0503020204020204" pitchFamily="34" charset="-122"/>
                <a:cs typeface="+mn-ea"/>
                <a:sym typeface="+mn-lt"/>
              </a:rPr>
              <a:t>执行的任务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，需要设置唯一标识，以便调度的时候进行识别。</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Font typeface="Wingdings" panose="05000000000000000000" charset="0"/>
              <a:buChar char="l"/>
            </a:pPr>
            <a:r>
              <a:rPr sz="1800" dirty="0">
                <a:solidFill>
                  <a:schemeClr val="accent1"/>
                </a:solidFill>
                <a:latin typeface="微软雅黑" panose="020B0503020204020204" pitchFamily="34" charset="-122"/>
                <a:ea typeface="微软雅黑" panose="020B0503020204020204" pitchFamily="34" charset="-122"/>
                <a:cs typeface="+mn-ea"/>
                <a:sym typeface="+mn-lt"/>
              </a:rPr>
              <a:t>JobDetai</a:t>
            </a:r>
            <a:r>
              <a:rPr lang="en-US" sz="1800" dirty="0">
                <a:solidFill>
                  <a:schemeClr val="accent1"/>
                </a:solidFill>
                <a:latin typeface="微软雅黑" panose="020B0503020204020204" pitchFamily="34" charset="-122"/>
                <a:ea typeface="微软雅黑" panose="020B0503020204020204" pitchFamily="34" charset="-122"/>
                <a:cs typeface="+mn-ea"/>
                <a:sym typeface="+mn-lt"/>
              </a:rPr>
              <a:t>l</a:t>
            </a:r>
            <a:r>
              <a:rPr lang="zh-CN" sz="1800" dirty="0">
                <a:solidFill>
                  <a:srgbClr val="595959"/>
                </a:solidFill>
                <a:latin typeface="微软雅黑" panose="020B0503020204020204" pitchFamily="34" charset="-122"/>
                <a:ea typeface="微软雅黑" panose="020B0503020204020204" pitchFamily="34" charset="-122"/>
                <a:cs typeface="+mn-ea"/>
                <a:sym typeface="+mn-lt"/>
              </a:rPr>
              <a:t>：Quartz并不存储Job类的实际实例，而是允许使用</a:t>
            </a:r>
            <a:r>
              <a:rPr sz="1800" dirty="0">
                <a:solidFill>
                  <a:schemeClr val="accent1"/>
                </a:solidFill>
                <a:latin typeface="微软雅黑" panose="020B0503020204020204" pitchFamily="34" charset="-122"/>
                <a:ea typeface="微软雅黑" panose="020B0503020204020204" pitchFamily="34" charset="-122"/>
                <a:cs typeface="+mn-ea"/>
                <a:sym typeface="+mn-lt"/>
              </a:rPr>
              <a:t>JobDetail</a:t>
            </a:r>
            <a:r>
              <a:rPr lang="zh-CN" sz="1800" dirty="0">
                <a:solidFill>
                  <a:srgbClr val="595959"/>
                </a:solidFill>
                <a:latin typeface="微软雅黑" panose="020B0503020204020204" pitchFamily="34" charset="-122"/>
                <a:ea typeface="微软雅黑" panose="020B0503020204020204" pitchFamily="34" charset="-122"/>
                <a:cs typeface="+mn-ea"/>
                <a:sym typeface="+mn-lt"/>
              </a:rPr>
              <a:t>来定义</a:t>
            </a:r>
            <a:r>
              <a:rPr sz="1800" dirty="0">
                <a:solidFill>
                  <a:schemeClr val="accent1"/>
                </a:solidFill>
                <a:latin typeface="微软雅黑" panose="020B0503020204020204" pitchFamily="34" charset="-122"/>
                <a:ea typeface="微软雅黑" panose="020B0503020204020204" pitchFamily="34" charset="-122"/>
                <a:cs typeface="+mn-ea"/>
                <a:sym typeface="+mn-lt"/>
              </a:rPr>
              <a:t>Job类的实例</a:t>
            </a:r>
            <a:r>
              <a:rPr lang="zh-CN" sz="1800" dirty="0">
                <a:solidFill>
                  <a:srgbClr val="595959"/>
                </a:solidFill>
                <a:latin typeface="微软雅黑" panose="020B0503020204020204" pitchFamily="34" charset="-122"/>
                <a:ea typeface="微软雅黑" panose="020B0503020204020204" pitchFamily="34" charset="-122"/>
                <a:cs typeface="+mn-ea"/>
                <a:sym typeface="+mn-lt"/>
              </a:rPr>
              <a:t>。JobDetai可以设置关联</a:t>
            </a:r>
            <a:r>
              <a:rPr sz="1800" dirty="0">
                <a:solidFill>
                  <a:schemeClr val="accent1"/>
                </a:solidFill>
                <a:latin typeface="微软雅黑" panose="020B0503020204020204" pitchFamily="34" charset="-122"/>
                <a:ea typeface="微软雅黑" panose="020B0503020204020204" pitchFamily="34" charset="-122"/>
                <a:cs typeface="+mn-ea"/>
                <a:sym typeface="+mn-lt"/>
              </a:rPr>
              <a:t>Job的详细信息</a:t>
            </a:r>
            <a:r>
              <a:rPr lang="zh-CN" sz="1800" dirty="0">
                <a:solidFill>
                  <a:srgbClr val="595959"/>
                </a:solidFill>
                <a:latin typeface="微软雅黑" panose="020B0503020204020204" pitchFamily="34" charset="-122"/>
                <a:ea typeface="微软雅黑" panose="020B0503020204020204" pitchFamily="34" charset="-122"/>
                <a:cs typeface="+mn-ea"/>
                <a:sym typeface="+mn-lt"/>
              </a:rPr>
              <a:t>，JobDetail实例通过JobBuilder类创建。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Font typeface="Wingdings" panose="05000000000000000000" charset="0"/>
              <a:buChar char="l"/>
            </a:pPr>
            <a:r>
              <a:rPr sz="1800" dirty="0">
                <a:solidFill>
                  <a:schemeClr val="accent1"/>
                </a:solidFill>
                <a:latin typeface="微软雅黑" panose="020B0503020204020204" pitchFamily="34" charset="-122"/>
                <a:ea typeface="微软雅黑" panose="020B0503020204020204" pitchFamily="34" charset="-122"/>
                <a:cs typeface="+mn-ea"/>
                <a:sym typeface="+mn-lt"/>
              </a:rPr>
              <a:t>Trigger</a:t>
            </a:r>
            <a:r>
              <a:rPr lang="zh-CN" sz="1800" dirty="0">
                <a:solidFill>
                  <a:srgbClr val="595959"/>
                </a:solidFill>
                <a:latin typeface="微软雅黑" panose="020B0503020204020204" pitchFamily="34" charset="-122"/>
                <a:ea typeface="微软雅黑" panose="020B0503020204020204" pitchFamily="34" charset="-122"/>
                <a:cs typeface="+mn-ea"/>
                <a:sym typeface="+mn-lt"/>
              </a:rPr>
              <a:t>：Trigger为</a:t>
            </a:r>
            <a:r>
              <a:rPr sz="1800" dirty="0">
                <a:solidFill>
                  <a:schemeClr val="accent1"/>
                </a:solidFill>
                <a:latin typeface="微软雅黑" panose="020B0503020204020204" pitchFamily="34" charset="-122"/>
                <a:ea typeface="微软雅黑" panose="020B0503020204020204" pitchFamily="34" charset="-122"/>
                <a:cs typeface="+mn-ea"/>
                <a:sym typeface="+mn-lt"/>
              </a:rPr>
              <a:t>触发器</a:t>
            </a:r>
            <a:r>
              <a:rPr lang="zh-CN" sz="1800" dirty="0">
                <a:solidFill>
                  <a:srgbClr val="595959"/>
                </a:solidFill>
                <a:latin typeface="微软雅黑" panose="020B0503020204020204" pitchFamily="34" charset="-122"/>
                <a:ea typeface="微软雅黑" panose="020B0503020204020204" pitchFamily="34" charset="-122"/>
                <a:cs typeface="+mn-ea"/>
                <a:sym typeface="+mn-lt"/>
              </a:rPr>
              <a:t>，用来触发执行Job，通过调整触发器的属性设置Job</a:t>
            </a:r>
            <a:r>
              <a:rPr sz="1800" dirty="0">
                <a:solidFill>
                  <a:schemeClr val="accent1"/>
                </a:solidFill>
                <a:latin typeface="微软雅黑" panose="020B0503020204020204" pitchFamily="34" charset="-122"/>
                <a:ea typeface="微软雅黑" panose="020B0503020204020204" pitchFamily="34" charset="-122"/>
                <a:cs typeface="+mn-ea"/>
                <a:sym typeface="+mn-lt"/>
              </a:rPr>
              <a:t>执行的条件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，指定任务在什么时候会执行。多个触发器可以指向同一个任务，但单个触发器只能指向一个任务。</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Font typeface="Wingdings" panose="05000000000000000000" charset="0"/>
              <a:buChar char="l"/>
            </a:pPr>
            <a:r>
              <a:rPr sz="1800" dirty="0">
                <a:solidFill>
                  <a:schemeClr val="accent1"/>
                </a:solidFill>
                <a:latin typeface="微软雅黑" panose="020B0503020204020204" pitchFamily="34" charset="-122"/>
                <a:ea typeface="微软雅黑" panose="020B0503020204020204" pitchFamily="34" charset="-122"/>
                <a:cs typeface="+mn-ea"/>
                <a:sym typeface="+mn-lt"/>
              </a:rPr>
              <a:t>Scheduler</a:t>
            </a:r>
            <a:r>
              <a:rPr lang="zh-CN" sz="1800" dirty="0">
                <a:solidFill>
                  <a:srgbClr val="595959"/>
                </a:solidFill>
                <a:latin typeface="微软雅黑" panose="020B0503020204020204" pitchFamily="34" charset="-122"/>
                <a:ea typeface="微软雅黑" panose="020B0503020204020204" pitchFamily="34" charset="-122"/>
                <a:cs typeface="+mn-ea"/>
                <a:sym typeface="+mn-lt"/>
              </a:rPr>
              <a:t>：Scheduler为</a:t>
            </a:r>
            <a:r>
              <a:rPr sz="1800" dirty="0">
                <a:solidFill>
                  <a:schemeClr val="accent1"/>
                </a:solidFill>
                <a:latin typeface="微软雅黑" panose="020B0503020204020204" pitchFamily="34" charset="-122"/>
                <a:ea typeface="微软雅黑" panose="020B0503020204020204" pitchFamily="34" charset="-122"/>
                <a:cs typeface="+mn-ea"/>
                <a:sym typeface="+mn-lt"/>
              </a:rPr>
              <a:t>调度器</a:t>
            </a:r>
            <a:r>
              <a:rPr lang="zh-CN" sz="1800" dirty="0">
                <a:solidFill>
                  <a:srgbClr val="595959"/>
                </a:solidFill>
                <a:latin typeface="微软雅黑" panose="020B0503020204020204" pitchFamily="34" charset="-122"/>
                <a:ea typeface="微软雅黑" panose="020B0503020204020204" pitchFamily="34" charset="-122"/>
                <a:cs typeface="+mn-ea"/>
                <a:sym typeface="+mn-lt"/>
              </a:rPr>
              <a:t>，调度器会将任务和触发器整合起来，负责</a:t>
            </a:r>
            <a:r>
              <a:rPr sz="1800" dirty="0">
                <a:solidFill>
                  <a:schemeClr val="accent1"/>
                </a:solidFill>
                <a:latin typeface="微软雅黑" panose="020B0503020204020204" pitchFamily="34" charset="-122"/>
                <a:ea typeface="微软雅黑" panose="020B0503020204020204" pitchFamily="34" charset="-122"/>
                <a:cs typeface="+mn-ea"/>
                <a:sym typeface="+mn-lt"/>
              </a:rPr>
              <a:t>基于</a:t>
            </a:r>
            <a:r>
              <a:rPr lang="zh-CN" sz="1800" dirty="0">
                <a:solidFill>
                  <a:srgbClr val="595959"/>
                </a:solidFill>
                <a:latin typeface="微软雅黑" panose="020B0503020204020204" pitchFamily="34" charset="-122"/>
                <a:ea typeface="微软雅黑" panose="020B0503020204020204" pitchFamily="34" charset="-122"/>
                <a:cs typeface="+mn-ea"/>
                <a:sym typeface="+mn-lt"/>
              </a:rPr>
              <a:t>触发器设定的</a:t>
            </a:r>
            <a:r>
              <a:rPr sz="1800" dirty="0">
                <a:solidFill>
                  <a:schemeClr val="accent1"/>
                </a:solidFill>
                <a:latin typeface="微软雅黑" panose="020B0503020204020204" pitchFamily="34" charset="-122"/>
                <a:ea typeface="微软雅黑" panose="020B0503020204020204" pitchFamily="34" charset="-122"/>
                <a:cs typeface="+mn-ea"/>
                <a:sym typeface="+mn-lt"/>
              </a:rPr>
              <a:t>时间规则</a:t>
            </a:r>
            <a:r>
              <a:rPr lang="zh-CN" sz="1800" dirty="0">
                <a:solidFill>
                  <a:srgbClr val="595959"/>
                </a:solidFill>
                <a:latin typeface="微软雅黑" panose="020B0503020204020204" pitchFamily="34" charset="-122"/>
                <a:ea typeface="微软雅黑" panose="020B0503020204020204" pitchFamily="34" charset="-122"/>
                <a:cs typeface="+mn-ea"/>
                <a:sym typeface="+mn-lt"/>
              </a:rPr>
              <a:t>来</a:t>
            </a:r>
            <a:r>
              <a:rPr sz="1800" dirty="0">
                <a:solidFill>
                  <a:schemeClr val="accent1"/>
                </a:solidFill>
                <a:latin typeface="微软雅黑" panose="020B0503020204020204" pitchFamily="34" charset="-122"/>
                <a:ea typeface="微软雅黑" panose="020B0503020204020204" pitchFamily="34" charset="-122"/>
                <a:cs typeface="+mn-ea"/>
                <a:sym typeface="+mn-lt"/>
              </a:rPr>
              <a:t>执行Job</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2.Spring Boot整合Quartz</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下面通过一个Spring Boot整合Quartz的案例演示</a:t>
            </a:r>
            <a:r>
              <a:rPr sz="1800" dirty="0">
                <a:solidFill>
                  <a:schemeClr val="accent1"/>
                </a:solidFill>
                <a:latin typeface="微软雅黑" panose="020B0503020204020204" pitchFamily="34" charset="-122"/>
                <a:ea typeface="微软雅黑" panose="020B0503020204020204" pitchFamily="34" charset="-122"/>
                <a:cs typeface="+mn-ea"/>
                <a:sym typeface="+mn-lt"/>
              </a:rPr>
              <a:t>使用Quartz实现任务调度</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（1）</a:t>
            </a:r>
            <a:r>
              <a:rPr sz="1800" dirty="0">
                <a:solidFill>
                  <a:schemeClr val="accent1"/>
                </a:solidFill>
                <a:latin typeface="微软雅黑" panose="020B0503020204020204" pitchFamily="34" charset="-122"/>
                <a:ea typeface="微软雅黑" panose="020B0503020204020204" pitchFamily="34" charset="-122"/>
                <a:cs typeface="+mn-ea"/>
                <a:sym typeface="+mn-lt"/>
              </a:rPr>
              <a:t>添加依赖</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在Spring Boot 2.0之后，Spring Boot整合了Quartz，提供了Quartz的启动器依赖，在项目chapter09的</a:t>
            </a:r>
            <a:r>
              <a:rPr sz="1800" dirty="0">
                <a:solidFill>
                  <a:schemeClr val="accent1"/>
                </a:solidFill>
                <a:latin typeface="微软雅黑" panose="020B0503020204020204" pitchFamily="34" charset="-122"/>
                <a:ea typeface="微软雅黑" panose="020B0503020204020204" pitchFamily="34" charset="-122"/>
                <a:cs typeface="+mn-ea"/>
                <a:sym typeface="+mn-lt"/>
              </a:rPr>
              <a:t>pom.xml</a:t>
            </a:r>
            <a:r>
              <a:rPr lang="zh-CN" sz="1800" dirty="0">
                <a:solidFill>
                  <a:srgbClr val="595959"/>
                </a:solidFill>
                <a:latin typeface="微软雅黑" panose="020B0503020204020204" pitchFamily="34" charset="-122"/>
                <a:ea typeface="微软雅黑" panose="020B0503020204020204" pitchFamily="34" charset="-122"/>
                <a:cs typeface="+mn-ea"/>
                <a:sym typeface="+mn-lt"/>
              </a:rPr>
              <a:t>文件中引入</a:t>
            </a:r>
            <a:r>
              <a:rPr sz="1800" dirty="0">
                <a:solidFill>
                  <a:schemeClr val="accent1"/>
                </a:solidFill>
                <a:latin typeface="微软雅黑" panose="020B0503020204020204" pitchFamily="34" charset="-122"/>
                <a:ea typeface="微软雅黑" panose="020B0503020204020204" pitchFamily="34" charset="-122"/>
                <a:cs typeface="+mn-ea"/>
                <a:sym typeface="+mn-lt"/>
              </a:rPr>
              <a:t>Quartz的启动器依赖</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，具体如文件9-6所示。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a:t>
                </a:r>
                <a:r>
                  <a:rPr lang="en-US" sz="1600" dirty="0">
                    <a:latin typeface="微软雅黑" panose="020B0503020204020204" pitchFamily="34" charset="-122"/>
                    <a:ea typeface="微软雅黑" panose="020B0503020204020204" pitchFamily="34" charset="-122"/>
                  </a:rPr>
                  <a:t>6</a:t>
                </a:r>
                <a:endParaRPr sz="1600" dirty="0">
                  <a:latin typeface="微软雅黑" panose="020B0503020204020204" pitchFamily="34" charset="-122"/>
                  <a:ea typeface="微软雅黑" panose="020B0503020204020204" pitchFamily="34" charset="-122"/>
                </a:endParaRPr>
              </a:p>
              <a:p>
                <a:pPr algn="ctr">
                  <a:lnSpc>
                    <a:spcPct val="150000"/>
                  </a:lnSpc>
                </a:pPr>
                <a:r>
                  <a:rPr lang="en-US" sz="1600" dirty="0">
                    <a:latin typeface="微软雅黑" panose="020B0503020204020204" pitchFamily="34" charset="-122"/>
                    <a:ea typeface="微软雅黑" panose="020B0503020204020204" pitchFamily="34" charset="-122"/>
                    <a:hlinkClick r:id="rId7"/>
                  </a:rPr>
                  <a:t>pom</a:t>
                </a:r>
                <a:r>
                  <a:rPr sz="1600" dirty="0">
                    <a:latin typeface="微软雅黑" panose="020B0503020204020204" pitchFamily="34" charset="-122"/>
                    <a:ea typeface="微软雅黑" panose="020B0503020204020204" pitchFamily="34" charset="-122"/>
                    <a:hlinkClick r:id="rId7"/>
                  </a:rPr>
                  <a:t>.</a:t>
                </a:r>
                <a:r>
                  <a:rPr lang="en-US" sz="1600" dirty="0">
                    <a:latin typeface="微软雅黑" panose="020B0503020204020204" pitchFamily="34" charset="-122"/>
                    <a:ea typeface="微软雅黑" panose="020B0503020204020204" pitchFamily="34" charset="-122"/>
                    <a:hlinkClick r:id="rId7"/>
                  </a:rPr>
                  <a:t>xml</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2.Spring Boot整合Quartz</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8945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（2）</a:t>
            </a:r>
            <a:r>
              <a:rPr sz="1800" dirty="0">
                <a:solidFill>
                  <a:schemeClr val="accent1"/>
                </a:solidFill>
                <a:latin typeface="微软雅黑" panose="020B0503020204020204" pitchFamily="34" charset="-122"/>
                <a:ea typeface="微软雅黑" panose="020B0503020204020204" pitchFamily="34" charset="-122"/>
                <a:cs typeface="+mn-ea"/>
                <a:sym typeface="+mn-lt"/>
              </a:rPr>
              <a:t>创建任务类</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Spring 提供了一个Job的实现类QuartzJobBean，在Spring Boot项目中编写Job任务类时，只需要继承QuartzJobBean类，并在重写该类的executeInternal()方法中编写任务的逻辑代码。在chapter09项目中创建名称为com.itheima.chapter09.task的包，并在包下创建任务类，具体如文件9-7所示。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a:t>
                </a:r>
                <a:r>
                  <a:rPr lang="en-US" sz="1600" dirty="0">
                    <a:latin typeface="微软雅黑" panose="020B0503020204020204" pitchFamily="34" charset="-122"/>
                    <a:ea typeface="微软雅黑" panose="020B0503020204020204" pitchFamily="34" charset="-122"/>
                  </a:rPr>
                  <a:t>7</a:t>
                </a:r>
                <a:endParaRPr sz="1600" dirty="0">
                  <a:latin typeface="微软雅黑" panose="020B0503020204020204" pitchFamily="34" charset="-122"/>
                  <a:ea typeface="微软雅黑" panose="020B0503020204020204" pitchFamily="34" charset="-122"/>
                </a:endParaRPr>
              </a:p>
              <a:p>
                <a:pPr algn="ctr">
                  <a:lnSpc>
                    <a:spcPct val="150000"/>
                  </a:lnSpc>
                </a:pPr>
                <a:r>
                  <a:rPr lang="en-US" sz="1600" dirty="0">
                    <a:latin typeface="微软雅黑" panose="020B0503020204020204" pitchFamily="34" charset="-122"/>
                    <a:ea typeface="微软雅黑" panose="020B0503020204020204" pitchFamily="34" charset="-122"/>
                    <a:hlinkClick r:id="rId7"/>
                  </a:rPr>
                  <a:t>MyTask</a:t>
                </a:r>
                <a:r>
                  <a:rPr sz="1600" dirty="0">
                    <a:latin typeface="微软雅黑" panose="020B0503020204020204" pitchFamily="34" charset="-122"/>
                    <a:ea typeface="微软雅黑" panose="020B0503020204020204" pitchFamily="34" charset="-122"/>
                    <a:hlinkClick r:id="rId7"/>
                  </a:rPr>
                  <a:t>.</a:t>
                </a:r>
                <a:r>
                  <a:rPr lang="en-US" sz="1600" dirty="0">
                    <a:latin typeface="微软雅黑" panose="020B0503020204020204" pitchFamily="34" charset="-122"/>
                    <a:ea typeface="微软雅黑" panose="020B0503020204020204" pitchFamily="34" charset="-122"/>
                    <a:hlinkClick r:id="rId7"/>
                  </a:rPr>
                  <a:t>java</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2.Spring Boot整合Quartz</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89455"/>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（3）</a:t>
            </a:r>
            <a:r>
              <a:rPr sz="1800" dirty="0">
                <a:solidFill>
                  <a:schemeClr val="accent1"/>
                </a:solidFill>
                <a:latin typeface="微软雅黑" panose="020B0503020204020204" pitchFamily="34" charset="-122"/>
                <a:ea typeface="微软雅黑" panose="020B0503020204020204" pitchFamily="34" charset="-122"/>
                <a:cs typeface="+mn-ea"/>
                <a:sym typeface="+mn-lt"/>
              </a:rPr>
              <a:t>创建配置类</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在chapter09项目中创建名称为com.itheima.chapter09.config的包，并在包下</a:t>
            </a:r>
            <a:r>
              <a:rPr sz="1800" dirty="0">
                <a:solidFill>
                  <a:schemeClr val="accent1"/>
                </a:solidFill>
                <a:latin typeface="微软雅黑" panose="020B0503020204020204" pitchFamily="34" charset="-122"/>
                <a:ea typeface="微软雅黑" panose="020B0503020204020204" pitchFamily="34" charset="-122"/>
                <a:cs typeface="+mn-ea"/>
                <a:sym typeface="+mn-lt"/>
              </a:rPr>
              <a:t>创建Quartz的配置类</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，在该配置类中</a:t>
            </a:r>
            <a:r>
              <a:rPr sz="1800" dirty="0">
                <a:solidFill>
                  <a:schemeClr val="accent1"/>
                </a:solidFill>
                <a:latin typeface="微软雅黑" panose="020B0503020204020204" pitchFamily="34" charset="-122"/>
                <a:ea typeface="微软雅黑" panose="020B0503020204020204" pitchFamily="34" charset="-122"/>
                <a:cs typeface="+mn-ea"/>
                <a:sym typeface="+mn-lt"/>
              </a:rPr>
              <a:t>创建任务实例</a:t>
            </a:r>
            <a:r>
              <a:rPr lang="zh-CN" sz="1800" dirty="0">
                <a:solidFill>
                  <a:srgbClr val="595959"/>
                </a:solidFill>
                <a:latin typeface="微软雅黑" panose="020B0503020204020204" pitchFamily="34" charset="-122"/>
                <a:ea typeface="微软雅黑" panose="020B0503020204020204" pitchFamily="34" charset="-122"/>
                <a:cs typeface="+mn-ea"/>
                <a:sym typeface="+mn-lt"/>
              </a:rPr>
              <a:t>、触发任务执行的</a:t>
            </a:r>
            <a:r>
              <a:rPr sz="1800" dirty="0">
                <a:solidFill>
                  <a:schemeClr val="accent1"/>
                </a:solidFill>
                <a:latin typeface="微软雅黑" panose="020B0503020204020204" pitchFamily="34" charset="-122"/>
                <a:ea typeface="微软雅黑" panose="020B0503020204020204" pitchFamily="34" charset="-122"/>
                <a:cs typeface="+mn-ea"/>
                <a:sym typeface="+mn-lt"/>
              </a:rPr>
              <a:t>触发器</a:t>
            </a:r>
            <a:r>
              <a:rPr lang="zh-CN" sz="1800" dirty="0">
                <a:solidFill>
                  <a:srgbClr val="595959"/>
                </a:solidFill>
                <a:latin typeface="微软雅黑" panose="020B0503020204020204" pitchFamily="34" charset="-122"/>
                <a:ea typeface="微软雅黑" panose="020B0503020204020204" pitchFamily="34" charset="-122"/>
                <a:cs typeface="+mn-ea"/>
                <a:sym typeface="+mn-lt"/>
              </a:rPr>
              <a:t>，以及调度任务和触发器的</a:t>
            </a:r>
            <a:r>
              <a:rPr sz="1800" dirty="0">
                <a:solidFill>
                  <a:schemeClr val="accent1"/>
                </a:solidFill>
                <a:latin typeface="微软雅黑" panose="020B0503020204020204" pitchFamily="34" charset="-122"/>
                <a:ea typeface="微软雅黑" panose="020B0503020204020204" pitchFamily="34" charset="-122"/>
                <a:cs typeface="+mn-ea"/>
                <a:sym typeface="+mn-lt"/>
              </a:rPr>
              <a:t>调度器</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，具体如文件9-8所示。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a:t>
                </a:r>
                <a:r>
                  <a:rPr lang="en-US" sz="1600" dirty="0">
                    <a:latin typeface="微软雅黑" panose="020B0503020204020204" pitchFamily="34" charset="-122"/>
                    <a:ea typeface="微软雅黑" panose="020B0503020204020204" pitchFamily="34" charset="-122"/>
                  </a:rPr>
                  <a:t>8</a:t>
                </a:r>
                <a:endParaRPr sz="1600" dirty="0">
                  <a:latin typeface="微软雅黑" panose="020B0503020204020204" pitchFamily="34" charset="-122"/>
                  <a:ea typeface="微软雅黑" panose="020B0503020204020204" pitchFamily="34" charset="-122"/>
                </a:endParaRPr>
              </a:p>
              <a:p>
                <a:pPr algn="ctr">
                  <a:lnSpc>
                    <a:spcPct val="150000"/>
                  </a:lnSpc>
                </a:pPr>
                <a:r>
                  <a:rPr lang="en-US" sz="1600" dirty="0">
                    <a:latin typeface="微软雅黑" panose="020B0503020204020204" pitchFamily="34" charset="-122"/>
                    <a:ea typeface="微软雅黑" panose="020B0503020204020204" pitchFamily="34" charset="-122"/>
                    <a:hlinkClick r:id="rId7"/>
                  </a:rPr>
                  <a:t>QuartzConfig</a:t>
                </a:r>
                <a:r>
                  <a:rPr sz="1600" dirty="0">
                    <a:latin typeface="微软雅黑" panose="020B0503020204020204" pitchFamily="34" charset="-122"/>
                    <a:ea typeface="微软雅黑" panose="020B0503020204020204" pitchFamily="34" charset="-122"/>
                    <a:hlinkClick r:id="rId7"/>
                  </a:rPr>
                  <a:t>.</a:t>
                </a:r>
                <a:r>
                  <a:rPr lang="en-US" sz="1600" dirty="0">
                    <a:latin typeface="微软雅黑" panose="020B0503020204020204" pitchFamily="34" charset="-122"/>
                    <a:ea typeface="微软雅黑" panose="020B0503020204020204" pitchFamily="34" charset="-122"/>
                    <a:hlinkClick r:id="rId7"/>
                  </a:rPr>
                  <a:t>java</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9.1.3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Quartz任务调度</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2.Spring Boot整合Quartz</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17700"/>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（4）</a:t>
            </a:r>
            <a:r>
              <a:rPr sz="1800" dirty="0">
                <a:solidFill>
                  <a:schemeClr val="accent1"/>
                </a:solidFill>
                <a:latin typeface="微软雅黑" panose="020B0503020204020204" pitchFamily="34" charset="-122"/>
                <a:ea typeface="微软雅黑" panose="020B0503020204020204" pitchFamily="34" charset="-122"/>
                <a:cs typeface="+mn-ea"/>
                <a:sym typeface="+mn-lt"/>
              </a:rPr>
              <a:t>测试效果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将项目chapter09</a:t>
            </a:r>
            <a:r>
              <a:rPr sz="1800" dirty="0">
                <a:solidFill>
                  <a:schemeClr val="accent1"/>
                </a:solidFill>
                <a:latin typeface="微软雅黑" panose="020B0503020204020204" pitchFamily="34" charset="-122"/>
                <a:ea typeface="微软雅黑" panose="020B0503020204020204" pitchFamily="34" charset="-122"/>
                <a:cs typeface="+mn-ea"/>
                <a:sym typeface="+mn-lt"/>
              </a:rPr>
              <a:t>启动类上@EnableAsync、@EnableScheduling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注解</a:t>
            </a:r>
            <a:r>
              <a:rPr sz="1800" dirty="0">
                <a:solidFill>
                  <a:schemeClr val="accent1"/>
                </a:solidFill>
                <a:latin typeface="微软雅黑" panose="020B0503020204020204" pitchFamily="34" charset="-122"/>
                <a:ea typeface="微软雅黑" panose="020B0503020204020204" pitchFamily="34" charset="-122"/>
                <a:cs typeface="+mn-ea"/>
                <a:sym typeface="+mn-lt"/>
              </a:rPr>
              <a:t>注释</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掉</a:t>
            </a:r>
            <a:r>
              <a:rPr lang="zh-CN" sz="1800" dirty="0">
                <a:solidFill>
                  <a:srgbClr val="595959"/>
                </a:solidFill>
                <a:latin typeface="微软雅黑" panose="020B0503020204020204" pitchFamily="34" charset="-122"/>
                <a:ea typeface="微软雅黑" panose="020B0503020204020204" pitchFamily="34" charset="-122"/>
                <a:cs typeface="+mn-ea"/>
                <a:sym typeface="+mn-lt"/>
              </a:rPr>
              <a:t>，启动项目chapter09，</a:t>
            </a:r>
            <a:r>
              <a:rPr sz="1800" dirty="0">
                <a:solidFill>
                  <a:schemeClr val="accent1"/>
                </a:solidFill>
                <a:latin typeface="微软雅黑" panose="020B0503020204020204" pitchFamily="34" charset="-122"/>
                <a:ea typeface="微软雅黑" panose="020B0503020204020204" pitchFamily="34" charset="-122"/>
                <a:cs typeface="+mn-ea"/>
                <a:sym typeface="+mn-lt"/>
              </a:rPr>
              <a:t>测试Quartz任务调度</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的效果，此时IDEA控制台输出信息。</a:t>
            </a:r>
            <a:endParaRPr lang="en-US" alt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2147482600"/>
          <p:cNvPicPr>
            <a:picLocks noChangeAspect="1"/>
          </p:cNvPicPr>
          <p:nvPr>
            <p:custDataLst>
              <p:tags r:id="rId4"/>
            </p:custDataLst>
          </p:nvPr>
        </p:nvPicPr>
        <p:blipFill>
          <a:blip r:embed="rId5"/>
          <a:stretch>
            <a:fillRect/>
          </a:stretch>
        </p:blipFill>
        <p:spPr>
          <a:xfrm>
            <a:off x="2280285" y="3510915"/>
            <a:ext cx="7941600" cy="2878339"/>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740" y="3014345"/>
            <a:ext cx="6267450" cy="660400"/>
          </a:xfrm>
          <a:prstGeom prst="rect">
            <a:avLst/>
          </a:prstGeom>
          <a:noFill/>
        </p:spPr>
        <p:txBody>
          <a:bodyPr wrap="square" lIns="91443" tIns="45720" rIns="91443" bIns="45720" rtlCol="0">
            <a:spAutoFit/>
          </a:bodyPr>
          <a:lstStyle/>
          <a:p>
            <a:r>
              <a:rPr lang="zh-CN" sz="37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邮件发送</a:t>
            </a:r>
            <a:endParaRPr lang="zh-CN" sz="37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207260" y="3014345"/>
            <a:ext cx="1108710" cy="660400"/>
          </a:xfrm>
          <a:prstGeom prst="rect">
            <a:avLst/>
          </a:prstGeom>
          <a:noFill/>
        </p:spPr>
        <p:txBody>
          <a:bodyPr wrap="square" lIns="91443" tIns="45720" rIns="91443" bIns="45720" rtlCol="0">
            <a:spAutoFit/>
          </a:bodyPr>
          <a:lstStyle/>
          <a:p>
            <a:r>
              <a:rPr lang="en-US" sz="37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9.2</a:t>
            </a:r>
            <a:endParaRPr lang="en-US" sz="37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邮件发送</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
            </p:custDataLst>
          </p:nvPr>
        </p:nvSpPr>
        <p:spPr bwMode="auto">
          <a:xfrm>
            <a:off x="979170" y="1934210"/>
            <a:ext cx="1031303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sz="1800" dirty="0">
                <a:solidFill>
                  <a:schemeClr val="accent1"/>
                </a:solidFill>
                <a:latin typeface="微软雅黑" panose="020B0503020204020204" pitchFamily="34" charset="-122"/>
                <a:ea typeface="微软雅黑" panose="020B0503020204020204" pitchFamily="34" charset="-122"/>
                <a:cs typeface="+mn-ea"/>
                <a:sym typeface="+mn-lt"/>
              </a:rPr>
              <a:t>发送电子邮件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是很多应用程序的</a:t>
            </a:r>
            <a:r>
              <a:rPr sz="1800" dirty="0">
                <a:solidFill>
                  <a:schemeClr val="accent1"/>
                </a:solidFill>
                <a:latin typeface="微软雅黑" panose="020B0503020204020204" pitchFamily="34" charset="-122"/>
                <a:ea typeface="微软雅黑" panose="020B0503020204020204" pitchFamily="34" charset="-122"/>
                <a:cs typeface="+mn-ea"/>
                <a:sym typeface="+mn-lt"/>
              </a:rPr>
              <a:t>常见需求</a:t>
            </a:r>
            <a:r>
              <a:rPr lang="zh-CN" sz="1800" dirty="0">
                <a:solidFill>
                  <a:srgbClr val="595959"/>
                </a:solidFill>
                <a:latin typeface="微软雅黑" panose="020B0503020204020204" pitchFamily="34" charset="-122"/>
                <a:ea typeface="微软雅黑" panose="020B0503020204020204" pitchFamily="34" charset="-122"/>
                <a:cs typeface="+mn-ea"/>
                <a:sym typeface="+mn-lt"/>
              </a:rPr>
              <a:t>，例如使用电子邮件实现用户注册验证、密码重置、给用户发送营销信息等功能。</a:t>
            </a:r>
            <a:r>
              <a:rPr sz="1800" dirty="0">
                <a:solidFill>
                  <a:schemeClr val="accent1"/>
                </a:solidFill>
                <a:latin typeface="微软雅黑" panose="020B0503020204020204" pitchFamily="34" charset="-122"/>
                <a:ea typeface="微软雅黑" panose="020B0503020204020204" pitchFamily="34" charset="-122"/>
                <a:cs typeface="+mn-ea"/>
                <a:sym typeface="+mn-lt"/>
              </a:rPr>
              <a:t>Spring</a:t>
            </a:r>
            <a:r>
              <a:rPr lang="zh-CN" sz="1800" dirty="0">
                <a:solidFill>
                  <a:srgbClr val="595959"/>
                </a:solidFill>
                <a:latin typeface="微软雅黑" panose="020B0503020204020204" pitchFamily="34" charset="-122"/>
                <a:ea typeface="微软雅黑" panose="020B0503020204020204" pitchFamily="34" charset="-122"/>
                <a:cs typeface="+mn-ea"/>
                <a:sym typeface="+mn-lt"/>
              </a:rPr>
              <a:t>提供了一个实用的</a:t>
            </a:r>
            <a:r>
              <a:rPr sz="1800" dirty="0">
                <a:solidFill>
                  <a:schemeClr val="accent1"/>
                </a:solidFill>
                <a:latin typeface="微软雅黑" panose="020B0503020204020204" pitchFamily="34" charset="-122"/>
                <a:ea typeface="微软雅黑" panose="020B0503020204020204" pitchFamily="34" charset="-122"/>
                <a:cs typeface="+mn-ea"/>
                <a:sym typeface="+mn-lt"/>
              </a:rPr>
              <a:t>发送电子邮件库</a:t>
            </a:r>
            <a:r>
              <a:rPr lang="zh-CN" sz="1800" dirty="0">
                <a:solidFill>
                  <a:srgbClr val="595959"/>
                </a:solidFill>
                <a:latin typeface="微软雅黑" panose="020B0503020204020204" pitchFamily="34" charset="-122"/>
                <a:ea typeface="微软雅黑" panose="020B0503020204020204" pitchFamily="34" charset="-122"/>
                <a:cs typeface="+mn-ea"/>
                <a:sym typeface="+mn-lt"/>
              </a:rPr>
              <a:t>，它为使用者</a:t>
            </a:r>
            <a:r>
              <a:rPr sz="1800" dirty="0">
                <a:solidFill>
                  <a:schemeClr val="accent1"/>
                </a:solidFill>
                <a:latin typeface="微软雅黑" panose="020B0503020204020204" pitchFamily="34" charset="-122"/>
                <a:ea typeface="微软雅黑" panose="020B0503020204020204" pitchFamily="34" charset="-122"/>
                <a:cs typeface="+mn-ea"/>
                <a:sym typeface="+mn-lt"/>
              </a:rPr>
              <a:t>屏蔽</a:t>
            </a:r>
            <a:r>
              <a:rPr lang="zh-CN" sz="1800" dirty="0">
                <a:solidFill>
                  <a:srgbClr val="595959"/>
                </a:solidFill>
                <a:latin typeface="微软雅黑" panose="020B0503020204020204" pitchFamily="34" charset="-122"/>
                <a:ea typeface="微软雅黑" panose="020B0503020204020204" pitchFamily="34" charset="-122"/>
                <a:cs typeface="+mn-ea"/>
                <a:sym typeface="+mn-lt"/>
              </a:rPr>
              <a:t>了邮件系统的</a:t>
            </a:r>
            <a:r>
              <a:rPr sz="1800" dirty="0">
                <a:solidFill>
                  <a:schemeClr val="accent1"/>
                </a:solidFill>
                <a:latin typeface="微软雅黑" panose="020B0503020204020204" pitchFamily="34" charset="-122"/>
                <a:ea typeface="微软雅黑" panose="020B0503020204020204" pitchFamily="34" charset="-122"/>
                <a:cs typeface="+mn-ea"/>
                <a:sym typeface="+mn-lt"/>
              </a:rPr>
              <a:t>底层细节</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和客户端的</a:t>
            </a:r>
            <a:r>
              <a:rPr sz="1800" dirty="0">
                <a:solidFill>
                  <a:schemeClr val="accent1"/>
                </a:solidFill>
                <a:latin typeface="微软雅黑" panose="020B0503020204020204" pitchFamily="34" charset="-122"/>
                <a:ea typeface="微软雅黑" panose="020B0503020204020204" pitchFamily="34" charset="-122"/>
                <a:cs typeface="+mn-ea"/>
                <a:sym typeface="+mn-lt"/>
              </a:rPr>
              <a:t>底层资源处理</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Spring Boot</a:t>
            </a:r>
            <a:r>
              <a:rPr lang="zh-CN" sz="1800" dirty="0">
                <a:solidFill>
                  <a:srgbClr val="595959"/>
                </a:solidFill>
                <a:latin typeface="微软雅黑" panose="020B0503020204020204" pitchFamily="34" charset="-122"/>
                <a:ea typeface="微软雅黑" panose="020B0503020204020204" pitchFamily="34" charset="-122"/>
                <a:cs typeface="+mn-ea"/>
                <a:sym typeface="+mn-lt"/>
              </a:rPr>
              <a:t>框架对Spring提出的</a:t>
            </a:r>
            <a:r>
              <a:rPr sz="1800" dirty="0">
                <a:solidFill>
                  <a:schemeClr val="accent1"/>
                </a:solidFill>
                <a:latin typeface="微软雅黑" panose="020B0503020204020204" pitchFamily="34" charset="-122"/>
                <a:ea typeface="微软雅黑" panose="020B0503020204020204" pitchFamily="34" charset="-122"/>
                <a:cs typeface="+mn-ea"/>
                <a:sym typeface="+mn-lt"/>
              </a:rPr>
              <a:t>邮件服务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也进行了</a:t>
            </a:r>
            <a:r>
              <a:rPr sz="1800" dirty="0">
                <a:solidFill>
                  <a:schemeClr val="accent1"/>
                </a:solidFill>
                <a:latin typeface="微软雅黑" panose="020B0503020204020204" pitchFamily="34" charset="-122"/>
                <a:ea typeface="微软雅黑" panose="020B0503020204020204" pitchFamily="34" charset="-122"/>
                <a:cs typeface="+mn-ea"/>
                <a:sym typeface="+mn-lt"/>
              </a:rPr>
              <a:t>整合支持</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。下面对在Spring Boot项目中</a:t>
            </a:r>
            <a:r>
              <a:rPr sz="1800" dirty="0">
                <a:solidFill>
                  <a:schemeClr val="accent1"/>
                </a:solidFill>
                <a:latin typeface="微软雅黑" panose="020B0503020204020204" pitchFamily="34" charset="-122"/>
                <a:ea typeface="微软雅黑" panose="020B0503020204020204" pitchFamily="34" charset="-122"/>
                <a:cs typeface="+mn-ea"/>
                <a:sym typeface="+mn-lt"/>
              </a:rPr>
              <a:t>实现多种形式的邮件发送</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进行讲解。</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发送纯文本邮件</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Boot项目中实现纯文本邮件的发送</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225425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1.添加依赖</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850515"/>
            <a:ext cx="103130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Spring Boot为邮件服务提供了对应的启动器，在项目chapter09的</a:t>
            </a:r>
            <a:r>
              <a:rPr sz="1800" dirty="0">
                <a:solidFill>
                  <a:schemeClr val="accent1"/>
                </a:solidFill>
                <a:latin typeface="微软雅黑" panose="020B0503020204020204" pitchFamily="34" charset="-122"/>
                <a:ea typeface="微软雅黑" panose="020B0503020204020204" pitchFamily="34" charset="-122"/>
                <a:cs typeface="+mn-ea"/>
                <a:sym typeface="+mn-lt"/>
              </a:rPr>
              <a:t>pom.xml</a:t>
            </a:r>
            <a:r>
              <a:rPr lang="zh-CN" sz="1800" dirty="0">
                <a:solidFill>
                  <a:srgbClr val="595959"/>
                </a:solidFill>
                <a:latin typeface="微软雅黑" panose="020B0503020204020204" pitchFamily="34" charset="-122"/>
                <a:ea typeface="微软雅黑" panose="020B0503020204020204" pitchFamily="34" charset="-122"/>
                <a:cs typeface="+mn-ea"/>
                <a:sym typeface="+mn-lt"/>
              </a:rPr>
              <a:t>文件中，</a:t>
            </a:r>
            <a:r>
              <a:rPr sz="1800" dirty="0">
                <a:solidFill>
                  <a:schemeClr val="accent1"/>
                </a:solidFill>
                <a:latin typeface="微软雅黑" panose="020B0503020204020204" pitchFamily="34" charset="-122"/>
                <a:ea typeface="微软雅黑" panose="020B0503020204020204" pitchFamily="34" charset="-122"/>
                <a:cs typeface="+mn-ea"/>
                <a:sym typeface="+mn-lt"/>
              </a:rPr>
              <a:t>添加Spring Boot整合邮件服务的启动器依赖</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en-US" sz="1600" dirty="0">
                    <a:latin typeface="微软雅黑" panose="020B0503020204020204" pitchFamily="34" charset="-122"/>
                    <a:ea typeface="微软雅黑" panose="020B0503020204020204" pitchFamily="34" charset="-122"/>
                    <a:hlinkClick r:id="rId7"/>
                  </a:rPr>
                  <a:t>pom</a:t>
                </a:r>
                <a:r>
                  <a:rPr sz="1600" dirty="0">
                    <a:latin typeface="微软雅黑" panose="020B0503020204020204" pitchFamily="34" charset="-122"/>
                    <a:ea typeface="微软雅黑" panose="020B0503020204020204" pitchFamily="34" charset="-122"/>
                    <a:hlinkClick r:id="rId7"/>
                  </a:rPr>
                  <a:t>.</a:t>
                </a:r>
                <a:r>
                  <a:rPr lang="en-US" sz="1600" dirty="0">
                    <a:latin typeface="微软雅黑" panose="020B0503020204020204" pitchFamily="34" charset="-122"/>
                    <a:ea typeface="微软雅黑" panose="020B0503020204020204" pitchFamily="34" charset="-122"/>
                    <a:hlinkClick r:id="rId7"/>
                  </a:rPr>
                  <a:t>xml</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TextBox 16"/>
          <p:cNvSpPr>
            <a:spLocks noChangeArrowheads="1"/>
          </p:cNvSpPr>
          <p:nvPr>
            <p:custDataLst>
              <p:tags r:id="rId13"/>
            </p:custDataLst>
          </p:nvPr>
        </p:nvSpPr>
        <p:spPr bwMode="auto">
          <a:xfrm>
            <a:off x="1017905" y="896620"/>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早邮件发送任务中，最简单</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lang="zh-CN" sz="1800" dirty="0">
                <a:solidFill>
                  <a:srgbClr val="595959"/>
                </a:solidFill>
                <a:latin typeface="微软雅黑" panose="020B0503020204020204" pitchFamily="34" charset="-122"/>
                <a:ea typeface="微软雅黑" panose="020B0503020204020204" pitchFamily="34" charset="-122"/>
                <a:cs typeface="+mn-ea"/>
                <a:sym typeface="+mn-lt"/>
              </a:rPr>
              <a:t>实现莫过于</a:t>
            </a:r>
            <a:r>
              <a:rPr sz="1800" dirty="0">
                <a:solidFill>
                  <a:schemeClr val="accent1"/>
                </a:solidFill>
                <a:latin typeface="微软雅黑" panose="020B0503020204020204" pitchFamily="34" charset="-122"/>
                <a:ea typeface="微软雅黑" panose="020B0503020204020204" pitchFamily="34" charset="-122"/>
                <a:cs typeface="+mn-ea"/>
                <a:sym typeface="+mn-lt"/>
              </a:rPr>
              <a:t>纯文本</a:t>
            </a:r>
            <a:r>
              <a:rPr lang="zh-CN" sz="1800" dirty="0">
                <a:solidFill>
                  <a:srgbClr val="595959"/>
                </a:solidFill>
                <a:latin typeface="微软雅黑" panose="020B0503020204020204" pitchFamily="34" charset="-122"/>
                <a:ea typeface="微软雅黑" panose="020B0503020204020204" pitchFamily="34" charset="-122"/>
                <a:cs typeface="+mn-ea"/>
                <a:sym typeface="+mn-lt"/>
              </a:rPr>
              <a:t>邮件的发送。在定制纯文本邮件时，只需要指定</a:t>
            </a:r>
            <a:r>
              <a:rPr sz="1800" dirty="0">
                <a:solidFill>
                  <a:schemeClr val="accent1"/>
                </a:solidFill>
                <a:latin typeface="微软雅黑" panose="020B0503020204020204" pitchFamily="34" charset="-122"/>
                <a:ea typeface="微软雅黑" panose="020B0503020204020204" pitchFamily="34" charset="-122"/>
                <a:cs typeface="+mn-ea"/>
                <a:sym typeface="+mn-lt"/>
              </a:rPr>
              <a:t>收件人邮箱账号</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邮件标题</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邮件内容</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。下面通过案例演示Spring Boot项目中实现纯文本邮件的发送，具体如下。</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2.设置邮件服务配置</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8945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为了确保邮件服务正常发送，需要在项目的配置文件中</a:t>
            </a:r>
            <a:r>
              <a:rPr sz="1800" dirty="0">
                <a:solidFill>
                  <a:schemeClr val="accent1"/>
                </a:solidFill>
                <a:latin typeface="微软雅黑" panose="020B0503020204020204" pitchFamily="34" charset="-122"/>
                <a:ea typeface="微软雅黑" panose="020B0503020204020204" pitchFamily="34" charset="-122"/>
                <a:cs typeface="+mn-ea"/>
                <a:sym typeface="+mn-lt"/>
              </a:rPr>
              <a:t>设置邮件服务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相关的</a:t>
            </a:r>
            <a:r>
              <a:rPr sz="1800" dirty="0">
                <a:solidFill>
                  <a:schemeClr val="accent1"/>
                </a:solidFill>
                <a:latin typeface="微软雅黑" panose="020B0503020204020204" pitchFamily="34" charset="-122"/>
                <a:ea typeface="微软雅黑" panose="020B0503020204020204" pitchFamily="34" charset="-122"/>
                <a:cs typeface="+mn-ea"/>
                <a:sym typeface="+mn-lt"/>
              </a:rPr>
              <a:t>配置</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。在项目chapter09的</a:t>
            </a:r>
            <a:r>
              <a:rPr sz="1800" dirty="0">
                <a:solidFill>
                  <a:schemeClr val="accent1"/>
                </a:solidFill>
                <a:latin typeface="微软雅黑" panose="020B0503020204020204" pitchFamily="34" charset="-122"/>
                <a:ea typeface="微软雅黑" panose="020B0503020204020204" pitchFamily="34" charset="-122"/>
                <a:cs typeface="+mn-ea"/>
                <a:sym typeface="+mn-lt"/>
              </a:rPr>
              <a:t>application.properties</a:t>
            </a:r>
            <a:r>
              <a:rPr lang="zh-CN" sz="1800" dirty="0">
                <a:solidFill>
                  <a:srgbClr val="595959"/>
                </a:solidFill>
                <a:latin typeface="微软雅黑" panose="020B0503020204020204" pitchFamily="34" charset="-122"/>
                <a:ea typeface="微软雅黑" panose="020B0503020204020204" pitchFamily="34" charset="-122"/>
                <a:cs typeface="+mn-ea"/>
                <a:sym typeface="+mn-lt"/>
              </a:rPr>
              <a:t>配置文件中</a:t>
            </a:r>
            <a:r>
              <a:rPr sz="1800" dirty="0">
                <a:solidFill>
                  <a:schemeClr val="accent1"/>
                </a:solidFill>
                <a:latin typeface="微软雅黑" panose="020B0503020204020204" pitchFamily="34" charset="-122"/>
                <a:ea typeface="微软雅黑" panose="020B0503020204020204" pitchFamily="34" charset="-122"/>
                <a:cs typeface="+mn-ea"/>
                <a:sym typeface="+mn-lt"/>
              </a:rPr>
              <a:t>添加发件人邮箱服务配置</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邮件服务超时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的相关</a:t>
            </a:r>
            <a:r>
              <a:rPr sz="1800" dirty="0">
                <a:solidFill>
                  <a:schemeClr val="accent1"/>
                </a:solidFill>
                <a:latin typeface="微软雅黑" panose="020B0503020204020204" pitchFamily="34" charset="-122"/>
                <a:ea typeface="微软雅黑" panose="020B0503020204020204" pitchFamily="34" charset="-122"/>
                <a:cs typeface="+mn-ea"/>
                <a:sym typeface="+mn-lt"/>
              </a:rPr>
              <a:t>配置</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，具体代码如文件9-9所示。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4"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910153"/>
            <a:ext cx="2232248" cy="2232248"/>
          </a:xfrm>
          <a:prstGeom prst="rect">
            <a:avLst/>
          </a:prstGeom>
        </p:spPr>
      </p:pic>
      <p:grpSp>
        <p:nvGrpSpPr>
          <p:cNvPr id="12" name="组合 11"/>
          <p:cNvGrpSpPr/>
          <p:nvPr/>
        </p:nvGrpSpPr>
        <p:grpSpPr>
          <a:xfrm>
            <a:off x="5675998" y="401902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文件9-9</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application.properties</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2.设置邮件服务配置</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89455"/>
            <a:ext cx="10313035" cy="207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本案例中配置的发件人邮箱是</a:t>
            </a:r>
            <a:r>
              <a:rPr sz="1800" dirty="0">
                <a:solidFill>
                  <a:schemeClr val="accent1"/>
                </a:solidFill>
                <a:latin typeface="微软雅黑" panose="020B0503020204020204" pitchFamily="34" charset="-122"/>
                <a:ea typeface="微软雅黑" panose="020B0503020204020204" pitchFamily="34" charset="-122"/>
                <a:cs typeface="+mn-ea"/>
                <a:sym typeface="+mn-lt"/>
              </a:rPr>
              <a:t>QQ邮箱</a:t>
            </a:r>
            <a:r>
              <a:rPr lang="zh-CN" sz="1800" dirty="0">
                <a:solidFill>
                  <a:srgbClr val="595959"/>
                </a:solidFill>
                <a:latin typeface="微软雅黑" panose="020B0503020204020204" pitchFamily="34" charset="-122"/>
                <a:ea typeface="微软雅黑" panose="020B0503020204020204" pitchFamily="34" charset="-122"/>
                <a:cs typeface="+mn-ea"/>
                <a:sym typeface="+mn-lt"/>
              </a:rPr>
              <a:t>，如果配置的是</a:t>
            </a:r>
            <a:r>
              <a:rPr sz="1800" dirty="0">
                <a:solidFill>
                  <a:schemeClr val="accent1"/>
                </a:solidFill>
                <a:latin typeface="微软雅黑" panose="020B0503020204020204" pitchFamily="34" charset="-122"/>
                <a:ea typeface="微软雅黑" panose="020B0503020204020204" pitchFamily="34" charset="-122"/>
                <a:cs typeface="+mn-ea"/>
                <a:sym typeface="+mn-lt"/>
              </a:rPr>
              <a:t>其他邮箱</a:t>
            </a:r>
            <a:r>
              <a:rPr lang="zh-CN" sz="1800" dirty="0">
                <a:solidFill>
                  <a:srgbClr val="595959"/>
                </a:solidFill>
                <a:latin typeface="微软雅黑" panose="020B0503020204020204" pitchFamily="34" charset="-122"/>
                <a:ea typeface="微软雅黑" panose="020B0503020204020204" pitchFamily="34" charset="-122"/>
                <a:cs typeface="+mn-ea"/>
                <a:sym typeface="+mn-lt"/>
              </a:rPr>
              <a:t>，必须</a:t>
            </a:r>
            <a:r>
              <a:rPr sz="1800" dirty="0">
                <a:solidFill>
                  <a:schemeClr val="accent1"/>
                </a:solidFill>
                <a:latin typeface="微软雅黑" panose="020B0503020204020204" pitchFamily="34" charset="-122"/>
                <a:ea typeface="微软雅黑" panose="020B0503020204020204" pitchFamily="34" charset="-122"/>
                <a:cs typeface="+mn-ea"/>
                <a:sym typeface="+mn-lt"/>
              </a:rPr>
              <a:t>更改对</a:t>
            </a:r>
            <a:r>
              <a:rPr lang="zh-CN" sz="1800" dirty="0">
                <a:solidFill>
                  <a:srgbClr val="595959"/>
                </a:solidFill>
                <a:latin typeface="微软雅黑" panose="020B0503020204020204" pitchFamily="34" charset="-122"/>
                <a:ea typeface="微软雅黑" panose="020B0503020204020204" pitchFamily="34" charset="-122"/>
                <a:cs typeface="+mn-ea"/>
                <a:sym typeface="+mn-lt"/>
              </a:rPr>
              <a:t>应的</a:t>
            </a:r>
            <a:r>
              <a:rPr sz="1800" dirty="0">
                <a:solidFill>
                  <a:schemeClr val="accent1"/>
                </a:solidFill>
                <a:latin typeface="微软雅黑" panose="020B0503020204020204" pitchFamily="34" charset="-122"/>
                <a:ea typeface="微软雅黑" panose="020B0503020204020204" pitchFamily="34" charset="-122"/>
                <a:cs typeface="+mn-ea"/>
                <a:sym typeface="+mn-lt"/>
              </a:rPr>
              <a:t>服务器主机</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端口号以</a:t>
            </a:r>
            <a:r>
              <a:rPr lang="zh-CN" sz="1800" dirty="0">
                <a:solidFill>
                  <a:srgbClr val="595959"/>
                </a:solidFill>
                <a:latin typeface="微软雅黑" panose="020B0503020204020204" pitchFamily="34" charset="-122"/>
                <a:ea typeface="微软雅黑" panose="020B0503020204020204" pitchFamily="34" charset="-122"/>
                <a:cs typeface="+mn-ea"/>
                <a:sym typeface="+mn-lt"/>
              </a:rPr>
              <a:t>；另外，配置的</a:t>
            </a:r>
            <a:r>
              <a:rPr sz="1800" dirty="0">
                <a:solidFill>
                  <a:schemeClr val="accent1"/>
                </a:solidFill>
                <a:latin typeface="微软雅黑" panose="020B0503020204020204" pitchFamily="34" charset="-122"/>
                <a:ea typeface="微软雅黑" panose="020B0503020204020204" pitchFamily="34" charset="-122"/>
                <a:cs typeface="+mn-ea"/>
                <a:sym typeface="+mn-lt"/>
              </a:rPr>
              <a:t>密码不是</a:t>
            </a:r>
            <a:r>
              <a:rPr lang="zh-CN" sz="1800" dirty="0">
                <a:solidFill>
                  <a:srgbClr val="595959"/>
                </a:solidFill>
                <a:latin typeface="微软雅黑" panose="020B0503020204020204" pitchFamily="34" charset="-122"/>
                <a:ea typeface="微软雅黑" panose="020B0503020204020204" pitchFamily="34" charset="-122"/>
                <a:cs typeface="+mn-ea"/>
                <a:sym typeface="+mn-lt"/>
              </a:rPr>
              <a:t>QQ</a:t>
            </a:r>
            <a:r>
              <a:rPr sz="1800" dirty="0">
                <a:solidFill>
                  <a:schemeClr val="accent1"/>
                </a:solidFill>
                <a:latin typeface="微软雅黑" panose="020B0503020204020204" pitchFamily="34" charset="-122"/>
                <a:ea typeface="微软雅黑" panose="020B0503020204020204" pitchFamily="34" charset="-122"/>
                <a:cs typeface="+mn-ea"/>
                <a:sym typeface="+mn-lt"/>
              </a:rPr>
              <a:t>邮箱的原始密码</a:t>
            </a:r>
            <a:r>
              <a:rPr lang="zh-CN" sz="1800" dirty="0">
                <a:solidFill>
                  <a:srgbClr val="595959"/>
                </a:solidFill>
                <a:latin typeface="微软雅黑" panose="020B0503020204020204" pitchFamily="34" charset="-122"/>
                <a:ea typeface="微软雅黑" panose="020B0503020204020204" pitchFamily="34" charset="-122"/>
                <a:cs typeface="+mn-ea"/>
                <a:sym typeface="+mn-lt"/>
              </a:rPr>
              <a:t>，而是通过手机短信验证后的</a:t>
            </a:r>
            <a:r>
              <a:rPr sz="1800" dirty="0">
                <a:solidFill>
                  <a:schemeClr val="accent1"/>
                </a:solidFill>
                <a:latin typeface="微软雅黑" panose="020B0503020204020204" pitchFamily="34" charset="-122"/>
                <a:ea typeface="微软雅黑" panose="020B0503020204020204" pitchFamily="34" charset="-122"/>
                <a:cs typeface="+mn-ea"/>
                <a:sym typeface="+mn-lt"/>
              </a:rPr>
              <a:t>授权码</a:t>
            </a:r>
            <a:r>
              <a:rPr lang="zh-CN" sz="1800" dirty="0">
                <a:solidFill>
                  <a:srgbClr val="595959"/>
                </a:solidFill>
                <a:latin typeface="微软雅黑" panose="020B0503020204020204" pitchFamily="34" charset="-122"/>
                <a:ea typeface="微软雅黑" panose="020B0503020204020204" pitchFamily="34" charset="-122"/>
                <a:cs typeface="+mn-ea"/>
                <a:sym typeface="+mn-lt"/>
              </a:rPr>
              <a:t>。授权码是QQ邮箱推出的用于</a:t>
            </a:r>
            <a:r>
              <a:rPr sz="1800" dirty="0">
                <a:solidFill>
                  <a:schemeClr val="accent1"/>
                </a:solidFill>
                <a:latin typeface="微软雅黑" panose="020B0503020204020204" pitchFamily="34" charset="-122"/>
                <a:ea typeface="微软雅黑" panose="020B0503020204020204" pitchFamily="34" charset="-122"/>
                <a:cs typeface="+mn-ea"/>
                <a:sym typeface="+mn-lt"/>
              </a:rPr>
              <a:t>登录第三方客户端</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的专用</a:t>
            </a:r>
            <a:r>
              <a:rPr sz="1800" dirty="0">
                <a:solidFill>
                  <a:schemeClr val="accent1"/>
                </a:solidFill>
                <a:latin typeface="微软雅黑" panose="020B0503020204020204" pitchFamily="34" charset="-122"/>
                <a:ea typeface="微软雅黑" panose="020B0503020204020204" pitchFamily="34" charset="-122"/>
                <a:cs typeface="+mn-ea"/>
                <a:sym typeface="+mn-lt"/>
              </a:rPr>
              <a:t>密码</a:t>
            </a:r>
            <a:r>
              <a:rPr lang="zh-CN" sz="1800" dirty="0">
                <a:solidFill>
                  <a:srgbClr val="595959"/>
                </a:solidFill>
                <a:latin typeface="微软雅黑" panose="020B0503020204020204" pitchFamily="34" charset="-122"/>
                <a:ea typeface="微软雅黑" panose="020B0503020204020204" pitchFamily="34" charset="-122"/>
                <a:cs typeface="+mn-ea"/>
                <a:sym typeface="+mn-lt"/>
              </a:rPr>
              <a:t>。适用于登录</a:t>
            </a:r>
            <a:r>
              <a:rPr sz="1800" dirty="0">
                <a:solidFill>
                  <a:schemeClr val="accent1"/>
                </a:solidFill>
                <a:latin typeface="微软雅黑" panose="020B0503020204020204" pitchFamily="34" charset="-122"/>
                <a:ea typeface="微软雅黑" panose="020B0503020204020204" pitchFamily="34" charset="-122"/>
                <a:cs typeface="+mn-ea"/>
                <a:sym typeface="+mn-lt"/>
              </a:rPr>
              <a:t>POP3/IMAP/SMTP/Exchange/CardDAV/CalDAV</a:t>
            </a:r>
            <a:r>
              <a:rPr lang="zh-CN" sz="1800" dirty="0">
                <a:solidFill>
                  <a:srgbClr val="595959"/>
                </a:solidFill>
                <a:latin typeface="微软雅黑" panose="020B0503020204020204" pitchFamily="34" charset="-122"/>
                <a:ea typeface="微软雅黑" panose="020B0503020204020204" pitchFamily="34" charset="-122"/>
                <a:cs typeface="+mn-ea"/>
                <a:sym typeface="+mn-lt"/>
              </a:rPr>
              <a:t>服务，开启对应的服务时可以获取对应的授权。登录QQ邮箱后单击“</a:t>
            </a:r>
            <a:r>
              <a:rPr sz="1800" dirty="0">
                <a:solidFill>
                  <a:schemeClr val="accent1"/>
                </a:solidFill>
                <a:latin typeface="微软雅黑" panose="020B0503020204020204" pitchFamily="34" charset="-122"/>
                <a:ea typeface="微软雅黑" panose="020B0503020204020204" pitchFamily="34" charset="-122"/>
                <a:cs typeface="+mn-ea"/>
                <a:sym typeface="+mn-lt"/>
              </a:rPr>
              <a:t>设置</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账户</a:t>
            </a:r>
            <a:r>
              <a:rPr lang="zh-CN" sz="1800" dirty="0">
                <a:solidFill>
                  <a:srgbClr val="595959"/>
                </a:solidFill>
                <a:latin typeface="微软雅黑" panose="020B0503020204020204" pitchFamily="34" charset="-122"/>
                <a:ea typeface="微软雅黑" panose="020B0503020204020204" pitchFamily="34" charset="-122"/>
                <a:cs typeface="+mn-ea"/>
                <a:sym typeface="+mn-lt"/>
              </a:rPr>
              <a:t>”，然后选择开启的服务。</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2147482599"/>
          <p:cNvPicPr>
            <a:picLocks noChangeAspect="1"/>
          </p:cNvPicPr>
          <p:nvPr>
            <p:custDataLst>
              <p:tags r:id="rId4"/>
            </p:custDataLst>
          </p:nvPr>
        </p:nvPicPr>
        <p:blipFill>
          <a:blip r:embed="rId5"/>
          <a:stretch>
            <a:fillRect/>
          </a:stretch>
        </p:blipFill>
        <p:spPr>
          <a:xfrm>
            <a:off x="2063433" y="4221798"/>
            <a:ext cx="8280000" cy="2055394"/>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2.设置邮件服务配置</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单击对应服务的“</a:t>
            </a:r>
            <a:r>
              <a:rPr sz="1800" dirty="0">
                <a:solidFill>
                  <a:schemeClr val="accent1"/>
                </a:solidFill>
                <a:latin typeface="微软雅黑" panose="020B0503020204020204" pitchFamily="34" charset="-122"/>
                <a:ea typeface="微软雅黑" panose="020B0503020204020204" pitchFamily="34" charset="-122"/>
                <a:cs typeface="+mn-ea"/>
                <a:sym typeface="+mn-lt"/>
              </a:rPr>
              <a:t>开启</a:t>
            </a:r>
            <a:r>
              <a:rPr lang="zh-CN" sz="1800" dirty="0">
                <a:solidFill>
                  <a:srgbClr val="595959"/>
                </a:solidFill>
                <a:latin typeface="微软雅黑" panose="020B0503020204020204" pitchFamily="34" charset="-122"/>
                <a:ea typeface="微软雅黑" panose="020B0503020204020204" pitchFamily="34" charset="-122"/>
                <a:cs typeface="+mn-ea"/>
                <a:sym typeface="+mn-lt"/>
              </a:rPr>
              <a:t>”按钮后，会</a:t>
            </a:r>
            <a:r>
              <a:rPr sz="1800" dirty="0">
                <a:solidFill>
                  <a:schemeClr val="accent1"/>
                </a:solidFill>
                <a:latin typeface="微软雅黑" panose="020B0503020204020204" pitchFamily="34" charset="-122"/>
                <a:ea typeface="微软雅黑" panose="020B0503020204020204" pitchFamily="34" charset="-122"/>
                <a:cs typeface="+mn-ea"/>
                <a:sym typeface="+mn-lt"/>
              </a:rPr>
              <a:t>弹出验证密保的对话框</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2147482597"/>
          <p:cNvPicPr>
            <a:picLocks noChangeAspect="1"/>
          </p:cNvPicPr>
          <p:nvPr>
            <p:custDataLst>
              <p:tags r:id="rId4"/>
            </p:custDataLst>
          </p:nvPr>
        </p:nvPicPr>
        <p:blipFill>
          <a:blip r:embed="rId5"/>
          <a:stretch>
            <a:fillRect/>
          </a:stretch>
        </p:blipFill>
        <p:spPr>
          <a:xfrm>
            <a:off x="3645218" y="2709545"/>
            <a:ext cx="5220000" cy="3577394"/>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3.定制邮件发送服务</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在com.itheima.chapter09.service的包中，</a:t>
            </a:r>
            <a:r>
              <a:rPr sz="1800" dirty="0">
                <a:solidFill>
                  <a:schemeClr val="accent1"/>
                </a:solidFill>
                <a:latin typeface="微软雅黑" panose="020B0503020204020204" pitchFamily="34" charset="-122"/>
                <a:ea typeface="微软雅黑" panose="020B0503020204020204" pitchFamily="34" charset="-122"/>
                <a:cs typeface="+mn-ea"/>
                <a:sym typeface="+mn-lt"/>
              </a:rPr>
              <a:t>新建</a:t>
            </a:r>
            <a:r>
              <a:rPr lang="zh-CN" sz="1800" dirty="0">
                <a:solidFill>
                  <a:srgbClr val="595959"/>
                </a:solidFill>
                <a:latin typeface="微软雅黑" panose="020B0503020204020204" pitchFamily="34" charset="-122"/>
                <a:ea typeface="微软雅黑" panose="020B0503020204020204" pitchFamily="34" charset="-122"/>
                <a:cs typeface="+mn-ea"/>
                <a:sym typeface="+mn-lt"/>
              </a:rPr>
              <a:t>一个邮件发送任务管理的</a:t>
            </a:r>
            <a:r>
              <a:rPr sz="1800" dirty="0">
                <a:solidFill>
                  <a:schemeClr val="accent1"/>
                </a:solidFill>
                <a:latin typeface="微软雅黑" panose="020B0503020204020204" pitchFamily="34" charset="-122"/>
                <a:ea typeface="微软雅黑" panose="020B0503020204020204" pitchFamily="34" charset="-122"/>
                <a:cs typeface="+mn-ea"/>
                <a:sym typeface="+mn-lt"/>
              </a:rPr>
              <a:t>业务处理类SendEmailService</a:t>
            </a:r>
            <a:r>
              <a:rPr lang="zh-CN" sz="1800" dirty="0">
                <a:solidFill>
                  <a:srgbClr val="595959"/>
                </a:solidFill>
                <a:latin typeface="微软雅黑" panose="020B0503020204020204" pitchFamily="34" charset="-122"/>
                <a:ea typeface="微软雅黑" panose="020B0503020204020204" pitchFamily="34" charset="-122"/>
                <a:cs typeface="+mn-ea"/>
                <a:sym typeface="+mn-lt"/>
              </a:rPr>
              <a:t>，并在该类中编写一个</a:t>
            </a:r>
            <a:r>
              <a:rPr sz="1800" dirty="0">
                <a:solidFill>
                  <a:schemeClr val="accent1"/>
                </a:solidFill>
                <a:latin typeface="微软雅黑" panose="020B0503020204020204" pitchFamily="34" charset="-122"/>
                <a:ea typeface="微软雅黑" panose="020B0503020204020204" pitchFamily="34" charset="-122"/>
                <a:cs typeface="+mn-ea"/>
                <a:sym typeface="+mn-lt"/>
              </a:rPr>
              <a:t>发送纯文本邮件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的业务方法，具体如文件9-10所示。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94888"/>
            <a:ext cx="2232248" cy="2232248"/>
          </a:xfrm>
          <a:prstGeom prst="rect">
            <a:avLst/>
          </a:prstGeom>
        </p:spPr>
      </p:pic>
      <p:grpSp>
        <p:nvGrpSpPr>
          <p:cNvPr id="12" name="组合 11"/>
          <p:cNvGrpSpPr/>
          <p:nvPr/>
        </p:nvGrpSpPr>
        <p:grpSpPr>
          <a:xfrm>
            <a:off x="5675998" y="380376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文件9-10</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SendEmailService.java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4.定义测试方法</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在项目chapter09</a:t>
            </a:r>
            <a:r>
              <a:rPr sz="1800" dirty="0">
                <a:solidFill>
                  <a:schemeClr val="accent1"/>
                </a:solidFill>
                <a:latin typeface="微软雅黑" panose="020B0503020204020204" pitchFamily="34" charset="-122"/>
                <a:ea typeface="微软雅黑" panose="020B0503020204020204" pitchFamily="34" charset="-122"/>
                <a:cs typeface="+mn-ea"/>
                <a:sym typeface="+mn-lt"/>
              </a:rPr>
              <a:t>测试类Chapter09ApplicationTests</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中定义方法测试</a:t>
            </a:r>
            <a:r>
              <a:rPr sz="1800" dirty="0">
                <a:solidFill>
                  <a:schemeClr val="accent1"/>
                </a:solidFill>
                <a:latin typeface="微软雅黑" panose="020B0503020204020204" pitchFamily="34" charset="-122"/>
                <a:ea typeface="微软雅黑" panose="020B0503020204020204" pitchFamily="34" charset="-122"/>
                <a:cs typeface="+mn-ea"/>
                <a:sym typeface="+mn-lt"/>
              </a:rPr>
              <a:t>纯文本邮件发送</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，具体如文件9-11所示。</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551378"/>
            <a:ext cx="2232248" cy="2232248"/>
          </a:xfrm>
          <a:prstGeom prst="rect">
            <a:avLst/>
          </a:prstGeom>
        </p:spPr>
      </p:pic>
      <p:grpSp>
        <p:nvGrpSpPr>
          <p:cNvPr id="12" name="组合 11"/>
          <p:cNvGrpSpPr/>
          <p:nvPr/>
        </p:nvGrpSpPr>
        <p:grpSpPr>
          <a:xfrm>
            <a:off x="5675998" y="366025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文件9-1</a:t>
                </a:r>
                <a:r>
                  <a:rPr lang="en-US" sz="1600" dirty="0">
                    <a:latin typeface="微软雅黑" panose="020B0503020204020204" pitchFamily="34" charset="-122"/>
                    <a:ea typeface="微软雅黑" panose="020B0503020204020204" pitchFamily="34" charset="-122"/>
                  </a:rPr>
                  <a:t>1</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Chapter09ApplicationTests.java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5.测试效果</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fontAlgn="auto" latinLnBrk="1">
              <a:lnSpc>
                <a:spcPct val="150000"/>
              </a:lnSpc>
              <a:buClrTx/>
              <a:buSzTx/>
              <a:buFontTx/>
            </a:pPr>
            <a:r>
              <a:rPr sz="1800" dirty="0">
                <a:solidFill>
                  <a:schemeClr val="accent1"/>
                </a:solidFill>
                <a:latin typeface="微软雅黑" panose="020B0503020204020204" pitchFamily="34" charset="-122"/>
                <a:ea typeface="微软雅黑" panose="020B0503020204020204" pitchFamily="34" charset="-122"/>
                <a:cs typeface="+mn-ea"/>
                <a:sym typeface="+mn-lt"/>
              </a:rPr>
              <a:t>启动</a:t>
            </a:r>
            <a:r>
              <a:rPr lang="zh-CN" sz="1800" dirty="0">
                <a:solidFill>
                  <a:srgbClr val="595959"/>
                </a:solidFill>
                <a:latin typeface="微软雅黑" panose="020B0503020204020204" pitchFamily="34" charset="-122"/>
                <a:ea typeface="微软雅黑" panose="020B0503020204020204" pitchFamily="34" charset="-122"/>
                <a:cs typeface="+mn-ea"/>
                <a:sym typeface="+mn-lt"/>
              </a:rPr>
              <a:t>文件9-11中的</a:t>
            </a:r>
            <a:r>
              <a:rPr sz="1800" dirty="0">
                <a:solidFill>
                  <a:schemeClr val="accent1"/>
                </a:solidFill>
                <a:latin typeface="微软雅黑" panose="020B0503020204020204" pitchFamily="34" charset="-122"/>
                <a:ea typeface="微软雅黑" panose="020B0503020204020204" pitchFamily="34" charset="-122"/>
                <a:cs typeface="+mn-ea"/>
                <a:sym typeface="+mn-lt"/>
              </a:rPr>
              <a:t>sendSimpleMailTest()方法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，控制台</a:t>
            </a:r>
            <a:r>
              <a:rPr sz="1800" dirty="0">
                <a:solidFill>
                  <a:schemeClr val="accent1"/>
                </a:solidFill>
                <a:latin typeface="微软雅黑" panose="020B0503020204020204" pitchFamily="34" charset="-122"/>
                <a:ea typeface="微软雅黑" panose="020B0503020204020204" pitchFamily="34" charset="-122"/>
                <a:cs typeface="+mn-ea"/>
                <a:sym typeface="+mn-lt"/>
              </a:rPr>
              <a:t>输出</a:t>
            </a:r>
            <a:r>
              <a:rPr lang="zh-CN" sz="1800" dirty="0">
                <a:solidFill>
                  <a:srgbClr val="595959"/>
                </a:solidFill>
                <a:latin typeface="微软雅黑" panose="020B0503020204020204" pitchFamily="34" charset="-122"/>
                <a:ea typeface="微软雅黑" panose="020B0503020204020204" pitchFamily="34" charset="-122"/>
                <a:cs typeface="+mn-ea"/>
                <a:sym typeface="+mn-lt"/>
              </a:rPr>
              <a:t>发送纯文本邮件的</a:t>
            </a:r>
            <a:r>
              <a:rPr sz="1800" dirty="0">
                <a:solidFill>
                  <a:schemeClr val="accent1"/>
                </a:solidFill>
                <a:latin typeface="微软雅黑" panose="020B0503020204020204" pitchFamily="34" charset="-122"/>
                <a:ea typeface="微软雅黑" panose="020B0503020204020204" pitchFamily="34" charset="-122"/>
                <a:cs typeface="+mn-ea"/>
                <a:sym typeface="+mn-lt"/>
              </a:rPr>
              <a:t>结果</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5" name="图片 -2147482596"/>
          <p:cNvPicPr>
            <a:picLocks noChangeAspect="1"/>
          </p:cNvPicPr>
          <p:nvPr>
            <p:custDataLst>
              <p:tags r:id="rId4"/>
            </p:custDataLst>
          </p:nvPr>
        </p:nvPicPr>
        <p:blipFill>
          <a:blip r:embed="rId5"/>
          <a:stretch>
            <a:fillRect/>
          </a:stretch>
        </p:blipFill>
        <p:spPr>
          <a:xfrm>
            <a:off x="2052955" y="3213418"/>
            <a:ext cx="8132400" cy="2295648"/>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321435"/>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5.测试效果</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061210"/>
            <a:ext cx="30105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登录</a:t>
            </a:r>
            <a:r>
              <a:rPr sz="1800" dirty="0">
                <a:solidFill>
                  <a:schemeClr val="accent1"/>
                </a:solidFill>
                <a:latin typeface="微软雅黑" panose="020B0503020204020204" pitchFamily="34" charset="-122"/>
                <a:ea typeface="微软雅黑" panose="020B0503020204020204" pitchFamily="34" charset="-122"/>
                <a:cs typeface="+mn-ea"/>
                <a:sym typeface="+mn-lt"/>
              </a:rPr>
              <a:t>收件人</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邮箱</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，在收件箱中查看邮件。</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5" name="图片 -2147482595"/>
          <p:cNvPicPr>
            <a:picLocks noChangeAspect="1"/>
          </p:cNvPicPr>
          <p:nvPr>
            <p:custDataLst>
              <p:tags r:id="rId4"/>
            </p:custDataLst>
          </p:nvPr>
        </p:nvPicPr>
        <p:blipFill>
          <a:blip r:embed="rId5"/>
          <a:stretch>
            <a:fillRect/>
          </a:stretch>
        </p:blipFill>
        <p:spPr>
          <a:xfrm>
            <a:off x="4150360" y="1989455"/>
            <a:ext cx="7200000" cy="4544293"/>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发送带附件和图片的邮件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发送带附件和图片的邮件</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Boot项目中实现带附件和图片邮件的发送</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发送带附件和图片的邮件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16"/>
          <p:cNvSpPr>
            <a:spLocks noChangeArrowheads="1"/>
          </p:cNvSpPr>
          <p:nvPr>
            <p:custDataLst>
              <p:tags r:id="rId1"/>
            </p:custDataLst>
          </p:nvPr>
        </p:nvSpPr>
        <p:spPr bwMode="auto">
          <a:xfrm>
            <a:off x="962660" y="1845945"/>
            <a:ext cx="10313035" cy="3323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发送纯文本邮件任务的实现相对来说比较简单，但多数时候，可能需要在</a:t>
            </a:r>
            <a:r>
              <a:rPr sz="1800" dirty="0">
                <a:solidFill>
                  <a:schemeClr val="accent1"/>
                </a:solidFill>
                <a:latin typeface="微软雅黑" panose="020B0503020204020204" pitchFamily="34" charset="-122"/>
                <a:ea typeface="微软雅黑" panose="020B0503020204020204" pitchFamily="34" charset="-122"/>
                <a:cs typeface="+mn-ea"/>
                <a:sym typeface="+mn-lt"/>
              </a:rPr>
              <a:t>发送邮件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正文</a:t>
            </a:r>
            <a:r>
              <a:rPr lang="zh-CN" sz="1800" dirty="0">
                <a:solidFill>
                  <a:srgbClr val="595959"/>
                </a:solidFill>
                <a:latin typeface="微软雅黑" panose="020B0503020204020204" pitchFamily="34" charset="-122"/>
                <a:ea typeface="微软雅黑" panose="020B0503020204020204" pitchFamily="34" charset="-122"/>
                <a:cs typeface="+mn-ea"/>
                <a:sym typeface="+mn-lt"/>
              </a:rPr>
              <a:t>内容中</a:t>
            </a:r>
            <a:r>
              <a:rPr sz="1800" dirty="0">
                <a:solidFill>
                  <a:schemeClr val="accent1"/>
                </a:solidFill>
                <a:latin typeface="微软雅黑" panose="020B0503020204020204" pitchFamily="34" charset="-122"/>
                <a:ea typeface="微软雅黑" panose="020B0503020204020204" pitchFamily="34" charset="-122"/>
                <a:cs typeface="+mn-ea"/>
                <a:sym typeface="+mn-lt"/>
              </a:rPr>
              <a:t>嵌入图片</a:t>
            </a:r>
            <a:r>
              <a:rPr lang="zh-CN" sz="1800" dirty="0">
                <a:solidFill>
                  <a:srgbClr val="595959"/>
                </a:solidFill>
                <a:latin typeface="微软雅黑" panose="020B0503020204020204" pitchFamily="34" charset="-122"/>
                <a:ea typeface="微软雅黑" panose="020B0503020204020204" pitchFamily="34" charset="-122"/>
                <a:cs typeface="+mn-ea"/>
                <a:sym typeface="+mn-lt"/>
              </a:rPr>
              <a:t>等</a:t>
            </a:r>
            <a:r>
              <a:rPr sz="1800" dirty="0">
                <a:solidFill>
                  <a:schemeClr val="accent1"/>
                </a:solidFill>
                <a:latin typeface="微软雅黑" panose="020B0503020204020204" pitchFamily="34" charset="-122"/>
                <a:ea typeface="微软雅黑" panose="020B0503020204020204" pitchFamily="34" charset="-122"/>
                <a:cs typeface="+mn-ea"/>
                <a:sym typeface="+mn-lt"/>
              </a:rPr>
              <a:t>静态资源</a:t>
            </a:r>
            <a:r>
              <a:rPr lang="zh-CN" sz="1800" dirty="0">
                <a:solidFill>
                  <a:srgbClr val="595959"/>
                </a:solidFill>
                <a:latin typeface="微软雅黑" panose="020B0503020204020204" pitchFamily="34" charset="-122"/>
                <a:ea typeface="微软雅黑" panose="020B0503020204020204" pitchFamily="34" charset="-122"/>
                <a:cs typeface="+mn-ea"/>
                <a:sym typeface="+mn-lt"/>
              </a:rPr>
              <a:t>，或者在发送邮件的时候需要</a:t>
            </a:r>
            <a:r>
              <a:rPr sz="1800" dirty="0">
                <a:solidFill>
                  <a:schemeClr val="accent1"/>
                </a:solidFill>
                <a:latin typeface="微软雅黑" panose="020B0503020204020204" pitchFamily="34" charset="-122"/>
                <a:ea typeface="微软雅黑" panose="020B0503020204020204" pitchFamily="34" charset="-122"/>
                <a:cs typeface="+mn-ea"/>
                <a:sym typeface="+mn-lt"/>
              </a:rPr>
              <a:t>携带附件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，对上述需求，使用SimpleMailMessage对象封装邮件信息已经满足不了对应的需求，可以使用</a:t>
            </a:r>
            <a:r>
              <a:rPr sz="1800" dirty="0">
                <a:solidFill>
                  <a:schemeClr val="accent1"/>
                </a:solidFill>
                <a:latin typeface="微软雅黑" panose="020B0503020204020204" pitchFamily="34" charset="-122"/>
                <a:ea typeface="微软雅黑" panose="020B0503020204020204" pitchFamily="34" charset="-122"/>
                <a:cs typeface="+mn-ea"/>
                <a:sym typeface="+mn-lt"/>
              </a:rPr>
              <a:t>JavaMailSenderImpl</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JavaMailSenderImpl除了可以发送SimpleMailMessage类型的邮件信息外，还可以</a:t>
            </a:r>
            <a:r>
              <a:rPr sz="1800" dirty="0">
                <a:solidFill>
                  <a:schemeClr val="accent1"/>
                </a:solidFill>
                <a:latin typeface="微软雅黑" panose="020B0503020204020204" pitchFamily="34" charset="-122"/>
                <a:ea typeface="微软雅黑" panose="020B0503020204020204" pitchFamily="34" charset="-122"/>
                <a:cs typeface="+mn-ea"/>
                <a:sym typeface="+mn-lt"/>
              </a:rPr>
              <a:t>发送MimeMessage类型的信息</a:t>
            </a:r>
            <a:r>
              <a:rPr lang="zh-CN" sz="1800" dirty="0">
                <a:solidFill>
                  <a:srgbClr val="595959"/>
                </a:solidFill>
                <a:latin typeface="微软雅黑" panose="020B0503020204020204" pitchFamily="34" charset="-122"/>
                <a:ea typeface="微软雅黑" panose="020B0503020204020204" pitchFamily="34" charset="-122"/>
                <a:cs typeface="+mn-ea"/>
                <a:sym typeface="+mn-lt"/>
              </a:rPr>
              <a:t>，MimeMessage是指是MIME(Multipurpose Internet Mail Extensions，多用途互联网邮件扩展)类型的邮件信息，是描述</a:t>
            </a:r>
            <a:r>
              <a:rPr sz="1800" dirty="0">
                <a:solidFill>
                  <a:schemeClr val="accent1"/>
                </a:solidFill>
                <a:latin typeface="微软雅黑" panose="020B0503020204020204" pitchFamily="34" charset="-122"/>
                <a:ea typeface="微软雅黑" panose="020B0503020204020204" pitchFamily="34" charset="-122"/>
                <a:cs typeface="+mn-ea"/>
                <a:sym typeface="+mn-lt"/>
              </a:rPr>
              <a:t>消息内容类型</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的因特网</a:t>
            </a:r>
            <a:r>
              <a:rPr sz="1800" dirty="0">
                <a:solidFill>
                  <a:schemeClr val="accent1"/>
                </a:solidFill>
                <a:latin typeface="微软雅黑" panose="020B0503020204020204" pitchFamily="34" charset="-122"/>
                <a:ea typeface="微软雅黑" panose="020B0503020204020204" pitchFamily="34" charset="-122"/>
                <a:cs typeface="+mn-ea"/>
                <a:sym typeface="+mn-lt"/>
              </a:rPr>
              <a:t>标准</a:t>
            </a:r>
            <a:r>
              <a:rPr lang="zh-CN" sz="1800" dirty="0">
                <a:solidFill>
                  <a:srgbClr val="595959"/>
                </a:solidFill>
                <a:latin typeface="微软雅黑" panose="020B0503020204020204" pitchFamily="34" charset="-122"/>
                <a:ea typeface="微软雅黑" panose="020B0503020204020204" pitchFamily="34" charset="-122"/>
                <a:cs typeface="+mn-ea"/>
                <a:sym typeface="+mn-lt"/>
              </a:rPr>
              <a:t>，能包含</a:t>
            </a:r>
            <a:r>
              <a:rPr sz="1800" dirty="0">
                <a:solidFill>
                  <a:schemeClr val="accent1"/>
                </a:solidFill>
                <a:latin typeface="微软雅黑" panose="020B0503020204020204" pitchFamily="34" charset="-122"/>
                <a:ea typeface="微软雅黑" panose="020B0503020204020204" pitchFamily="34" charset="-122"/>
                <a:cs typeface="+mn-ea"/>
                <a:sym typeface="+mn-lt"/>
              </a:rPr>
              <a:t>文本</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图像</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音频</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r>
              <a:rPr sz="1800" dirty="0">
                <a:solidFill>
                  <a:schemeClr val="accent1"/>
                </a:solidFill>
                <a:latin typeface="微软雅黑" panose="020B0503020204020204" pitchFamily="34" charset="-122"/>
                <a:ea typeface="微软雅黑" panose="020B0503020204020204" pitchFamily="34" charset="-122"/>
                <a:cs typeface="+mn-ea"/>
                <a:sym typeface="+mn-lt"/>
              </a:rPr>
              <a:t>视频</a:t>
            </a:r>
            <a:r>
              <a:rPr lang="zh-CN" sz="1800" dirty="0">
                <a:solidFill>
                  <a:srgbClr val="595959"/>
                </a:solidFill>
                <a:latin typeface="微软雅黑" panose="020B0503020204020204" pitchFamily="34" charset="-122"/>
                <a:ea typeface="微软雅黑" panose="020B0503020204020204" pitchFamily="34" charset="-122"/>
                <a:cs typeface="+mn-ea"/>
                <a:sym typeface="+mn-lt"/>
              </a:rPr>
              <a:t>以及其他应用程序专用的</a:t>
            </a:r>
            <a:r>
              <a:rPr sz="1800" dirty="0">
                <a:solidFill>
                  <a:schemeClr val="accent1"/>
                </a:solidFill>
                <a:latin typeface="微软雅黑" panose="020B0503020204020204" pitchFamily="34" charset="-122"/>
                <a:ea typeface="微软雅黑" panose="020B0503020204020204" pitchFamily="34" charset="-122"/>
                <a:cs typeface="+mn-ea"/>
                <a:sym typeface="+mn-lt"/>
              </a:rPr>
              <a:t>数据</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a:p>
            <a:pPr algn="just">
              <a:lnSpc>
                <a:spcPct val="150000"/>
              </a:lnSpc>
            </a:pP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239776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1.定义复杂邮件发送方法</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299402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在文件9-10的SendEmailService类中定义</a:t>
            </a:r>
            <a:r>
              <a:rPr sz="1800" dirty="0">
                <a:solidFill>
                  <a:schemeClr val="accent1"/>
                </a:solidFill>
                <a:latin typeface="微软雅黑" panose="020B0503020204020204" pitchFamily="34" charset="-122"/>
                <a:ea typeface="微软雅黑" panose="020B0503020204020204" pitchFamily="34" charset="-122"/>
                <a:cs typeface="+mn-ea"/>
                <a:sym typeface="+mn-lt"/>
              </a:rPr>
              <a:t>发送复杂邮件的方法sendComplexEmail()</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，在该方法中通过</a:t>
            </a:r>
            <a:r>
              <a:rPr sz="1800" dirty="0">
                <a:solidFill>
                  <a:schemeClr val="accent1"/>
                </a:solidFill>
                <a:latin typeface="微软雅黑" panose="020B0503020204020204" pitchFamily="34" charset="-122"/>
                <a:ea typeface="微软雅黑" panose="020B0503020204020204" pitchFamily="34" charset="-122"/>
                <a:cs typeface="+mn-ea"/>
                <a:sym typeface="+mn-lt"/>
              </a:rPr>
              <a:t>MimeMessageHelper构建MimeMessage</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对象</a:t>
            </a:r>
            <a:r>
              <a:rPr sz="1800" dirty="0">
                <a:solidFill>
                  <a:schemeClr val="accent1"/>
                </a:solidFill>
                <a:latin typeface="微软雅黑" panose="020B0503020204020204" pitchFamily="34" charset="-122"/>
                <a:ea typeface="微软雅黑" panose="020B0503020204020204" pitchFamily="34" charset="-122"/>
                <a:cs typeface="+mn-ea"/>
                <a:sym typeface="+mn-lt"/>
              </a:rPr>
              <a:t>中的内容</a:t>
            </a:r>
            <a:r>
              <a:rPr lang="zh-CN" sz="1800" dirty="0">
                <a:solidFill>
                  <a:srgbClr val="595959"/>
                </a:solidFill>
                <a:latin typeface="微软雅黑" panose="020B0503020204020204" pitchFamily="34" charset="-122"/>
                <a:ea typeface="微软雅黑" panose="020B0503020204020204" pitchFamily="34" charset="-122"/>
                <a:cs typeface="+mn-ea"/>
                <a:sym typeface="+mn-lt"/>
              </a:rPr>
              <a:t>，实现发送正文内容包含图片并添加了附件的邮件。</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4125418"/>
            <a:ext cx="2232248" cy="2232248"/>
          </a:xfrm>
          <a:prstGeom prst="rect">
            <a:avLst/>
          </a:prstGeom>
        </p:spPr>
      </p:pic>
      <p:grpSp>
        <p:nvGrpSpPr>
          <p:cNvPr id="12" name="组合 11"/>
          <p:cNvGrpSpPr/>
          <p:nvPr/>
        </p:nvGrpSpPr>
        <p:grpSpPr>
          <a:xfrm>
            <a:off x="5675998" y="423429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zh-CN" sz="1600" dirty="0">
                    <a:solidFill>
                      <a:srgbClr val="595959"/>
                    </a:solidFill>
                    <a:latin typeface="微软雅黑" panose="020B0503020204020204" pitchFamily="34" charset="-122"/>
                    <a:ea typeface="微软雅黑" panose="020B0503020204020204" pitchFamily="34" charset="-122"/>
                    <a:sym typeface="+mn-lt"/>
                    <a:hlinkClick r:id="rId7"/>
                  </a:rPr>
                  <a:t>SendEmailService</a:t>
                </a:r>
                <a:r>
                  <a:rPr sz="1600" dirty="0">
                    <a:latin typeface="微软雅黑" panose="020B0503020204020204" pitchFamily="34" charset="-122"/>
                    <a:ea typeface="微软雅黑" panose="020B0503020204020204" pitchFamily="34" charset="-122"/>
                    <a:hlinkClick r:id="rId7"/>
                  </a:rPr>
                  <a:t>.java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5" name="TextBox 16"/>
          <p:cNvSpPr>
            <a:spLocks noChangeArrowheads="1"/>
          </p:cNvSpPr>
          <p:nvPr>
            <p:custDataLst>
              <p:tags r:id="rId13"/>
            </p:custDataLst>
          </p:nvPr>
        </p:nvSpPr>
        <p:spPr bwMode="auto">
          <a:xfrm>
            <a:off x="946150" y="96837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为了更好地屏蔽发送邮件的细节，Spring提供了</a:t>
            </a:r>
            <a:r>
              <a:rPr sz="1800" dirty="0">
                <a:solidFill>
                  <a:schemeClr val="accent1"/>
                </a:solidFill>
                <a:latin typeface="微软雅黑" panose="020B0503020204020204" pitchFamily="34" charset="-122"/>
                <a:ea typeface="微软雅黑" panose="020B0503020204020204" pitchFamily="34" charset="-122"/>
                <a:cs typeface="+mn-ea"/>
                <a:sym typeface="+mn-lt"/>
              </a:rPr>
              <a:t>MimeMessageHelper类</a:t>
            </a:r>
            <a:r>
              <a:rPr lang="zh-CN" sz="1800" dirty="0">
                <a:solidFill>
                  <a:srgbClr val="595959"/>
                </a:solidFill>
                <a:latin typeface="微软雅黑" panose="020B0503020204020204" pitchFamily="34" charset="-122"/>
                <a:ea typeface="微软雅黑" panose="020B0503020204020204" pitchFamily="34" charset="-122"/>
                <a:cs typeface="+mn-ea"/>
                <a:sym typeface="+mn-lt"/>
              </a:rPr>
              <a:t>，MimeMessageHelper类可以帮助</a:t>
            </a:r>
            <a:r>
              <a:rPr sz="1800" dirty="0">
                <a:solidFill>
                  <a:schemeClr val="accent1"/>
                </a:solidFill>
                <a:latin typeface="微软雅黑" panose="020B0503020204020204" pitchFamily="34" charset="-122"/>
                <a:ea typeface="微软雅黑" panose="020B0503020204020204" pitchFamily="34" charset="-122"/>
                <a:cs typeface="+mn-ea"/>
                <a:sym typeface="+mn-lt"/>
              </a:rPr>
              <a:t>构建MimeMessage</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对象</a:t>
            </a:r>
            <a:r>
              <a:rPr sz="1800" dirty="0">
                <a:solidFill>
                  <a:schemeClr val="accent1"/>
                </a:solidFill>
                <a:latin typeface="微软雅黑" panose="020B0503020204020204" pitchFamily="34" charset="-122"/>
                <a:ea typeface="微软雅黑" panose="020B0503020204020204" pitchFamily="34" charset="-122"/>
                <a:cs typeface="+mn-ea"/>
                <a:sym typeface="+mn-lt"/>
              </a:rPr>
              <a:t>中的内容</a:t>
            </a:r>
            <a:r>
              <a:rPr lang="zh-CN" sz="1800" dirty="0">
                <a:solidFill>
                  <a:srgbClr val="595959"/>
                </a:solidFill>
                <a:latin typeface="微软雅黑" panose="020B0503020204020204" pitchFamily="34" charset="-122"/>
                <a:ea typeface="微软雅黑" panose="020B0503020204020204" pitchFamily="34" charset="-122"/>
                <a:cs typeface="+mn-ea"/>
                <a:sym typeface="+mn-lt"/>
              </a:rPr>
              <a:t>。下面通过发送MimeMessage类型的消息，在Spring Boot项目中实现</a:t>
            </a:r>
            <a:r>
              <a:rPr sz="1800" dirty="0">
                <a:solidFill>
                  <a:schemeClr val="accent1"/>
                </a:solidFill>
                <a:latin typeface="微软雅黑" panose="020B0503020204020204" pitchFamily="34" charset="-122"/>
                <a:ea typeface="微软雅黑" panose="020B0503020204020204" pitchFamily="34" charset="-122"/>
                <a:cs typeface="+mn-ea"/>
                <a:sym typeface="+mn-lt"/>
              </a:rPr>
              <a:t>包含静态资源和附件的复杂邮件的发送</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2.定义测试方法</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84594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在文件9-11的测试类</a:t>
            </a:r>
            <a:r>
              <a:rPr sz="1800" dirty="0">
                <a:solidFill>
                  <a:schemeClr val="accent1"/>
                </a:solidFill>
                <a:latin typeface="微软雅黑" panose="020B0503020204020204" pitchFamily="34" charset="-122"/>
                <a:ea typeface="微软雅黑" panose="020B0503020204020204" pitchFamily="34" charset="-122"/>
                <a:cs typeface="+mn-ea"/>
                <a:sym typeface="+mn-lt"/>
              </a:rPr>
              <a:t>Chapter09ApplicationTests</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a:t>
            </a:r>
            <a:r>
              <a:rPr sz="1800" dirty="0">
                <a:solidFill>
                  <a:schemeClr val="accent1"/>
                </a:solidFill>
                <a:latin typeface="微软雅黑" panose="020B0503020204020204" pitchFamily="34" charset="-122"/>
                <a:ea typeface="微软雅黑" panose="020B0503020204020204" pitchFamily="34" charset="-122"/>
                <a:cs typeface="+mn-ea"/>
                <a:sym typeface="+mn-lt"/>
              </a:rPr>
              <a:t>新增测试复杂邮件发送的方法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2977338"/>
            <a:ext cx="2232248" cy="2232248"/>
          </a:xfrm>
          <a:prstGeom prst="rect">
            <a:avLst/>
          </a:prstGeom>
        </p:spPr>
      </p:pic>
      <p:grpSp>
        <p:nvGrpSpPr>
          <p:cNvPr id="12" name="组合 11"/>
          <p:cNvGrpSpPr/>
          <p:nvPr/>
        </p:nvGrpSpPr>
        <p:grpSpPr>
          <a:xfrm>
            <a:off x="5675998" y="3086212"/>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hlinkClick r:id="rId7"/>
                  </a:rPr>
                  <a:t>Chapter09ApplicationTests.java</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3.测试效果</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3" name="TextBox 16"/>
          <p:cNvSpPr>
            <a:spLocks noChangeArrowheads="1"/>
          </p:cNvSpPr>
          <p:nvPr>
            <p:custDataLst>
              <p:tags r:id="rId3"/>
            </p:custDataLst>
          </p:nvPr>
        </p:nvSpPr>
        <p:spPr bwMode="auto">
          <a:xfrm>
            <a:off x="962660" y="198945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启动文件9-11中的sendComplexEmailTest()方法，控制台输出发送复杂邮件的结果。</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5" name="图片 -2147482591"/>
          <p:cNvPicPr>
            <a:picLocks noChangeAspect="1"/>
          </p:cNvPicPr>
          <p:nvPr>
            <p:custDataLst>
              <p:tags r:id="rId4"/>
            </p:custDataLst>
          </p:nvPr>
        </p:nvPicPr>
        <p:blipFill>
          <a:blip r:embed="rId5"/>
          <a:stretch>
            <a:fillRect/>
          </a:stretch>
        </p:blipFill>
        <p:spPr>
          <a:xfrm>
            <a:off x="1662748" y="3141028"/>
            <a:ext cx="8863200" cy="2356934"/>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发送纯文本邮件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1077595" y="1249680"/>
            <a:ext cx="2901315" cy="476885"/>
            <a:chOff x="898650" y="1797999"/>
            <a:chExt cx="6412683" cy="476885"/>
          </a:xfrm>
        </p:grpSpPr>
        <p:sp>
          <p:nvSpPr>
            <p:cNvPr id="4" name="矩形: 圆角 6"/>
            <p:cNvSpPr/>
            <p:nvPr>
              <p:custDataLst>
                <p:tags r:id="rId1"/>
              </p:custDataLst>
            </p:nvPr>
          </p:nvSpPr>
          <p:spPr>
            <a:xfrm>
              <a:off x="980054" y="1813239"/>
              <a:ext cx="6331279"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6400052"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3.测试效果</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6" name="TextBox 16"/>
          <p:cNvSpPr>
            <a:spLocks noChangeArrowheads="1"/>
          </p:cNvSpPr>
          <p:nvPr>
            <p:custDataLst>
              <p:tags r:id="rId3"/>
            </p:custDataLst>
          </p:nvPr>
        </p:nvSpPr>
        <p:spPr bwMode="auto">
          <a:xfrm>
            <a:off x="962660" y="2061210"/>
            <a:ext cx="30105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登录</a:t>
            </a:r>
            <a:r>
              <a:rPr sz="1800" dirty="0">
                <a:solidFill>
                  <a:schemeClr val="accent1"/>
                </a:solidFill>
                <a:latin typeface="微软雅黑" panose="020B0503020204020204" pitchFamily="34" charset="-122"/>
                <a:ea typeface="微软雅黑" panose="020B0503020204020204" pitchFamily="34" charset="-122"/>
                <a:cs typeface="+mn-ea"/>
                <a:sym typeface="+mn-lt"/>
              </a:rPr>
              <a:t>收件人</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邮箱</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，在收件箱中查看邮件。</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3" name="图片 -2147482593"/>
          <p:cNvPicPr>
            <a:picLocks noChangeAspect="1"/>
          </p:cNvPicPr>
          <p:nvPr>
            <p:custDataLst>
              <p:tags r:id="rId4"/>
            </p:custDataLst>
          </p:nvPr>
        </p:nvPicPr>
        <p:blipFill>
          <a:blip r:embed="rId5"/>
          <a:stretch>
            <a:fillRect/>
          </a:stretch>
        </p:blipFill>
        <p:spPr>
          <a:xfrm>
            <a:off x="4726623" y="1726565"/>
            <a:ext cx="6112510" cy="494538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rPr>
              <a:t>掌握</a:t>
            </a:r>
            <a:r>
              <a:rPr lang="zh-CN" altLang="en-US" dirty="0" smtClean="0">
                <a:solidFill>
                  <a:srgbClr val="1369B2"/>
                </a:solidFill>
                <a:latin typeface="微软雅黑" panose="020B0503020204020204" pitchFamily="34" charset="-122"/>
                <a:ea typeface="微软雅黑" panose="020B0503020204020204" pitchFamily="34" charset="-122"/>
              </a:rPr>
              <a:t>发送模板邮件</a:t>
            </a:r>
            <a:r>
              <a:rPr lang="zh-CN" altLang="en-US" dirty="0" smtClean="0">
                <a:solidFill>
                  <a:srgbClr val="595959"/>
                </a:solidFill>
                <a:latin typeface="微软雅黑" panose="020B0503020204020204" pitchFamily="34" charset="-122"/>
                <a:ea typeface="微软雅黑" panose="020B0503020204020204" pitchFamily="34" charset="-122"/>
              </a:rPr>
              <a:t>，能够在Spring Boot项目中实现模板邮件的发送</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16"/>
          <p:cNvSpPr>
            <a:spLocks noChangeArrowheads="1"/>
          </p:cNvSpPr>
          <p:nvPr>
            <p:custDataLst>
              <p:tags r:id="rId1"/>
            </p:custDataLst>
          </p:nvPr>
        </p:nvSpPr>
        <p:spPr bwMode="auto">
          <a:xfrm>
            <a:off x="962660" y="2276475"/>
            <a:ext cx="10313035" cy="207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lnSpc>
                <a:spcPct val="150000"/>
              </a:lnSpc>
            </a:pPr>
            <a:r>
              <a:rPr lang="zh-CN" sz="1800" dirty="0">
                <a:solidFill>
                  <a:srgbClr val="595959"/>
                </a:solidFill>
                <a:latin typeface="微软雅黑" panose="020B0503020204020204" pitchFamily="34" charset="-122"/>
                <a:ea typeface="微软雅黑" panose="020B0503020204020204" pitchFamily="34" charset="-122"/>
                <a:cs typeface="+mn-ea"/>
                <a:sym typeface="+mn-lt"/>
              </a:rPr>
              <a:t>前面两个案例中，分别对</a:t>
            </a:r>
            <a:r>
              <a:rPr sz="1800" dirty="0">
                <a:solidFill>
                  <a:schemeClr val="accent1"/>
                </a:solidFill>
                <a:latin typeface="微软雅黑" panose="020B0503020204020204" pitchFamily="34" charset="-122"/>
                <a:ea typeface="微软雅黑" panose="020B0503020204020204" pitchFamily="34" charset="-122"/>
                <a:cs typeface="+mn-ea"/>
                <a:sym typeface="+mn-lt"/>
              </a:rPr>
              <a:t>纯文本邮件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和</a:t>
            </a:r>
            <a:r>
              <a:rPr sz="1800" dirty="0">
                <a:solidFill>
                  <a:schemeClr val="accent1"/>
                </a:solidFill>
                <a:latin typeface="微软雅黑" panose="020B0503020204020204" pitchFamily="34" charset="-122"/>
                <a:ea typeface="微软雅黑" panose="020B0503020204020204" pitchFamily="34" charset="-122"/>
                <a:cs typeface="+mn-ea"/>
                <a:sym typeface="+mn-lt"/>
              </a:rPr>
              <a:t>带附件及图片的复杂邮件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lang="zh-CN" sz="1800" dirty="0">
                <a:solidFill>
                  <a:srgbClr val="595959"/>
                </a:solidFill>
                <a:latin typeface="微软雅黑" panose="020B0503020204020204" pitchFamily="34" charset="-122"/>
                <a:ea typeface="微软雅黑" panose="020B0503020204020204" pitchFamily="34" charset="-122"/>
                <a:cs typeface="+mn-ea"/>
                <a:sym typeface="+mn-lt"/>
              </a:rPr>
              <a:t>使用进行了讲解和实现，掌握这两种邮件发送可以完成开发中</a:t>
            </a:r>
            <a:r>
              <a:rPr sz="1800" dirty="0">
                <a:solidFill>
                  <a:schemeClr val="accent1"/>
                </a:solidFill>
                <a:latin typeface="微软雅黑" panose="020B0503020204020204" pitchFamily="34" charset="-122"/>
                <a:ea typeface="微软雅黑" panose="020B0503020204020204" pitchFamily="34" charset="-122"/>
                <a:cs typeface="+mn-ea"/>
                <a:sym typeface="+mn-lt"/>
              </a:rPr>
              <a:t>大部分的邮件发送任务</a:t>
            </a:r>
            <a:r>
              <a:rPr lang="zh-CN" sz="1800" dirty="0">
                <a:solidFill>
                  <a:srgbClr val="595959"/>
                </a:solidFill>
                <a:latin typeface="微软雅黑" panose="020B0503020204020204" pitchFamily="34" charset="-122"/>
                <a:ea typeface="微软雅黑" panose="020B0503020204020204" pitchFamily="34" charset="-122"/>
                <a:cs typeface="+mn-ea"/>
                <a:sym typeface="+mn-lt"/>
              </a:rPr>
              <a:t>。但是这两种邮件的实现必须每次都手动定制邮件内容，这在一些</a:t>
            </a:r>
            <a:r>
              <a:rPr sz="1800" dirty="0">
                <a:solidFill>
                  <a:schemeClr val="accent1"/>
                </a:solidFill>
                <a:latin typeface="微软雅黑" panose="020B0503020204020204" pitchFamily="34" charset="-122"/>
                <a:ea typeface="微软雅黑" panose="020B0503020204020204" pitchFamily="34" charset="-122"/>
                <a:cs typeface="+mn-ea"/>
                <a:sym typeface="+mn-lt"/>
              </a:rPr>
              <a:t>特定邮件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发送任务中是相当麻烦的，例如用户注册验证邮件等，这些邮件的</a:t>
            </a:r>
            <a:r>
              <a:rPr sz="1800" dirty="0">
                <a:solidFill>
                  <a:schemeClr val="accent1"/>
                </a:solidFill>
                <a:latin typeface="微软雅黑" panose="020B0503020204020204" pitchFamily="34" charset="-122"/>
                <a:ea typeface="微软雅黑" panose="020B0503020204020204" pitchFamily="34" charset="-122"/>
                <a:cs typeface="+mn-ea"/>
                <a:sym typeface="+mn-lt"/>
              </a:rPr>
              <a:t>主体内容</a:t>
            </a:r>
            <a:r>
              <a:rPr lang="zh-CN" sz="1800" dirty="0">
                <a:solidFill>
                  <a:srgbClr val="595959"/>
                </a:solidFill>
                <a:latin typeface="微软雅黑" panose="020B0503020204020204" pitchFamily="34" charset="-122"/>
                <a:ea typeface="微软雅黑" panose="020B0503020204020204" pitchFamily="34" charset="-122"/>
                <a:cs typeface="+mn-ea"/>
                <a:sym typeface="+mn-lt"/>
              </a:rPr>
              <a:t>基</a:t>
            </a:r>
            <a:r>
              <a:rPr sz="1800" dirty="0">
                <a:solidFill>
                  <a:schemeClr val="accent1"/>
                </a:solidFill>
                <a:latin typeface="微软雅黑" panose="020B0503020204020204" pitchFamily="34" charset="-122"/>
                <a:ea typeface="微软雅黑" panose="020B0503020204020204" pitchFamily="34" charset="-122"/>
                <a:cs typeface="+mn-ea"/>
                <a:sym typeface="+mn-lt"/>
              </a:rPr>
              <a:t>本一样</a:t>
            </a:r>
            <a:r>
              <a:rPr lang="zh-CN" sz="1800" dirty="0">
                <a:solidFill>
                  <a:srgbClr val="595959"/>
                </a:solidFill>
                <a:latin typeface="微软雅黑" panose="020B0503020204020204" pitchFamily="34" charset="-122"/>
                <a:ea typeface="微软雅黑" panose="020B0503020204020204" pitchFamily="34" charset="-122"/>
                <a:cs typeface="+mn-ea"/>
                <a:sym typeface="+mn-lt"/>
              </a:rPr>
              <a:t>，主要是一些用户名、验证码、激活码等有所</a:t>
            </a:r>
            <a:r>
              <a:rPr sz="1800" dirty="0">
                <a:solidFill>
                  <a:schemeClr val="accent1"/>
                </a:solidFill>
                <a:latin typeface="微软雅黑" panose="020B0503020204020204" pitchFamily="34" charset="-122"/>
                <a:ea typeface="微软雅黑" panose="020B0503020204020204" pitchFamily="34" charset="-122"/>
                <a:cs typeface="+mn-ea"/>
                <a:sym typeface="+mn-lt"/>
              </a:rPr>
              <a:t>不同</a:t>
            </a:r>
            <a:r>
              <a:rPr lang="zh-CN" sz="1800" dirty="0">
                <a:solidFill>
                  <a:srgbClr val="595959"/>
                </a:solidFill>
                <a:latin typeface="微软雅黑" panose="020B0503020204020204" pitchFamily="34" charset="-122"/>
                <a:ea typeface="微软雅黑" panose="020B0503020204020204" pitchFamily="34" charset="-122"/>
                <a:cs typeface="+mn-ea"/>
                <a:sym typeface="+mn-lt"/>
              </a:rPr>
              <a:t>，所以，对类似这种需求，可以定制一些</a:t>
            </a:r>
            <a:r>
              <a:rPr sz="1800" dirty="0">
                <a:solidFill>
                  <a:schemeClr val="accent1"/>
                </a:solidFill>
                <a:latin typeface="微软雅黑" panose="020B0503020204020204" pitchFamily="34" charset="-122"/>
                <a:ea typeface="微软雅黑" panose="020B0503020204020204" pitchFamily="34" charset="-122"/>
                <a:cs typeface="+mn-ea"/>
                <a:sym typeface="+mn-lt"/>
              </a:rPr>
              <a:t>通用邮件模板</a:t>
            </a:r>
            <a:r>
              <a:rPr lang="zh-CN" sz="1800" dirty="0">
                <a:solidFill>
                  <a:srgbClr val="595959"/>
                </a:solidFill>
                <a:latin typeface="微软雅黑" panose="020B0503020204020204" pitchFamily="34" charset="-122"/>
                <a:ea typeface="微软雅黑" panose="020B0503020204020204" pitchFamily="34" charset="-122"/>
                <a:cs typeface="+mn-ea"/>
                <a:sym typeface="+mn-lt"/>
              </a:rPr>
              <a:t>进行邮件发送。下面在Spring Boot项目中</a:t>
            </a:r>
            <a:r>
              <a:rPr sz="1800" dirty="0">
                <a:solidFill>
                  <a:schemeClr val="accent1"/>
                </a:solidFill>
                <a:latin typeface="微软雅黑" panose="020B0503020204020204" pitchFamily="34" charset="-122"/>
                <a:ea typeface="微软雅黑" panose="020B0503020204020204" pitchFamily="34" charset="-122"/>
                <a:cs typeface="+mn-ea"/>
                <a:sym typeface="+mn-lt"/>
              </a:rPr>
              <a:t>实现</a:t>
            </a:r>
            <a:r>
              <a:rPr lang="zh-CN" sz="1800" dirty="0">
                <a:solidFill>
                  <a:srgbClr val="595959"/>
                </a:solidFill>
                <a:latin typeface="微软雅黑" panose="020B0503020204020204" pitchFamily="34" charset="-122"/>
                <a:ea typeface="微软雅黑" panose="020B0503020204020204" pitchFamily="34" charset="-122"/>
                <a:cs typeface="+mn-ea"/>
                <a:sym typeface="+mn-lt"/>
              </a:rPr>
              <a:t>这种</a:t>
            </a:r>
            <a:r>
              <a:rPr sz="1800" dirty="0">
                <a:solidFill>
                  <a:schemeClr val="accent1"/>
                </a:solidFill>
                <a:latin typeface="微软雅黑" panose="020B0503020204020204" pitchFamily="34" charset="-122"/>
                <a:ea typeface="微软雅黑" panose="020B0503020204020204" pitchFamily="34" charset="-122"/>
                <a:cs typeface="+mn-ea"/>
                <a:sym typeface="+mn-lt"/>
              </a:rPr>
              <a:t>模板邮件的发送</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1077595" y="1177925"/>
            <a:ext cx="3612515" cy="476885"/>
            <a:chOff x="898650" y="1797999"/>
            <a:chExt cx="7984625" cy="476885"/>
          </a:xfrm>
        </p:grpSpPr>
        <p:sp>
          <p:nvSpPr>
            <p:cNvPr id="4" name="矩形: 圆角 6"/>
            <p:cNvSpPr/>
            <p:nvPr>
              <p:custDataLst>
                <p:tags r:id="rId1"/>
              </p:custDataLst>
            </p:nvPr>
          </p:nvSpPr>
          <p:spPr>
            <a:xfrm>
              <a:off x="980054" y="1813239"/>
              <a:ext cx="7630938"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798462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1.添加Thymeleaf模板引擎依赖</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5" name="TextBox 16"/>
          <p:cNvSpPr>
            <a:spLocks noChangeArrowheads="1"/>
          </p:cNvSpPr>
          <p:nvPr>
            <p:custDataLst>
              <p:tags r:id="rId3"/>
            </p:custDataLst>
          </p:nvPr>
        </p:nvSpPr>
        <p:spPr bwMode="auto">
          <a:xfrm>
            <a:off x="962660" y="1845945"/>
            <a:ext cx="10313035" cy="12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使用定制邮件模板的方式实现通用邮件的发送，少不了前端模板页面的支持，这里选择使用</a:t>
            </a:r>
            <a:r>
              <a:rPr sz="1800" dirty="0">
                <a:solidFill>
                  <a:schemeClr val="accent1"/>
                </a:solidFill>
                <a:latin typeface="微软雅黑" panose="020B0503020204020204" pitchFamily="34" charset="-122"/>
                <a:ea typeface="微软雅黑" panose="020B0503020204020204" pitchFamily="34" charset="-122"/>
                <a:cs typeface="+mn-ea"/>
                <a:sym typeface="+mn-lt"/>
              </a:rPr>
              <a:t>Thymeleaf模板引擎定制模板邮件内容</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。在项目chapter09的</a:t>
            </a:r>
            <a:r>
              <a:rPr sz="1800" dirty="0">
                <a:solidFill>
                  <a:schemeClr val="accent1"/>
                </a:solidFill>
                <a:latin typeface="微软雅黑" panose="020B0503020204020204" pitchFamily="34" charset="-122"/>
                <a:ea typeface="微软雅黑" panose="020B0503020204020204" pitchFamily="34" charset="-122"/>
                <a:cs typeface="+mn-ea"/>
                <a:sym typeface="+mn-lt"/>
              </a:rPr>
              <a:t>pom.xml</a:t>
            </a:r>
            <a:r>
              <a:rPr lang="zh-CN" sz="1800" dirty="0">
                <a:solidFill>
                  <a:srgbClr val="595959"/>
                </a:solidFill>
                <a:latin typeface="微软雅黑" panose="020B0503020204020204" pitchFamily="34" charset="-122"/>
                <a:ea typeface="微软雅黑" panose="020B0503020204020204" pitchFamily="34" charset="-122"/>
                <a:cs typeface="+mn-ea"/>
                <a:sym typeface="+mn-lt"/>
              </a:rPr>
              <a:t>文件中添加Spring Boot整合</a:t>
            </a:r>
            <a:r>
              <a:rPr sz="1800" dirty="0">
                <a:solidFill>
                  <a:schemeClr val="accent1"/>
                </a:solidFill>
                <a:latin typeface="微软雅黑" panose="020B0503020204020204" pitchFamily="34" charset="-122"/>
                <a:ea typeface="微软雅黑" panose="020B0503020204020204" pitchFamily="34" charset="-122"/>
                <a:cs typeface="+mn-ea"/>
                <a:sym typeface="+mn-lt"/>
              </a:rPr>
              <a:t>Thymeleaf模板引擎的依赖启动器</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23133"/>
            <a:ext cx="2232248" cy="2232248"/>
          </a:xfrm>
          <a:prstGeom prst="rect">
            <a:avLst/>
          </a:prstGeom>
        </p:spPr>
      </p:pic>
      <p:grpSp>
        <p:nvGrpSpPr>
          <p:cNvPr id="12" name="组合 11"/>
          <p:cNvGrpSpPr/>
          <p:nvPr/>
        </p:nvGrpSpPr>
        <p:grpSpPr>
          <a:xfrm>
            <a:off x="5675998" y="373200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sym typeface="+mn-lt"/>
                    <a:hlinkClick r:id="rId7"/>
                  </a:rPr>
                  <a:t>pom</a:t>
                </a:r>
                <a:r>
                  <a:rPr sz="1600" dirty="0">
                    <a:latin typeface="微软雅黑" panose="020B0503020204020204" pitchFamily="34" charset="-122"/>
                    <a:ea typeface="微软雅黑" panose="020B0503020204020204" pitchFamily="34" charset="-122"/>
                    <a:hlinkClick r:id="rId7"/>
                  </a:rPr>
                  <a:t>.</a:t>
                </a:r>
                <a:r>
                  <a:rPr lang="en-US" sz="1600" dirty="0">
                    <a:latin typeface="微软雅黑" panose="020B0503020204020204" pitchFamily="34" charset="-122"/>
                    <a:ea typeface="微软雅黑" panose="020B0503020204020204" pitchFamily="34" charset="-122"/>
                    <a:hlinkClick r:id="rId7"/>
                  </a:rPr>
                  <a:t>xml</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1077595" y="1177925"/>
            <a:ext cx="3612515" cy="476885"/>
            <a:chOff x="898650" y="1797999"/>
            <a:chExt cx="7984625" cy="476885"/>
          </a:xfrm>
        </p:grpSpPr>
        <p:sp>
          <p:nvSpPr>
            <p:cNvPr id="4" name="矩形: 圆角 6"/>
            <p:cNvSpPr/>
            <p:nvPr>
              <p:custDataLst>
                <p:tags r:id="rId1"/>
              </p:custDataLst>
            </p:nvPr>
          </p:nvSpPr>
          <p:spPr>
            <a:xfrm>
              <a:off x="980054" y="1813239"/>
              <a:ext cx="7630938"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798462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2.定制邮件模板</a:t>
              </a:r>
              <a:r>
                <a:rPr lang="zh-CN" sz="1800" dirty="0">
                  <a:latin typeface="Arial" panose="020B0604020202020204" pitchFamily="34" charset="0"/>
                  <a:ea typeface="思源黑体 CN Normal" panose="020B0400000000000000" pitchFamily="34" charset="-122"/>
                  <a:sym typeface="Arial" panose="020B0604020202020204" pitchFamily="34" charset="0"/>
                </a:rPr>
                <a:t>文件</a:t>
              </a:r>
              <a:endParaRPr lang="zh-CN"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5" name="TextBox 16"/>
          <p:cNvSpPr>
            <a:spLocks noChangeArrowheads="1"/>
          </p:cNvSpPr>
          <p:nvPr>
            <p:custDataLst>
              <p:tags r:id="rId3"/>
            </p:custDataLst>
          </p:nvPr>
        </p:nvSpPr>
        <p:spPr bwMode="auto">
          <a:xfrm>
            <a:off x="962660" y="213296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在项目的模板页面</a:t>
            </a:r>
            <a:r>
              <a:rPr sz="1800" dirty="0">
                <a:solidFill>
                  <a:schemeClr val="accent1"/>
                </a:solidFill>
                <a:latin typeface="微软雅黑" panose="020B0503020204020204" pitchFamily="34" charset="-122"/>
                <a:ea typeface="微软雅黑" panose="020B0503020204020204" pitchFamily="34" charset="-122"/>
                <a:cs typeface="+mn-ea"/>
                <a:sym typeface="+mn-lt"/>
              </a:rPr>
              <a:t>文件夹templates</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a:t>
            </a:r>
            <a:r>
              <a:rPr sz="1800" dirty="0">
                <a:solidFill>
                  <a:schemeClr val="accent1"/>
                </a:solidFill>
                <a:latin typeface="微软雅黑" panose="020B0503020204020204" pitchFamily="34" charset="-122"/>
                <a:ea typeface="微软雅黑" panose="020B0503020204020204" pitchFamily="34" charset="-122"/>
                <a:cs typeface="+mn-ea"/>
                <a:sym typeface="+mn-lt"/>
              </a:rPr>
              <a:t>添加</a:t>
            </a:r>
            <a:r>
              <a:rPr lang="zh-CN" sz="1800" dirty="0">
                <a:solidFill>
                  <a:srgbClr val="595959"/>
                </a:solidFill>
                <a:latin typeface="微软雅黑" panose="020B0503020204020204" pitchFamily="34" charset="-122"/>
                <a:ea typeface="微软雅黑" panose="020B0503020204020204" pitchFamily="34" charset="-122"/>
                <a:cs typeface="+mn-ea"/>
                <a:sym typeface="+mn-lt"/>
              </a:rPr>
              <a:t>用户注册验证码的邮件的</a:t>
            </a:r>
            <a:r>
              <a:rPr sz="1800" dirty="0">
                <a:solidFill>
                  <a:schemeClr val="accent1"/>
                </a:solidFill>
                <a:latin typeface="微软雅黑" panose="020B0503020204020204" pitchFamily="34" charset="-122"/>
                <a:ea typeface="微软雅黑" panose="020B0503020204020204" pitchFamily="34" charset="-122"/>
                <a:cs typeface="+mn-ea"/>
                <a:sym typeface="+mn-lt"/>
              </a:rPr>
              <a:t>模板</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文件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，具体如文件9-12所示。</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23133"/>
            <a:ext cx="2232248" cy="2232248"/>
          </a:xfrm>
          <a:prstGeom prst="rect">
            <a:avLst/>
          </a:prstGeom>
        </p:spPr>
      </p:pic>
      <p:grpSp>
        <p:nvGrpSpPr>
          <p:cNvPr id="12" name="组合 11"/>
          <p:cNvGrpSpPr/>
          <p:nvPr/>
        </p:nvGrpSpPr>
        <p:grpSpPr>
          <a:xfrm>
            <a:off x="5675998" y="373200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261751"/>
                <a:ext cx="4022725" cy="82994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rPr>
                  <a:t>文件9-12</a:t>
                </a:r>
                <a:endParaRPr sz="1600" dirty="0">
                  <a:latin typeface="微软雅黑" panose="020B0503020204020204" pitchFamily="34" charset="-122"/>
                  <a:ea typeface="微软雅黑" panose="020B0503020204020204" pitchFamily="34" charset="-122"/>
                </a:endParaRPr>
              </a:p>
              <a:p>
                <a:pPr algn="ctr">
                  <a:lnSpc>
                    <a:spcPct val="150000"/>
                  </a:lnSpc>
                </a:pPr>
                <a:r>
                  <a:rPr sz="1600" dirty="0">
                    <a:latin typeface="微软雅黑" panose="020B0503020204020204" pitchFamily="34" charset="-122"/>
                    <a:ea typeface="微软雅黑" panose="020B0503020204020204" pitchFamily="34" charset="-122"/>
                    <a:hlinkClick r:id="rId7"/>
                  </a:rPr>
                  <a:t>emailTemplate_vercode.html</a:t>
                </a:r>
                <a:endParaRPr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1077595" y="1177925"/>
            <a:ext cx="3612515" cy="476885"/>
            <a:chOff x="898650" y="1797999"/>
            <a:chExt cx="7984625" cy="476885"/>
          </a:xfrm>
        </p:grpSpPr>
        <p:sp>
          <p:nvSpPr>
            <p:cNvPr id="4" name="矩形: 圆角 6"/>
            <p:cNvSpPr/>
            <p:nvPr>
              <p:custDataLst>
                <p:tags r:id="rId1"/>
              </p:custDataLst>
            </p:nvPr>
          </p:nvSpPr>
          <p:spPr>
            <a:xfrm>
              <a:off x="980054" y="1813239"/>
              <a:ext cx="7630938"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798462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3.定义邮件发送方法</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5" name="TextBox 16"/>
          <p:cNvSpPr>
            <a:spLocks noChangeArrowheads="1"/>
          </p:cNvSpPr>
          <p:nvPr>
            <p:custDataLst>
              <p:tags r:id="rId3"/>
            </p:custDataLst>
          </p:nvPr>
        </p:nvSpPr>
        <p:spPr bwMode="auto">
          <a:xfrm>
            <a:off x="962660" y="2132965"/>
            <a:ext cx="1031303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在文件9-10的</a:t>
            </a:r>
            <a:r>
              <a:rPr sz="1800" dirty="0">
                <a:solidFill>
                  <a:schemeClr val="accent1"/>
                </a:solidFill>
                <a:latin typeface="微软雅黑" panose="020B0503020204020204" pitchFamily="34" charset="-122"/>
                <a:ea typeface="微软雅黑" panose="020B0503020204020204" pitchFamily="34" charset="-122"/>
                <a:cs typeface="+mn-ea"/>
                <a:sym typeface="+mn-lt"/>
              </a:rPr>
              <a:t>SendEmailService类</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中定义</a:t>
            </a:r>
            <a:r>
              <a:rPr sz="1800" dirty="0">
                <a:solidFill>
                  <a:schemeClr val="accent1"/>
                </a:solidFill>
                <a:latin typeface="微软雅黑" panose="020B0503020204020204" pitchFamily="34" charset="-122"/>
                <a:ea typeface="微软雅黑" panose="020B0503020204020204" pitchFamily="34" charset="-122"/>
                <a:cs typeface="+mn-ea"/>
                <a:sym typeface="+mn-lt"/>
              </a:rPr>
              <a:t>发送验证码邮件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的方法</a:t>
            </a:r>
            <a:r>
              <a:rPr sz="1800" dirty="0">
                <a:solidFill>
                  <a:schemeClr val="accent1"/>
                </a:solidFill>
                <a:latin typeface="微软雅黑" panose="020B0503020204020204" pitchFamily="34" charset="-122"/>
                <a:ea typeface="微软雅黑" panose="020B0503020204020204" pitchFamily="34" charset="-122"/>
                <a:cs typeface="+mn-ea"/>
                <a:sym typeface="+mn-lt"/>
              </a:rPr>
              <a:t>sendTemplateEmail()</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，在该方法中实现发送</a:t>
            </a:r>
            <a:r>
              <a:rPr sz="1800" dirty="0">
                <a:solidFill>
                  <a:schemeClr val="accent1"/>
                </a:solidFill>
                <a:latin typeface="微软雅黑" panose="020B0503020204020204" pitchFamily="34" charset="-122"/>
                <a:ea typeface="微软雅黑" panose="020B0503020204020204" pitchFamily="34" charset="-122"/>
                <a:cs typeface="+mn-ea"/>
                <a:sym typeface="+mn-lt"/>
              </a:rPr>
              <a:t>HTML模板邮件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23133"/>
            <a:ext cx="2232248" cy="2232248"/>
          </a:xfrm>
          <a:prstGeom prst="rect">
            <a:avLst/>
          </a:prstGeom>
        </p:spPr>
      </p:pic>
      <p:grpSp>
        <p:nvGrpSpPr>
          <p:cNvPr id="12" name="组合 11"/>
          <p:cNvGrpSpPr/>
          <p:nvPr/>
        </p:nvGrpSpPr>
        <p:grpSpPr>
          <a:xfrm>
            <a:off x="5675998" y="373200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333506"/>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hlinkClick r:id="rId7"/>
                  </a:rPr>
                  <a:t>SendEmailService.</a:t>
                </a:r>
                <a:r>
                  <a:rPr lang="en-US" sz="1600" dirty="0">
                    <a:latin typeface="微软雅黑" panose="020B0503020204020204" pitchFamily="34" charset="-122"/>
                    <a:ea typeface="微软雅黑" panose="020B0503020204020204" pitchFamily="34" charset="-122"/>
                    <a:hlinkClick r:id="rId7"/>
                  </a:rPr>
                  <a:t>java</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1077595" y="1177925"/>
            <a:ext cx="3612515" cy="476885"/>
            <a:chOff x="898650" y="1797999"/>
            <a:chExt cx="7984625" cy="476885"/>
          </a:xfrm>
        </p:grpSpPr>
        <p:sp>
          <p:nvSpPr>
            <p:cNvPr id="4" name="矩形: 圆角 6"/>
            <p:cNvSpPr/>
            <p:nvPr>
              <p:custDataLst>
                <p:tags r:id="rId1"/>
              </p:custDataLst>
            </p:nvPr>
          </p:nvSpPr>
          <p:spPr>
            <a:xfrm>
              <a:off x="980054" y="1813239"/>
              <a:ext cx="7630938"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798462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4.定义测试方法</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5" name="TextBox 16"/>
          <p:cNvSpPr>
            <a:spLocks noChangeArrowheads="1"/>
          </p:cNvSpPr>
          <p:nvPr>
            <p:custDataLst>
              <p:tags r:id="rId3"/>
            </p:custDataLst>
          </p:nvPr>
        </p:nvSpPr>
        <p:spPr bwMode="auto">
          <a:xfrm>
            <a:off x="962660" y="213296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lang="zh-CN" sz="1800" dirty="0">
                <a:solidFill>
                  <a:srgbClr val="595959"/>
                </a:solidFill>
                <a:latin typeface="微软雅黑" panose="020B0503020204020204" pitchFamily="34" charset="-122"/>
                <a:ea typeface="微软雅黑" panose="020B0503020204020204" pitchFamily="34" charset="-122"/>
                <a:cs typeface="+mn-ea"/>
                <a:sym typeface="+mn-lt"/>
              </a:rPr>
              <a:t>在项目chapter09测</a:t>
            </a:r>
            <a:r>
              <a:rPr sz="1800" dirty="0">
                <a:solidFill>
                  <a:schemeClr val="accent1"/>
                </a:solidFill>
                <a:latin typeface="微软雅黑" panose="020B0503020204020204" pitchFamily="34" charset="-122"/>
                <a:ea typeface="微软雅黑" panose="020B0503020204020204" pitchFamily="34" charset="-122"/>
                <a:cs typeface="+mn-ea"/>
                <a:sym typeface="+mn-lt"/>
              </a:rPr>
              <a:t>试类Chapter09ApplicationTests</a:t>
            </a:r>
            <a:r>
              <a:rPr lang="zh-CN" sz="1800" dirty="0">
                <a:solidFill>
                  <a:srgbClr val="595959"/>
                </a:solidFill>
                <a:latin typeface="微软雅黑" panose="020B0503020204020204" pitchFamily="34" charset="-122"/>
                <a:ea typeface="微软雅黑" panose="020B0503020204020204" pitchFamily="34" charset="-122"/>
                <a:cs typeface="+mn-ea"/>
                <a:sym typeface="+mn-lt"/>
              </a:rPr>
              <a:t>中</a:t>
            </a:r>
            <a:r>
              <a:rPr sz="1800" dirty="0">
                <a:solidFill>
                  <a:schemeClr val="accent1"/>
                </a:solidFill>
                <a:latin typeface="微软雅黑" panose="020B0503020204020204" pitchFamily="34" charset="-122"/>
                <a:ea typeface="微软雅黑" panose="020B0503020204020204" pitchFamily="34" charset="-122"/>
                <a:cs typeface="+mn-ea"/>
                <a:sym typeface="+mn-lt"/>
              </a:rPr>
              <a:t>新增测试模板邮件发送的方法</a:t>
            </a:r>
            <a:r>
              <a:rPr lang="zh-CN" sz="1800" dirty="0">
                <a:solidFill>
                  <a:schemeClr val="accent1"/>
                </a:solidFill>
                <a:latin typeface="微软雅黑" panose="020B0503020204020204" pitchFamily="34" charset="-122"/>
                <a:ea typeface="微软雅黑" panose="020B0503020204020204" pitchFamily="34" charset="-122"/>
                <a:cs typeface="+mn-ea"/>
                <a:sym typeface="+mn-lt"/>
              </a:rPr>
              <a:t>。</a:t>
            </a:r>
            <a:endParaRPr lang="zh-CN" sz="1800" dirty="0">
              <a:solidFill>
                <a:schemeClr val="accent1"/>
              </a:solidFill>
              <a:latin typeface="微软雅黑" panose="020B0503020204020204" pitchFamily="34" charset="-122"/>
              <a:ea typeface="微软雅黑" panose="020B0503020204020204" pitchFamily="34" charset="-122"/>
              <a:cs typeface="+mn-ea"/>
              <a:sym typeface="+mn-lt"/>
            </a:endParaRPr>
          </a:p>
        </p:txBody>
      </p:sp>
      <p:pic>
        <p:nvPicPr>
          <p:cNvPr id="6" name="图片 5"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2172000" y="3623133"/>
            <a:ext cx="2232248" cy="2232248"/>
          </a:xfrm>
          <a:prstGeom prst="rect">
            <a:avLst/>
          </a:prstGeom>
        </p:spPr>
      </p:pic>
      <p:grpSp>
        <p:nvGrpSpPr>
          <p:cNvPr id="12" name="组合 11"/>
          <p:cNvGrpSpPr/>
          <p:nvPr/>
        </p:nvGrpSpPr>
        <p:grpSpPr>
          <a:xfrm>
            <a:off x="5675998" y="3732007"/>
            <a:ext cx="4098250" cy="2542123"/>
            <a:chOff x="5478588" y="3498327"/>
            <a:chExt cx="4098250" cy="2542123"/>
          </a:xfrm>
        </p:grpSpPr>
        <p:grpSp>
          <p:nvGrpSpPr>
            <p:cNvPr id="13" name="组合 12"/>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478588" y="4405261"/>
                <a:ext cx="4022725" cy="460375"/>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lnSpc>
                    <a:spcPct val="150000"/>
                  </a:lnSpc>
                </a:pPr>
                <a:r>
                  <a:rPr sz="1600" dirty="0">
                    <a:latin typeface="微软雅黑" panose="020B0503020204020204" pitchFamily="34" charset="-122"/>
                    <a:ea typeface="微软雅黑" panose="020B0503020204020204" pitchFamily="34" charset="-122"/>
                    <a:hlinkClick r:id="rId7"/>
                  </a:rPr>
                  <a:t>Chapter09ApplicationTests</a:t>
                </a:r>
                <a:r>
                  <a:rPr lang="en-US" sz="1600" dirty="0">
                    <a:latin typeface="微软雅黑" panose="020B0503020204020204" pitchFamily="34" charset="-122"/>
                    <a:ea typeface="微软雅黑" panose="020B0503020204020204" pitchFamily="34" charset="-122"/>
                    <a:hlinkClick r:id="rId7"/>
                  </a:rPr>
                  <a:t>.java</a:t>
                </a:r>
                <a:endParaRPr lang="en-US" sz="1600" dirty="0">
                  <a:latin typeface="微软雅黑" panose="020B0503020204020204" pitchFamily="34" charset="-122"/>
                  <a:ea typeface="微软雅黑" panose="020B0503020204020204" pitchFamily="34" charset="-122"/>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9.2.3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发送模板邮件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3" name="组合 2"/>
          <p:cNvGrpSpPr/>
          <p:nvPr/>
        </p:nvGrpSpPr>
        <p:grpSpPr>
          <a:xfrm>
            <a:off x="1077595" y="1177925"/>
            <a:ext cx="3612515" cy="476885"/>
            <a:chOff x="898650" y="1797999"/>
            <a:chExt cx="7984625" cy="476885"/>
          </a:xfrm>
        </p:grpSpPr>
        <p:sp>
          <p:nvSpPr>
            <p:cNvPr id="4" name="矩形: 圆角 6"/>
            <p:cNvSpPr/>
            <p:nvPr>
              <p:custDataLst>
                <p:tags r:id="rId1"/>
              </p:custDataLst>
            </p:nvPr>
          </p:nvSpPr>
          <p:spPr>
            <a:xfrm>
              <a:off x="980054" y="1813239"/>
              <a:ext cx="7630938"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p:cNvSpPr txBox="1"/>
            <p:nvPr>
              <p:custDataLst>
                <p:tags r:id="rId2"/>
              </p:custDataLst>
            </p:nvPr>
          </p:nvSpPr>
          <p:spPr>
            <a:xfrm>
              <a:off x="898650" y="1797999"/>
              <a:ext cx="7984625" cy="464820"/>
            </a:xfrm>
            <a:prstGeom prst="rect">
              <a:avLst/>
            </a:prstGeom>
            <a:noFill/>
          </p:spPr>
          <p:txBody>
            <a:bodyPr wrap="square" rtlCol="0">
              <a:sp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800" dirty="0">
                  <a:latin typeface="Arial" panose="020B0604020202020204" pitchFamily="34" charset="0"/>
                  <a:ea typeface="思源黑体 CN Normal" panose="020B0400000000000000" pitchFamily="34" charset="-122"/>
                  <a:sym typeface="Arial" panose="020B0604020202020204" pitchFamily="34" charset="0"/>
                </a:rPr>
                <a:t>5.测试效果</a:t>
              </a:r>
              <a:endParaRPr sz="1800" dirty="0">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5" name="TextBox 16"/>
          <p:cNvSpPr>
            <a:spLocks noChangeArrowheads="1"/>
          </p:cNvSpPr>
          <p:nvPr>
            <p:custDataLst>
              <p:tags r:id="rId3"/>
            </p:custDataLst>
          </p:nvPr>
        </p:nvSpPr>
        <p:spPr bwMode="auto">
          <a:xfrm>
            <a:off x="962660" y="2132965"/>
            <a:ext cx="10313035" cy="41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indent="0" algn="just" fontAlgn="auto" latinLnBrk="1">
              <a:lnSpc>
                <a:spcPct val="150000"/>
              </a:lnSpc>
              <a:buClrTx/>
              <a:buSzTx/>
              <a:buFontTx/>
            </a:pPr>
            <a:r>
              <a:rPr sz="1800" dirty="0">
                <a:solidFill>
                  <a:schemeClr val="accent1"/>
                </a:solidFill>
                <a:latin typeface="微软雅黑" panose="020B0503020204020204" pitchFamily="34" charset="-122"/>
                <a:ea typeface="微软雅黑" panose="020B0503020204020204" pitchFamily="34" charset="-122"/>
                <a:cs typeface="+mn-ea"/>
                <a:sym typeface="+mn-lt"/>
              </a:rPr>
              <a:t>启动</a:t>
            </a:r>
            <a:r>
              <a:rPr lang="zh-CN" sz="1800" dirty="0">
                <a:solidFill>
                  <a:srgbClr val="595959"/>
                </a:solidFill>
                <a:latin typeface="微软雅黑" panose="020B0503020204020204" pitchFamily="34" charset="-122"/>
                <a:ea typeface="微软雅黑" panose="020B0503020204020204" pitchFamily="34" charset="-122"/>
                <a:cs typeface="+mn-ea"/>
                <a:sym typeface="+mn-lt"/>
              </a:rPr>
              <a:t>文件9-11中的</a:t>
            </a:r>
            <a:r>
              <a:rPr sz="1800" dirty="0">
                <a:solidFill>
                  <a:schemeClr val="accent1"/>
                </a:solidFill>
                <a:latin typeface="微软雅黑" panose="020B0503020204020204" pitchFamily="34" charset="-122"/>
                <a:ea typeface="微软雅黑" panose="020B0503020204020204" pitchFamily="34" charset="-122"/>
                <a:cs typeface="+mn-ea"/>
                <a:sym typeface="+mn-lt"/>
              </a:rPr>
              <a:t>sendTemplateEmailTest()方法</a:t>
            </a:r>
            <a:r>
              <a:rPr lang="zh-CN" sz="1800" dirty="0">
                <a:solidFill>
                  <a:srgbClr val="595959"/>
                </a:solidFill>
                <a:latin typeface="微软雅黑" panose="020B0503020204020204" pitchFamily="34" charset="-122"/>
                <a:ea typeface="微软雅黑" panose="020B0503020204020204" pitchFamily="34" charset="-122"/>
                <a:cs typeface="+mn-ea"/>
                <a:sym typeface="+mn-lt"/>
              </a:rPr>
              <a:t>，登录</a:t>
            </a:r>
            <a:r>
              <a:rPr sz="1800" dirty="0">
                <a:solidFill>
                  <a:schemeClr val="accent1"/>
                </a:solidFill>
                <a:latin typeface="微软雅黑" panose="020B0503020204020204" pitchFamily="34" charset="-122"/>
                <a:ea typeface="微软雅黑" panose="020B0503020204020204" pitchFamily="34" charset="-122"/>
                <a:cs typeface="+mn-ea"/>
                <a:sym typeface="+mn-lt"/>
              </a:rPr>
              <a:t>收件人</a:t>
            </a:r>
            <a:r>
              <a:rPr lang="zh-CN" sz="1800" dirty="0">
                <a:solidFill>
                  <a:srgbClr val="595959"/>
                </a:solidFill>
                <a:latin typeface="微软雅黑" panose="020B0503020204020204" pitchFamily="34" charset="-122"/>
                <a:ea typeface="微软雅黑" panose="020B0503020204020204" pitchFamily="34" charset="-122"/>
                <a:cs typeface="+mn-ea"/>
                <a:sym typeface="+mn-lt"/>
              </a:rPr>
              <a:t>的</a:t>
            </a:r>
            <a:r>
              <a:rPr sz="1800" dirty="0">
                <a:solidFill>
                  <a:schemeClr val="accent1"/>
                </a:solidFill>
                <a:latin typeface="微软雅黑" panose="020B0503020204020204" pitchFamily="34" charset="-122"/>
                <a:ea typeface="微软雅黑" panose="020B0503020204020204" pitchFamily="34" charset="-122"/>
                <a:cs typeface="+mn-ea"/>
                <a:sym typeface="+mn-lt"/>
              </a:rPr>
              <a:t>邮箱</a:t>
            </a:r>
            <a:r>
              <a:rPr lang="zh-CN" sz="1800" dirty="0">
                <a:solidFill>
                  <a:srgbClr val="595959"/>
                </a:solidFill>
                <a:latin typeface="微软雅黑" panose="020B0503020204020204" pitchFamily="34" charset="-122"/>
                <a:ea typeface="微软雅黑" panose="020B0503020204020204" pitchFamily="34" charset="-122"/>
                <a:cs typeface="+mn-ea"/>
                <a:sym typeface="+mn-lt"/>
              </a:rPr>
              <a:t>，在收件箱中</a:t>
            </a:r>
            <a:r>
              <a:rPr sz="1800" dirty="0">
                <a:solidFill>
                  <a:schemeClr val="accent1"/>
                </a:solidFill>
                <a:latin typeface="微软雅黑" panose="020B0503020204020204" pitchFamily="34" charset="-122"/>
                <a:ea typeface="微软雅黑" panose="020B0503020204020204" pitchFamily="34" charset="-122"/>
                <a:cs typeface="+mn-ea"/>
                <a:sym typeface="+mn-lt"/>
              </a:rPr>
              <a:t>查看验证码邮件</a:t>
            </a:r>
            <a:r>
              <a:rPr lang="zh-CN" sz="1800" dirty="0">
                <a:solidFill>
                  <a:srgbClr val="595959"/>
                </a:solidFill>
                <a:latin typeface="微软雅黑" panose="020B0503020204020204" pitchFamily="34" charset="-122"/>
                <a:ea typeface="微软雅黑" panose="020B0503020204020204" pitchFamily="34" charset="-122"/>
                <a:cs typeface="+mn-ea"/>
                <a:sym typeface="+mn-lt"/>
              </a:rPr>
              <a:t>。</a:t>
            </a:r>
            <a:endParaRPr lang="en-US" altLang="zh-CN" sz="1800"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2147482588"/>
          <p:cNvPicPr>
            <a:picLocks noChangeAspect="1"/>
          </p:cNvPicPr>
          <p:nvPr>
            <p:custDataLst>
              <p:tags r:id="rId4"/>
            </p:custDataLst>
          </p:nvPr>
        </p:nvPicPr>
        <p:blipFill>
          <a:blip r:embed="rId5"/>
          <a:stretch>
            <a:fillRect/>
          </a:stretch>
        </p:blipFill>
        <p:spPr>
          <a:xfrm>
            <a:off x="2855278" y="2782253"/>
            <a:ext cx="6840000" cy="3659876"/>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26245" y="2980110"/>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just" fontAlgn="auto">
              <a:lnSpc>
                <a:spcPct val="150000"/>
              </a:lnSpc>
            </a:pP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本章主要对</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Spring Boot项目中的任务调度和邮件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发送进行</a:t>
            </a:r>
            <a:r>
              <a:rPr lang="zh-CN"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了</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讲解。首先讲解了任</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务调度中的异步任务、定时任务</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，以及</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Quartz任务调度</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；然后讲解了邮件发送，包</a:t>
            </a:r>
            <a:r>
              <a:rPr lang="zh-CN"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括</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发送</a:t>
            </a:r>
            <a:r>
              <a:rPr lang="zh-CN"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纯</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文本邮件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发送带附件和图片的邮件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，以及</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发送模板邮件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。通过本章的学习，希望大家可以在Spring Boot项目中实现任务调度</a:t>
            </a:r>
            <a:r>
              <a:rPr lang="zh-CN"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邮件发送。</a:t>
            </a:r>
            <a:endPar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圆角矩形 26"/>
          <p:cNvSpPr/>
          <p:nvPr/>
        </p:nvSpPr>
        <p:spPr>
          <a:xfrm>
            <a:off x="839470" y="2396490"/>
            <a:ext cx="10511790" cy="2609215"/>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34771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06653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78535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0417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 name="KSO_WM_UNIT_PLACING_PICTURE_USER_VIEWPORT" val="{&quot;height&quot;:2100,&quot;width&quot;:8580}"/>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UNIT_TABLE_BEAUTIFY" val="smartTable{3432000e-271d-4b17-9a37-329af5bb2f79}"/>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TABLE_BEAUTIFY" val="smartTable{948ce7f5-22b7-4b8b-b64a-67181e447db8}"/>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UNIT_TABLE_BEAUTIFY" val="smartTable{7613f0f2-ca2b-44bd-8b4c-f45c74e0a45d}"/>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UNIT_TABLE_BEAUTIFY" val="smartTable{d8c50ca3-6e94-4a48-baaf-3f9af9a57c02}"/>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UNIT_TABLE_BEAUTIFY" val="smartTable{37a089b3-a2f1-4142-bb31-9cab76fa6587}"/>
  <p:tag name="TABLE_ENDDRAG_ORIGIN_RECT" val="816*92"/>
  <p:tag name="TABLE_ENDDRAG_RECT" val="79*187*816*92"/>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 name="KSO_WM_UNIT_PLACING_PICTURE_USER_VIEWPORT" val="{&quot;height&quot;:3300,&quot;width&quot;:9105}"/>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 name="commondata" val="eyJoZGlkIjoiOTVhMDEyNTNmYTU0ODE2ZWE1NmRmMGZjMTUzNmU1YzEifQ=="/>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10983</Words>
  <Application>WPS 演示</Application>
  <PresentationFormat>自定义</PresentationFormat>
  <Paragraphs>719</Paragraphs>
  <Slides>68</Slides>
  <Notes>73</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68</vt:i4>
      </vt:variant>
    </vt:vector>
  </HeadingPairs>
  <TitlesOfParts>
    <vt:vector size="89" baseType="lpstr">
      <vt:lpstr>Arial</vt:lpstr>
      <vt:lpstr>宋体</vt:lpstr>
      <vt:lpstr>Wingdings</vt:lpstr>
      <vt:lpstr>微软雅黑</vt:lpstr>
      <vt:lpstr>思源黑体 CN Medium</vt:lpstr>
      <vt:lpstr>黑体</vt:lpstr>
      <vt:lpstr>字魂58号-创中黑</vt:lpstr>
      <vt:lpstr>Source Han Sans K Bold</vt:lpstr>
      <vt:lpstr>Calibri</vt:lpstr>
      <vt:lpstr>Yu Gothic UI Semibold</vt:lpstr>
      <vt:lpstr>U.S. 101</vt:lpstr>
      <vt:lpstr>Segoe Print</vt:lpstr>
      <vt:lpstr>Roboto</vt:lpstr>
      <vt:lpstr>Times New Roman</vt:lpstr>
      <vt:lpstr>Open Sans Light</vt:lpstr>
      <vt:lpstr>思源黑体 CN Normal</vt:lpstr>
      <vt:lpstr>Arial Unicode MS</vt:lpstr>
      <vt:lpstr>Courier New</vt:lpstr>
      <vt:lpstr>Wingdings</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风涌泉</cp:lastModifiedBy>
  <cp:revision>1651</cp:revision>
  <dcterms:created xsi:type="dcterms:W3CDTF">2020-11-11T09:29:00Z</dcterms:created>
  <dcterms:modified xsi:type="dcterms:W3CDTF">2024-09-02T08:44:38Z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69DB4B6826B6494390E926BE37E6C64D</vt:lpwstr>
  </property>
</Properties>
</file>